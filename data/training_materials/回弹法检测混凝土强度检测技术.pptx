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3.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4.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5.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6.xml" ContentType="application/vnd.openxmlformats-officedocument.them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7.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8.xml" ContentType="application/vnd.openxmlformats-officedocument.theme+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9.xml" ContentType="application/vnd.openxmlformats-officedocument.theme+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 id="2147483689" r:id="rId3"/>
    <p:sldMasterId id="2147483709" r:id="rId4"/>
    <p:sldMasterId id="2147483729" r:id="rId5"/>
    <p:sldMasterId id="2147483749" r:id="rId6"/>
    <p:sldMasterId id="2147483769" r:id="rId7"/>
    <p:sldMasterId id="2147483789" r:id="rId8"/>
    <p:sldMasterId id="2147483809" r:id="rId9"/>
    <p:sldMasterId id="2147483829" r:id="rId10"/>
  </p:sldMasterIdLst>
  <p:notesMasterIdLst>
    <p:notesMasterId r:id="rId94"/>
  </p:notesMasterIdLst>
  <p:handoutMasterIdLst>
    <p:handoutMasterId r:id="rId95"/>
  </p:handoutMasterIdLst>
  <p:sldIdLst>
    <p:sldId id="259" r:id="rId11"/>
    <p:sldId id="401" r:id="rId12"/>
    <p:sldId id="435" r:id="rId13"/>
    <p:sldId id="436" r:id="rId14"/>
    <p:sldId id="404" r:id="rId15"/>
    <p:sldId id="412" r:id="rId16"/>
    <p:sldId id="440" r:id="rId17"/>
    <p:sldId id="437" r:id="rId18"/>
    <p:sldId id="438" r:id="rId19"/>
    <p:sldId id="439" r:id="rId20"/>
    <p:sldId id="405" r:id="rId21"/>
    <p:sldId id="406" r:id="rId22"/>
    <p:sldId id="407" r:id="rId23"/>
    <p:sldId id="402" r:id="rId24"/>
    <p:sldId id="403" r:id="rId25"/>
    <p:sldId id="432" r:id="rId26"/>
    <p:sldId id="427" r:id="rId27"/>
    <p:sldId id="409" r:id="rId28"/>
    <p:sldId id="410" r:id="rId29"/>
    <p:sldId id="337" r:id="rId30"/>
    <p:sldId id="349" r:id="rId31"/>
    <p:sldId id="391" r:id="rId32"/>
    <p:sldId id="414" r:id="rId33"/>
    <p:sldId id="400" r:id="rId34"/>
    <p:sldId id="399" r:id="rId35"/>
    <p:sldId id="469" r:id="rId36"/>
    <p:sldId id="470" r:id="rId37"/>
    <p:sldId id="365" r:id="rId38"/>
    <p:sldId id="363" r:id="rId39"/>
    <p:sldId id="397" r:id="rId40"/>
    <p:sldId id="364" r:id="rId41"/>
    <p:sldId id="418" r:id="rId42"/>
    <p:sldId id="444" r:id="rId43"/>
    <p:sldId id="445" r:id="rId44"/>
    <p:sldId id="448" r:id="rId45"/>
    <p:sldId id="449" r:id="rId46"/>
    <p:sldId id="446" r:id="rId47"/>
    <p:sldId id="447" r:id="rId48"/>
    <p:sldId id="452" r:id="rId49"/>
    <p:sldId id="351" r:id="rId50"/>
    <p:sldId id="450" r:id="rId51"/>
    <p:sldId id="393" r:id="rId52"/>
    <p:sldId id="457" r:id="rId53"/>
    <p:sldId id="458" r:id="rId54"/>
    <p:sldId id="459" r:id="rId55"/>
    <p:sldId id="395" r:id="rId56"/>
    <p:sldId id="353" r:id="rId57"/>
    <p:sldId id="354" r:id="rId58"/>
    <p:sldId id="371" r:id="rId59"/>
    <p:sldId id="372" r:id="rId60"/>
    <p:sldId id="388" r:id="rId61"/>
    <p:sldId id="378" r:id="rId62"/>
    <p:sldId id="379" r:id="rId63"/>
    <p:sldId id="380" r:id="rId64"/>
    <p:sldId id="381" r:id="rId65"/>
    <p:sldId id="383" r:id="rId66"/>
    <p:sldId id="384" r:id="rId67"/>
    <p:sldId id="385" r:id="rId68"/>
    <p:sldId id="386" r:id="rId69"/>
    <p:sldId id="387" r:id="rId70"/>
    <p:sldId id="360" r:id="rId71"/>
    <p:sldId id="362" r:id="rId72"/>
    <p:sldId id="375" r:id="rId73"/>
    <p:sldId id="428" r:id="rId74"/>
    <p:sldId id="467" r:id="rId75"/>
    <p:sldId id="454" r:id="rId76"/>
    <p:sldId id="468" r:id="rId77"/>
    <p:sldId id="460" r:id="rId78"/>
    <p:sldId id="461" r:id="rId79"/>
    <p:sldId id="422" r:id="rId80"/>
    <p:sldId id="434" r:id="rId81"/>
    <p:sldId id="420" r:id="rId82"/>
    <p:sldId id="462" r:id="rId83"/>
    <p:sldId id="257" r:id="rId84"/>
    <p:sldId id="419" r:id="rId85"/>
    <p:sldId id="423" r:id="rId86"/>
    <p:sldId id="463" r:id="rId87"/>
    <p:sldId id="424" r:id="rId88"/>
    <p:sldId id="425" r:id="rId89"/>
    <p:sldId id="429" r:id="rId90"/>
    <p:sldId id="466" r:id="rId91"/>
    <p:sldId id="464" r:id="rId92"/>
    <p:sldId id="465" r:id="rId93"/>
  </p:sldIdLst>
  <p:sldSz cx="12192000" cy="6858000"/>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3" userDrawn="1">
          <p15:clr>
            <a:srgbClr val="A4A3A4"/>
          </p15:clr>
        </p15:guide>
        <p15:guide id="2" pos="37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1409"/>
    <a:srgbClr val="003300"/>
    <a:srgbClr val="009E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0642"/>
  </p:normalViewPr>
  <p:slideViewPr>
    <p:cSldViewPr showGuides="1">
      <p:cViewPr varScale="1">
        <p:scale>
          <a:sx n="72" d="100"/>
          <a:sy n="72" d="100"/>
        </p:scale>
        <p:origin x="1013" y="58"/>
      </p:cViewPr>
      <p:guideLst>
        <p:guide orient="horz" pos="2173"/>
        <p:guide pos="3784"/>
      </p:guideLst>
    </p:cSldViewPr>
  </p:slideViewPr>
  <p:notesTextViewPr>
    <p:cViewPr>
      <p:scale>
        <a:sx n="66" d="100"/>
        <a:sy n="66" d="100"/>
      </p:scale>
      <p:origin x="0" y="0"/>
    </p:cViewPr>
  </p:notesTextViewPr>
  <p:sorterViewPr showFormatting="0">
    <p:cViewPr varScale="1">
      <p:scale>
        <a:sx n="1" d="1"/>
        <a:sy n="1" d="1"/>
      </p:scale>
      <p:origin x="0" y="-6101"/>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5" Type="http://schemas.openxmlformats.org/officeDocument/2006/relationships/slideMaster" Target="slideMasters/slideMaster5.xml"/><Relationship Id="rId90" Type="http://schemas.openxmlformats.org/officeDocument/2006/relationships/slide" Target="slides/slide80.xml"/><Relationship Id="rId95" Type="http://schemas.openxmlformats.org/officeDocument/2006/relationships/handoutMaster" Target="handoutMasters/handoutMaster1.xml"/><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80" Type="http://schemas.openxmlformats.org/officeDocument/2006/relationships/slide" Target="slides/slide70.xml"/><Relationship Id="rId85" Type="http://schemas.openxmlformats.org/officeDocument/2006/relationships/slide" Target="slides/slide75.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slide" Target="slides/slide78.xml"/><Relationship Id="rId91" Type="http://schemas.openxmlformats.org/officeDocument/2006/relationships/slide" Target="slides/slide81.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viewProps" Target="viewProps.xml"/><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slide" Target="slides/slide82.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slide" Target="slides/slide83.xml"/><Relationship Id="rId98"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emf"/><Relationship Id="rId1"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latinLnBrk="0">
              <a:spcBef>
                <a:spcPts val="0"/>
              </a:spcBef>
              <a:spcAft>
                <a:spcPts val="0"/>
              </a:spcAft>
              <a:defRPr lang="zh-CN"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latinLnBrk="0">
              <a:spcBef>
                <a:spcPts val="0"/>
              </a:spcBef>
              <a:spcAft>
                <a:spcPts val="0"/>
              </a:spcAft>
              <a:defRPr lang="zh-CN"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95446CE9-EFD2-42F6-A17E-14FEE83D1E70}" type="datetimeFigureOut">
              <a:rPr kumimoji="0" lang="en-US" altLang="zh-CN" sz="1200" b="0" i="0" u="none" strike="noStrike" kern="1200" cap="none" spc="0" normalizeH="0" baseline="0" noProof="0">
                <a:ln>
                  <a:noFill/>
                </a:ln>
                <a:solidFill>
                  <a:schemeClr val="tx1"/>
                </a:solidFill>
                <a:effectLst/>
                <a:uLnTx/>
                <a:uFillTx/>
                <a:latin typeface="+mn-lt"/>
                <a:ea typeface="+mn-ea"/>
                <a:cs typeface="+mn-cs"/>
              </a:rPr>
              <a:t>12/10/2025</a:t>
            </a:fld>
            <a:endParaRPr kumimoji="0" lang="en-US" altLang="zh-CN"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latinLnBrk="0">
              <a:spcBef>
                <a:spcPts val="0"/>
              </a:spcBef>
              <a:spcAft>
                <a:spcPts val="0"/>
              </a:spcAft>
              <a:defRPr lang="zh-CN"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en-US" altLang="zh-CN" sz="1200" dirty="0"/>
              <a:t>‹#›</a:t>
            </a:fld>
            <a:endParaRPr lang="en-US" altLang="zh-CN"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latinLnBrk="0">
              <a:spcBef>
                <a:spcPts val="0"/>
              </a:spcBef>
              <a:spcAft>
                <a:spcPts val="0"/>
              </a:spcAft>
              <a:defRPr lang="zh-CN"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latinLnBrk="0">
              <a:spcBef>
                <a:spcPts val="0"/>
              </a:spcBef>
              <a:spcAft>
                <a:spcPts val="0"/>
              </a:spcAft>
              <a:defRPr lang="zh-CN"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D042299-03C0-406D-9964-61712DFE6D28}"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t>2025-12-10</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latinLnBrk="0">
              <a:spcBef>
                <a:spcPts val="0"/>
              </a:spcBef>
              <a:spcAft>
                <a:spcPts val="0"/>
              </a:spcAft>
              <a:defRPr lang="zh-CN"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en-US" altLang="zh-CN" sz="1200" dirty="0"/>
              <a:t>‹#›</a:t>
            </a:fld>
            <a:endParaRPr lang="en-US" altLang="zh-CN"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lang="zh-CN" sz="1200" kern="1200">
        <a:solidFill>
          <a:schemeClr val="tx1"/>
        </a:solidFill>
        <a:latin typeface="+mn-lt"/>
        <a:ea typeface="+mn-ea"/>
        <a:cs typeface="+mn-cs"/>
      </a:defRPr>
    </a:lvl1pPr>
    <a:lvl2pPr marL="457200" algn="l" rtl="0" eaLnBrk="0" fontAlgn="base" hangingPunct="0">
      <a:spcBef>
        <a:spcPct val="30000"/>
      </a:spcBef>
      <a:spcAft>
        <a:spcPct val="0"/>
      </a:spcAft>
      <a:defRPr lang="zh-CN" sz="1200" kern="1200">
        <a:solidFill>
          <a:schemeClr val="tx1"/>
        </a:solidFill>
        <a:latin typeface="+mn-lt"/>
        <a:ea typeface="+mn-ea"/>
        <a:cs typeface="+mn-cs"/>
      </a:defRPr>
    </a:lvl2pPr>
    <a:lvl3pPr marL="914400" algn="l" rtl="0" eaLnBrk="0" fontAlgn="base" hangingPunct="0">
      <a:spcBef>
        <a:spcPct val="30000"/>
      </a:spcBef>
      <a:spcAft>
        <a:spcPct val="0"/>
      </a:spcAft>
      <a:defRPr lang="zh-CN" sz="1200" kern="1200">
        <a:solidFill>
          <a:schemeClr val="tx1"/>
        </a:solidFill>
        <a:latin typeface="+mn-lt"/>
        <a:ea typeface="+mn-ea"/>
        <a:cs typeface="+mn-cs"/>
      </a:defRPr>
    </a:lvl3pPr>
    <a:lvl4pPr marL="1371600" algn="l" rtl="0" eaLnBrk="0" fontAlgn="base" hangingPunct="0">
      <a:spcBef>
        <a:spcPct val="30000"/>
      </a:spcBef>
      <a:spcAft>
        <a:spcPct val="0"/>
      </a:spcAft>
      <a:defRPr lang="zh-CN" sz="1200" kern="1200">
        <a:solidFill>
          <a:schemeClr val="tx1"/>
        </a:solidFill>
        <a:latin typeface="+mn-lt"/>
        <a:ea typeface="+mn-ea"/>
        <a:cs typeface="+mn-cs"/>
      </a:defRPr>
    </a:lvl4pPr>
    <a:lvl5pPr marL="1828800" algn="l" rtl="0" eaLnBrk="0" fontAlgn="base" hangingPunct="0">
      <a:spcBef>
        <a:spcPct val="30000"/>
      </a:spcBef>
      <a:spcAft>
        <a:spcPct val="0"/>
      </a:spcAft>
      <a:defRPr lang="zh-CN" sz="1200" kern="1200">
        <a:solidFill>
          <a:schemeClr val="tx1"/>
        </a:solidFill>
        <a:latin typeface="+mn-lt"/>
        <a:ea typeface="+mn-ea"/>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a:solidFill>
              <a:srgbClr val="000000">
                <a:alpha val="100000"/>
              </a:srgbClr>
            </a:solidFill>
            <a:miter lim="800000"/>
          </a:ln>
        </p:spPr>
      </p:sp>
      <p:sp>
        <p:nvSpPr>
          <p:cNvPr id="93187"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altLang="en-US" dirty="0"/>
              <a:t>在组设置中可使用此模板作为演示培训材料的起始文件。</a:t>
            </a:r>
          </a:p>
          <a:p>
            <a:pPr lvl="0" eaLnBrk="1" hangingPunct="1">
              <a:spcBef>
                <a:spcPct val="0"/>
              </a:spcBef>
            </a:pPr>
            <a:endParaRPr lang="zh-CN" altLang="zh-CN" dirty="0"/>
          </a:p>
          <a:p>
            <a:pPr lvl="0" eaLnBrk="1" hangingPunct="1">
              <a:spcBef>
                <a:spcPct val="0"/>
              </a:spcBef>
            </a:pPr>
            <a:r>
              <a:rPr altLang="en-US" b="1" dirty="0"/>
              <a:t>节</a:t>
            </a:r>
            <a:endParaRPr altLang="en-US" dirty="0"/>
          </a:p>
          <a:p>
            <a:pPr lvl="0" eaLnBrk="1" hangingPunct="1">
              <a:spcBef>
                <a:spcPct val="0"/>
              </a:spcBef>
            </a:pPr>
            <a:r>
              <a:rPr altLang="en-US" dirty="0"/>
              <a:t>右键单击幻灯片以添加节。 节可以帮助您组织幻灯片或促进多个作者之间的协作。</a:t>
            </a:r>
          </a:p>
          <a:p>
            <a:pPr lvl="0" eaLnBrk="1" hangingPunct="1">
              <a:spcBef>
                <a:spcPct val="0"/>
              </a:spcBef>
            </a:pPr>
            <a:endParaRPr altLang="en-US" b="1" dirty="0"/>
          </a:p>
          <a:p>
            <a:pPr lvl="0" eaLnBrk="1" hangingPunct="1">
              <a:spcBef>
                <a:spcPct val="0"/>
              </a:spcBef>
            </a:pPr>
            <a:r>
              <a:rPr altLang="en-US" b="1" dirty="0"/>
              <a:t>备注</a:t>
            </a:r>
          </a:p>
          <a:p>
            <a:pPr lvl="0" eaLnBrk="1" hangingPunct="1">
              <a:spcBef>
                <a:spcPct val="0"/>
              </a:spcBef>
            </a:pPr>
            <a:r>
              <a:rPr altLang="en-US" dirty="0"/>
              <a:t>使用“备注”节传递备注或为受众提供其他详细信息。 演示过程中，可在“演示文稿视图”中查看这些备注。 </a:t>
            </a:r>
          </a:p>
          <a:p>
            <a:pPr lvl="0" eaLnBrk="1" hangingPunct="1">
              <a:spcBef>
                <a:spcPct val="0"/>
              </a:spcBef>
            </a:pPr>
            <a:r>
              <a:rPr altLang="en-US" dirty="0"/>
              <a:t>请记住字体大小</a:t>
            </a:r>
            <a:r>
              <a:rPr lang="zh-CN" altLang="zh-CN" dirty="0"/>
              <a:t>(</a:t>
            </a:r>
            <a:r>
              <a:rPr altLang="en-US" dirty="0"/>
              <a:t>对于可访问性、可见性、录像和联机生产都非常重要</a:t>
            </a:r>
            <a:r>
              <a:rPr lang="zh-CN" altLang="zh-CN" dirty="0"/>
              <a:t>)</a:t>
            </a:r>
          </a:p>
          <a:p>
            <a:pPr lvl="0" eaLnBrk="1" hangingPunct="1">
              <a:spcBef>
                <a:spcPct val="0"/>
              </a:spcBef>
            </a:pPr>
            <a:endParaRPr lang="zh-CN" altLang="zh-CN" dirty="0"/>
          </a:p>
          <a:p>
            <a:pPr lvl="0" eaLnBrk="1" hangingPunct="1">
              <a:spcBef>
                <a:spcPct val="0"/>
              </a:spcBef>
            </a:pPr>
            <a:r>
              <a:rPr altLang="en-US" b="1" dirty="0"/>
              <a:t>协调的色彩 </a:t>
            </a:r>
          </a:p>
          <a:p>
            <a:pPr lvl="0" eaLnBrk="1" hangingPunct="1">
              <a:spcBef>
                <a:spcPct val="0"/>
              </a:spcBef>
            </a:pPr>
            <a:r>
              <a:rPr altLang="en-US" dirty="0"/>
              <a:t>特别注意图形、图表和文本框。 </a:t>
            </a:r>
          </a:p>
          <a:p>
            <a:pPr lvl="0" eaLnBrk="1" hangingPunct="1">
              <a:spcBef>
                <a:spcPct val="0"/>
              </a:spcBef>
            </a:pPr>
            <a:r>
              <a:rPr altLang="en-US" dirty="0"/>
              <a:t>请考虑与会者将以黑白或 灰色调打印。请运行测试打印，以确保当以纯黑白和 灰色调打印时，您的颜色工作正常。</a:t>
            </a:r>
          </a:p>
          <a:p>
            <a:pPr lvl="0" eaLnBrk="1" hangingPunct="1">
              <a:spcBef>
                <a:spcPct val="0"/>
              </a:spcBef>
            </a:pPr>
            <a:endParaRPr altLang="en-US" dirty="0"/>
          </a:p>
          <a:p>
            <a:pPr lvl="0" eaLnBrk="1" hangingPunct="1">
              <a:spcBef>
                <a:spcPct val="0"/>
              </a:spcBef>
            </a:pPr>
            <a:r>
              <a:rPr altLang="en-US" b="1" dirty="0"/>
              <a:t>图形、表格和图表</a:t>
            </a:r>
          </a:p>
          <a:p>
            <a:pPr lvl="0" eaLnBrk="1" hangingPunct="1">
              <a:spcBef>
                <a:spcPct val="0"/>
              </a:spcBef>
            </a:pPr>
            <a:r>
              <a:rPr altLang="en-US" dirty="0"/>
              <a:t>保持简单</a:t>
            </a:r>
            <a:r>
              <a:rPr lang="zh-CN" altLang="zh-CN" dirty="0"/>
              <a:t>: </a:t>
            </a:r>
            <a:r>
              <a:rPr altLang="en-US" dirty="0"/>
              <a:t>如果可能，请使用一致的、不分散的样式和颜色。</a:t>
            </a:r>
          </a:p>
          <a:p>
            <a:pPr lvl="0" eaLnBrk="1" hangingPunct="1">
              <a:spcBef>
                <a:spcPct val="0"/>
              </a:spcBef>
            </a:pPr>
            <a:r>
              <a:rPr altLang="en-US" dirty="0"/>
              <a:t>标记所有图表和表格。</a:t>
            </a:r>
          </a:p>
          <a:p>
            <a:pPr lvl="0" eaLnBrk="1" hangingPunct="1">
              <a:spcBef>
                <a:spcPct val="0"/>
              </a:spcBef>
            </a:pPr>
            <a:endParaRPr lang="zh-CN" altLang="zh-CN" dirty="0"/>
          </a:p>
          <a:p>
            <a:pPr lvl="0" eaLnBrk="1" hangingPunct="1">
              <a:spcBef>
                <a:spcPct val="0"/>
              </a:spcBef>
            </a:pPr>
            <a:endParaRPr lang="zh-CN" altLang="zh-CN" dirty="0"/>
          </a:p>
          <a:p>
            <a:pPr lvl="0" eaLnBrk="1" hangingPunct="1">
              <a:spcBef>
                <a:spcPct val="0"/>
              </a:spcBef>
            </a:pPr>
            <a:endParaRPr lang="zh-CN" altLang="zh-CN" dirty="0"/>
          </a:p>
        </p:txBody>
      </p:sp>
      <p:sp>
        <p:nvSpPr>
          <p:cNvPr id="9318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t>1</a:t>
            </a:fld>
            <a:endParaRPr lang="zh-CN"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4.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6.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6.xml"/><Relationship Id="rId4" Type="http://schemas.openxmlformats.org/officeDocument/2006/relationships/image" Target="../media/image8.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7.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7.xml"/><Relationship Id="rId4"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8.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8.xml"/><Relationship Id="rId4" Type="http://schemas.openxmlformats.org/officeDocument/2006/relationships/image" Target="../media/image8.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9.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9.xml"/><Relationship Id="rId4" Type="http://schemas.openxmlformats.org/officeDocument/2006/relationships/image" Target="../media/image8.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0.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0.xml"/><Relationship Id="rId4" Type="http://schemas.openxmlformats.org/officeDocument/2006/relationships/image" Target="../media/image8.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10.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10.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47A14FB-78D1-4659-8EC9-331213E112C8}" type="datetimeFigureOut">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12041B1-2172-4AFD-9301-314F7512B1E0}" type="slidenum">
              <a:rPr lang="zh-CN" altLang="en-US" smtClean="0"/>
              <a:t>‹#›</a:t>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
        <p:nvSpPr>
          <p:cNvPr id="10" name="Content Placeholder 9"/>
          <p:cNvSpPr>
            <a:spLocks noGrp="1"/>
          </p:cNvSpPr>
          <p:nvPr>
            <p:ph sz="quarter" idx="13"/>
          </p:nvPr>
        </p:nvSpPr>
        <p:spPr>
          <a:xfrm>
            <a:off x="1524000" y="731520"/>
            <a:ext cx="8534400" cy="347472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r="567"/>
          <a:stretch>
            <a:fillRect/>
          </a:stretch>
        </p:blipFill>
        <p:spPr>
          <a:xfrm>
            <a:off x="0" y="1"/>
            <a:ext cx="12215224" cy="6852683"/>
          </a:xfrm>
          <a:prstGeom prst="rect">
            <a:avLst/>
          </a:prstGeom>
        </p:spPr>
      </p:pic>
      <p:grpSp>
        <p:nvGrpSpPr>
          <p:cNvPr id="10" name="组合 9"/>
          <p:cNvGrpSpPr/>
          <p:nvPr/>
        </p:nvGrpSpPr>
        <p:grpSpPr>
          <a:xfrm>
            <a:off x="5854246" y="2479672"/>
            <a:ext cx="6360977" cy="4383925"/>
            <a:chOff x="4373267" y="2479671"/>
            <a:chExt cx="4770732" cy="4383925"/>
          </a:xfrm>
        </p:grpSpPr>
        <p:pic>
          <p:nvPicPr>
            <p:cNvPr id="2" name="图片 1"/>
            <p:cNvPicPr>
              <a:picLocks noChangeAspect="1"/>
            </p:cNvPicPr>
            <p:nvPr userDrawn="1"/>
          </p:nvPicPr>
          <p:blipFill rotWithShape="1">
            <a:blip r:embed="rId3">
              <a:extLst>
                <a:ext uri="{28A0092B-C50C-407E-A947-70E740481C1C}">
                  <a14:useLocalDpi xmlns:a14="http://schemas.microsoft.com/office/drawing/2010/main" val="0"/>
                </a:ext>
              </a:extLst>
            </a:blip>
            <a:srcRect b="6779"/>
            <a:stretch>
              <a:fillRect/>
            </a:stretch>
          </p:blipFill>
          <p:spPr>
            <a:xfrm>
              <a:off x="4951398" y="2479671"/>
              <a:ext cx="3931174" cy="4379936"/>
            </a:xfrm>
            <a:prstGeom prst="rect">
              <a:avLst/>
            </a:prstGeom>
          </p:spPr>
        </p:pic>
        <p:pic>
          <p:nvPicPr>
            <p:cNvPr id="8" name="图片 7"/>
            <p:cNvPicPr>
              <a:picLocks noChangeAspect="1"/>
            </p:cNvPicPr>
            <p:nvPr userDrawn="1"/>
          </p:nvPicPr>
          <p:blipFill rotWithShape="1">
            <a:blip r:embed="rId4">
              <a:extLst>
                <a:ext uri="{28A0092B-C50C-407E-A947-70E740481C1C}">
                  <a14:useLocalDpi xmlns:a14="http://schemas.microsoft.com/office/drawing/2010/main" val="0"/>
                </a:ext>
              </a:extLst>
            </a:blip>
            <a:srcRect r="13919"/>
            <a:stretch>
              <a:fillRect/>
            </a:stretch>
          </p:blipFill>
          <p:spPr>
            <a:xfrm>
              <a:off x="6676110" y="5234802"/>
              <a:ext cx="2467889" cy="1623198"/>
            </a:xfrm>
            <a:prstGeom prst="rect">
              <a:avLst/>
            </a:prstGeom>
          </p:spPr>
        </p:pic>
        <p:pic>
          <p:nvPicPr>
            <p:cNvPr id="11" name="图片 10"/>
            <p:cNvPicPr>
              <a:picLocks noChangeAspect="1"/>
            </p:cNvPicPr>
            <p:nvPr userDrawn="1"/>
          </p:nvPicPr>
          <p:blipFill rotWithShape="1">
            <a:blip r:embed="rId5">
              <a:extLst>
                <a:ext uri="{28A0092B-C50C-407E-A947-70E740481C1C}">
                  <a14:useLocalDpi xmlns:a14="http://schemas.microsoft.com/office/drawing/2010/main" val="0"/>
                </a:ext>
              </a:extLst>
            </a:blip>
            <a:srcRect b="35057"/>
            <a:stretch>
              <a:fillRect/>
            </a:stretch>
          </p:blipFill>
          <p:spPr>
            <a:xfrm>
              <a:off x="4373267" y="6365060"/>
              <a:ext cx="832031" cy="498536"/>
            </a:xfrm>
            <a:prstGeom prst="rect">
              <a:avLst/>
            </a:prstGeom>
          </p:spPr>
        </p:pic>
      </p:grpSp>
      <p:sp>
        <p:nvSpPr>
          <p:cNvPr id="4"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1498959" y="3010504"/>
            <a:ext cx="5422541" cy="467211"/>
          </a:xfrm>
          <a:prstGeom prst="roundRect">
            <a:avLst>
              <a:gd name="adj" fmla="val 50000"/>
            </a:avLst>
          </a:prstGeom>
          <a:noFill/>
          <a:ln>
            <a:noFill/>
          </a:ln>
        </p:spPr>
        <p:txBody>
          <a:bodyPr anchor="ctr">
            <a:noAutofit/>
          </a:bodyPr>
          <a:lstStyle>
            <a:lvl1pPr marL="0" indent="0" algn="ctr">
              <a:buNone/>
              <a:defRPr sz="2000" b="0">
                <a:solidFill>
                  <a:schemeClr val="accent1">
                    <a:lumMod val="75000"/>
                  </a:schemeClr>
                </a:solidFill>
                <a:latin typeface="幼圆" panose="02010509060101010101" pitchFamily="49" charset="-122"/>
                <a:ea typeface="幼圆" panose="020105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单击此处添加您的副标题</a:t>
            </a:r>
          </a:p>
        </p:txBody>
      </p:sp>
      <p:sp>
        <p:nvSpPr>
          <p:cNvPr id="7" name="KSO_CT1"/>
          <p:cNvSpPr>
            <a:spLocks noGrp="1"/>
          </p:cNvSpPr>
          <p:nvPr>
            <p:ph type="title" hasCustomPrompt="1"/>
          </p:nvPr>
        </p:nvSpPr>
        <p:spPr>
          <a:xfrm>
            <a:off x="418013" y="1942012"/>
            <a:ext cx="7735388" cy="966895"/>
          </a:xfrm>
        </p:spPr>
        <p:txBody>
          <a:bodyPr>
            <a:noAutofit/>
          </a:bodyPr>
          <a:lstStyle>
            <a:lvl1pPr algn="ctr">
              <a:defRPr sz="4400" b="1" baseline="0">
                <a:ln>
                  <a:solidFill>
                    <a:schemeClr val="accent6">
                      <a:lumMod val="20000"/>
                      <a:lumOff val="80000"/>
                    </a:schemeClr>
                  </a:solidFill>
                </a:ln>
                <a:gradFill flip="none" rotWithShape="1">
                  <a:gsLst>
                    <a:gs pos="0">
                      <a:schemeClr val="accent6"/>
                    </a:gs>
                    <a:gs pos="68000">
                      <a:schemeClr val="accent6">
                        <a:lumMod val="75000"/>
                        <a:shade val="67500"/>
                        <a:satMod val="115000"/>
                      </a:schemeClr>
                    </a:gs>
                    <a:gs pos="100000">
                      <a:schemeClr val="accent6"/>
                    </a:gs>
                  </a:gsLst>
                  <a:path path="circle">
                    <a:fillToRect l="50000" t="50000" r="50000" b="50000"/>
                  </a:path>
                  <a:tileRect/>
                </a:gradFill>
                <a:latin typeface="+mn-ea"/>
                <a:ea typeface="+mn-ea"/>
              </a:defRPr>
            </a:lvl1pPr>
          </a:lstStyle>
          <a:p>
            <a:r>
              <a:rPr lang="zh-CN" altLang="en-US" dirty="0"/>
              <a:t>单击此处添加标题文本</a:t>
            </a:r>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b="21569"/>
          <a:stretch>
            <a:fillRect/>
          </a:stretch>
        </p:blipFill>
        <p:spPr>
          <a:xfrm>
            <a:off x="41695" y="6069875"/>
            <a:ext cx="1933828" cy="801191"/>
          </a:xfrm>
          <a:prstGeom prst="rect">
            <a:avLst/>
          </a:prstGeom>
        </p:spPr>
      </p:pic>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idx="1"/>
          </p:nvPr>
        </p:nvSpPr>
        <p:spPr/>
        <p:txBody>
          <a:bodyPr/>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20391" y="2464534"/>
            <a:ext cx="5726611" cy="1002845"/>
          </a:xfrm>
        </p:spPr>
        <p:txBody>
          <a:bodyPr anchor="b">
            <a:normAutofit/>
          </a:bodyPr>
          <a:lstStyle>
            <a:lvl1pPr algn="ctr">
              <a:defRPr sz="3600" b="0"/>
            </a:lvl1pPr>
          </a:lstStyle>
          <a:p>
            <a:r>
              <a:rPr lang="zh-CN" altLang="en-US" dirty="0"/>
              <a:t>此处添加您的标题</a:t>
            </a:r>
            <a:endParaRPr lang="en-US" dirty="0"/>
          </a:p>
        </p:txBody>
      </p:sp>
      <p:sp>
        <p:nvSpPr>
          <p:cNvPr id="3" name="KSO_ST2"/>
          <p:cNvSpPr>
            <a:spLocks noGrp="1"/>
          </p:cNvSpPr>
          <p:nvPr>
            <p:ph type="body" idx="1" hasCustomPrompt="1"/>
          </p:nvPr>
        </p:nvSpPr>
        <p:spPr>
          <a:xfrm>
            <a:off x="2020392" y="3581455"/>
            <a:ext cx="5726611" cy="411016"/>
          </a:xfrm>
        </p:spPr>
        <p:txBody>
          <a:bodyPr>
            <a:normAutofit/>
          </a:bodyPr>
          <a:lstStyle>
            <a:lvl1pPr marL="0" indent="0" algn="ctr">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b="6779"/>
          <a:stretch>
            <a:fillRect/>
          </a:stretch>
        </p:blipFill>
        <p:spPr>
          <a:xfrm>
            <a:off x="7748009" y="1715918"/>
            <a:ext cx="2450995" cy="1845457"/>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2657"/>
          <a:stretch>
            <a:fillRect/>
          </a:stretch>
        </p:blipFill>
        <p:spPr>
          <a:xfrm>
            <a:off x="8959434" y="2876774"/>
            <a:ext cx="1653409" cy="683923"/>
          </a:xfrm>
          <a:prstGeom prst="rect">
            <a:avLst/>
          </a:prstGeom>
        </p:spPr>
      </p:pic>
      <p:cxnSp>
        <p:nvCxnSpPr>
          <p:cNvPr id="12" name="直接连接符 11"/>
          <p:cNvCxnSpPr/>
          <p:nvPr/>
        </p:nvCxnSpPr>
        <p:spPr>
          <a:xfrm>
            <a:off x="1939107" y="3564039"/>
            <a:ext cx="8522789"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39107" y="3560697"/>
            <a:ext cx="8522789" cy="166576"/>
          </a:xfrm>
          <a:prstGeom prst="rect">
            <a:avLst/>
          </a:prstGeom>
          <a:gradFill flip="none" rotWithShape="1">
            <a:gsLst>
              <a:gs pos="0">
                <a:schemeClr val="bg1">
                  <a:lumMod val="75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r="-16287" b="-10331"/>
          <a:stretch>
            <a:fillRect/>
          </a:stretch>
        </p:blipFill>
        <p:spPr>
          <a:xfrm>
            <a:off x="7665718" y="3352999"/>
            <a:ext cx="543561" cy="356858"/>
          </a:xfrm>
          <a:prstGeom prst="rect">
            <a:avLst/>
          </a:prstGeom>
        </p:spPr>
      </p:pic>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399823" y="1244601"/>
            <a:ext cx="5080000" cy="4932363"/>
          </a:xfrm>
        </p:spPr>
        <p:txBody>
          <a:bodyPr/>
          <a:lstStyle/>
          <a:p>
            <a:pPr lvl="0"/>
            <a:r>
              <a:rPr lang="zh-CN" altLang="en-US"/>
              <a:t>单击此处编辑母版文本样式</a:t>
            </a:r>
          </a:p>
          <a:p>
            <a:pPr lvl="1"/>
            <a:r>
              <a:rPr lang="zh-CN" altLang="en-US"/>
              <a:t>二级</a:t>
            </a:r>
          </a:p>
        </p:txBody>
      </p:sp>
      <p:sp>
        <p:nvSpPr>
          <p:cNvPr id="4" name="KSO_BC2"/>
          <p:cNvSpPr>
            <a:spLocks noGrp="1"/>
          </p:cNvSpPr>
          <p:nvPr>
            <p:ph sz="half" idx="2"/>
          </p:nvPr>
        </p:nvSpPr>
        <p:spPr>
          <a:xfrm>
            <a:off x="6519333" y="1244601"/>
            <a:ext cx="5094116" cy="4932363"/>
          </a:xfrm>
        </p:spPr>
        <p:txBody>
          <a:bodyPr/>
          <a:lstStyle/>
          <a:p>
            <a:pPr lvl="0"/>
            <a:r>
              <a:rPr lang="zh-CN" altLang="en-US"/>
              <a:t>单击此处编辑母版文本样式</a:t>
            </a:r>
          </a:p>
          <a:p>
            <a:pPr lvl="1"/>
            <a:r>
              <a:rPr lang="zh-CN" altLang="en-US"/>
              <a:t>二级</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9435" y="137636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KSO_BC1"/>
          <p:cNvSpPr>
            <a:spLocks noGrp="1"/>
          </p:cNvSpPr>
          <p:nvPr>
            <p:ph sz="half" idx="2"/>
          </p:nvPr>
        </p:nvSpPr>
        <p:spPr>
          <a:xfrm>
            <a:off x="1099435" y="2200274"/>
            <a:ext cx="5157787" cy="3684588"/>
          </a:xfrm>
        </p:spPr>
        <p:txBody>
          <a:bodyPr/>
          <a:lstStyle/>
          <a:p>
            <a:pPr lvl="0"/>
            <a:r>
              <a:rPr lang="zh-CN" altLang="en-US"/>
              <a:t>单击此处编辑母版文本样式</a:t>
            </a:r>
          </a:p>
          <a:p>
            <a:pPr lvl="1"/>
            <a:r>
              <a:rPr lang="zh-CN" altLang="en-US"/>
              <a:t>二级</a:t>
            </a:r>
          </a:p>
        </p:txBody>
      </p:sp>
      <p:sp>
        <p:nvSpPr>
          <p:cNvPr id="5" name="Text Placeholder 4"/>
          <p:cNvSpPr>
            <a:spLocks noGrp="1"/>
          </p:cNvSpPr>
          <p:nvPr>
            <p:ph type="body" sz="quarter" idx="3"/>
          </p:nvPr>
        </p:nvSpPr>
        <p:spPr>
          <a:xfrm>
            <a:off x="6431846" y="137636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KSO_BC2"/>
          <p:cNvSpPr>
            <a:spLocks noGrp="1"/>
          </p:cNvSpPr>
          <p:nvPr>
            <p:ph sz="quarter" idx="4"/>
          </p:nvPr>
        </p:nvSpPr>
        <p:spPr>
          <a:xfrm>
            <a:off x="6431846" y="2200274"/>
            <a:ext cx="5183188" cy="3684588"/>
          </a:xfrm>
        </p:spPr>
        <p:txBody>
          <a:bodyPr/>
          <a:lstStyle/>
          <a:p>
            <a:pPr lvl="0"/>
            <a:r>
              <a:rPr lang="zh-CN" altLang="en-US"/>
              <a:t>单击此处编辑母版文本样式</a:t>
            </a:r>
          </a:p>
          <a:p>
            <a:pPr lvl="1"/>
            <a:r>
              <a:rPr lang="zh-CN" altLang="en-US"/>
              <a:t>二级</a:t>
            </a:r>
          </a:p>
        </p:txBody>
      </p:sp>
      <p:sp>
        <p:nvSpPr>
          <p:cNvPr id="7" name="KSO_FD"/>
          <p:cNvSpPr>
            <a:spLocks noGrp="1"/>
          </p:cNvSpPr>
          <p:nvPr>
            <p:ph type="dt" sz="half" idx="10"/>
          </p:nvPr>
        </p:nvSpPr>
        <p:spPr/>
        <p:txBody>
          <a:bodyPr/>
          <a:lstStyle/>
          <a:p>
            <a:fld id="{C9E60F58-3108-4415-857A-6D0360DF626E}" type="datetimeFigureOut">
              <a:rPr lang="zh-CN" altLang="en-US" smtClean="0"/>
              <a:t>2025-12-10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0" y="533402"/>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p:cNvSpPr>
          <p:nvPr>
            <p:ph idx="1"/>
          </p:nvPr>
        </p:nvSpPr>
        <p:spPr>
          <a:xfrm>
            <a:off x="5487989" y="1063629"/>
            <a:ext cx="6172200"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p:txBody>
      </p:sp>
      <p:sp>
        <p:nvSpPr>
          <p:cNvPr id="4" name="KSO_BC2"/>
          <p:cNvSpPr>
            <a:spLocks noGrp="1"/>
          </p:cNvSpPr>
          <p:nvPr>
            <p:ph type="body" sz="half" idx="2"/>
          </p:nvPr>
        </p:nvSpPr>
        <p:spPr>
          <a:xfrm>
            <a:off x="1144590" y="213360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32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5442833"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0" y="365125"/>
            <a:ext cx="1182511" cy="5811838"/>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2113842" y="365125"/>
            <a:ext cx="7933269" cy="5811838"/>
          </a:xfrm>
        </p:spPr>
        <p:txBody>
          <a:bodyPr vert="eaVert"/>
          <a:lstStyle/>
          <a:p>
            <a:pPr lvl="0"/>
            <a:r>
              <a:rPr lang="zh-CN" altLang="en-US"/>
              <a:t>单击此处编辑母版文本样式</a:t>
            </a:r>
          </a:p>
          <a:p>
            <a:pPr lvl="1"/>
            <a:r>
              <a:rPr lang="zh-CN" altLang="en-US"/>
              <a:t>二级</a:t>
            </a:r>
          </a:p>
        </p:txBody>
      </p:sp>
      <p:sp>
        <p:nvSpPr>
          <p:cNvPr id="4" name="KSO_FD"/>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EF906490-237C-474C-BA2E-D98840BC1F8F}" type="slidenum">
              <a:rPr lang="zh-CN" altLang="en-US" smtClean="0"/>
              <a:t>‹#›</a:t>
            </a:fld>
            <a:endParaRPr lang="zh-CN" altLang="en-US"/>
          </a:p>
        </p:txBody>
      </p:sp>
    </p:spTree>
  </p:cSld>
  <p:clrMapOvr>
    <a:masterClrMapping/>
  </p:clrMapOvr>
  <p:hf sldNum="0"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p:cSld name="KSO_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73464" y="301900"/>
            <a:ext cx="7937137" cy="699594"/>
          </a:xfrm>
        </p:spPr>
        <p:txBody>
          <a:bodyPr/>
          <a:lstStyle/>
          <a:p>
            <a:r>
              <a:rPr lang="zh-CN" altLang="en-US" dirty="0"/>
              <a:t>单击此处添加目录页标题</a:t>
            </a:r>
          </a:p>
        </p:txBody>
      </p:sp>
      <p:sp>
        <p:nvSpPr>
          <p:cNvPr id="3" name="日期占位符 2"/>
          <p:cNvSpPr>
            <a:spLocks noGrp="1"/>
          </p:cNvSpPr>
          <p:nvPr>
            <p:ph type="dt" sz="half" idx="10"/>
          </p:nvPr>
        </p:nvSpPr>
        <p:spPr/>
        <p:txBody>
          <a:bodyPr/>
          <a:lstStyle/>
          <a:p>
            <a:fld id="{13D0CE79-49FB-443D-BEF8-6B709DE8FD0C}" type="datetimeFigureOut">
              <a:rPr lang="zh-CN" altLang="en-US" smtClean="0"/>
              <a:t>2025-12-10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9" name="目录条目"/>
          <p:cNvSpPr>
            <a:spLocks noGrp="1"/>
          </p:cNvSpPr>
          <p:nvPr>
            <p:ph type="body" sz="quarter" idx="13" hasCustomPrompt="1"/>
          </p:nvPr>
        </p:nvSpPr>
        <p:spPr>
          <a:xfrm>
            <a:off x="653094" y="1494205"/>
            <a:ext cx="9929996" cy="4340542"/>
          </a:xfrm>
          <a:effectLst/>
        </p:spPr>
        <p:txBody>
          <a:bodyPr>
            <a:normAutofit/>
          </a:bodyPr>
          <a:lstStyle>
            <a:lvl1pPr marL="514350" indent="-514350">
              <a:buClr>
                <a:schemeClr val="accent1">
                  <a:lumMod val="75000"/>
                </a:schemeClr>
              </a:buClr>
              <a:buSzPct val="100000"/>
              <a:buFont typeface="+mj-lt"/>
              <a:buAutoNum type="arabicPeriod"/>
              <a:defRPr sz="2800" b="0" cap="none" spc="0">
                <a:ln>
                  <a:noFill/>
                </a:ln>
                <a:solidFill>
                  <a:schemeClr val="accent1">
                    <a:lumMod val="75000"/>
                  </a:schemeClr>
                </a:solidFill>
                <a:effectLst/>
                <a:latin typeface="+mn-ea"/>
                <a:ea typeface="+mn-ea"/>
              </a:defRPr>
            </a:lvl1pPr>
          </a:lstStyle>
          <a:p>
            <a:pPr lvl="0"/>
            <a:r>
              <a:rPr lang="zh-CN" altLang="en-US" dirty="0"/>
              <a:t>单击此处添加目录条目</a:t>
            </a:r>
          </a:p>
        </p:txBody>
      </p:sp>
    </p:spTree>
  </p:cSld>
  <p:clrMapOvr>
    <a:masterClrMapping/>
  </p:clrMapOvr>
  <p:hf sldNum="0"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29698"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a:stretch>
            <a:fillRect/>
          </a:stretch>
        </p:blipFill>
        <p:spPr>
          <a:xfrm>
            <a:off x="0" y="1588"/>
            <a:ext cx="4961467" cy="6858000"/>
          </a:xfrm>
          <a:prstGeom prst="rect">
            <a:avLst/>
          </a:prstGeom>
          <a:noFill/>
          <a:ln w="9525">
            <a:noFill/>
          </a:ln>
        </p:spPr>
      </p:pic>
      <p:pic>
        <p:nvPicPr>
          <p:cNvPr id="13314" name="Picture 5"/>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ctrTitle"/>
          </p:nvPr>
        </p:nvSpPr>
        <p:spPr>
          <a:xfrm>
            <a:off x="3454400" y="2286000"/>
            <a:ext cx="8240299" cy="1470025"/>
          </a:xfrm>
        </p:spPr>
        <p:txBody>
          <a:bodyPr anchor="t"/>
          <a:lstStyle>
            <a:lvl1pPr algn="r" eaLnBrk="1" latinLnBrk="0" hangingPunct="1">
              <a:defRPr kumimoji="0" lang="zh-CN" b="1" cap="small" baseline="0">
                <a:solidFill>
                  <a:srgbClr val="003300"/>
                </a:solidFill>
              </a:defRPr>
            </a:lvl1pPr>
          </a:lstStyle>
          <a:p>
            <a:r>
              <a:rPr lang="zh-CN" altLang="en-US"/>
              <a:t>单击此处编辑母版标题样式</a:t>
            </a:r>
            <a:endParaRPr lang="zh-CN"/>
          </a:p>
        </p:txBody>
      </p:sp>
      <p:sp>
        <p:nvSpPr>
          <p:cNvPr id="3" name="Subtitle 2"/>
          <p:cNvSpPr>
            <a:spLocks noGrp="1"/>
          </p:cNvSpPr>
          <p:nvPr>
            <p:ph type="subTitle" idx="1"/>
          </p:nvPr>
        </p:nvSpPr>
        <p:spPr>
          <a:xfrm>
            <a:off x="5283200" y="4038600"/>
            <a:ext cx="6363371" cy="990600"/>
          </a:xfrm>
        </p:spPr>
        <p:txBody>
          <a:bodyPr>
            <a:normAutofit/>
          </a:bodyPr>
          <a:lstStyle>
            <a:lvl1pPr marL="0" indent="0" algn="r" eaLnBrk="1" latinLnBrk="0" hangingPunct="1">
              <a:buNone/>
              <a:defRPr kumimoji="0" lang="zh-CN" sz="2000" b="0">
                <a:solidFill>
                  <a:schemeClr val="tx1"/>
                </a:solidFill>
                <a:latin typeface="Georgia" panose="02040502050405020303" pitchFamily="18" charset="0"/>
              </a:defRPr>
            </a:lvl1pPr>
            <a:lvl2pPr marL="457200" indent="0" algn="ctr" eaLnBrk="1" latinLnBrk="0" hangingPunct="1">
              <a:buNone/>
              <a:defRPr kumimoji="0" lang="zh-CN">
                <a:solidFill>
                  <a:schemeClr val="tx1">
                    <a:tint val="75000"/>
                  </a:schemeClr>
                </a:solidFill>
              </a:defRPr>
            </a:lvl2pPr>
            <a:lvl3pPr marL="914400" indent="0" algn="ctr" eaLnBrk="1" latinLnBrk="0" hangingPunct="1">
              <a:buNone/>
              <a:defRPr kumimoji="0" lang="zh-CN">
                <a:solidFill>
                  <a:schemeClr val="tx1">
                    <a:tint val="75000"/>
                  </a:schemeClr>
                </a:solidFill>
              </a:defRPr>
            </a:lvl3pPr>
            <a:lvl4pPr marL="1371600" indent="0" algn="ctr" eaLnBrk="1" latinLnBrk="0" hangingPunct="1">
              <a:buNone/>
              <a:defRPr kumimoji="0" lang="zh-CN">
                <a:solidFill>
                  <a:schemeClr val="tx1">
                    <a:tint val="75000"/>
                  </a:schemeClr>
                </a:solidFill>
              </a:defRPr>
            </a:lvl4pPr>
            <a:lvl5pPr marL="1828800" indent="0" algn="ctr" eaLnBrk="1" latinLnBrk="0" hangingPunct="1">
              <a:buNone/>
              <a:defRPr kumimoji="0" lang="zh-CN">
                <a:solidFill>
                  <a:schemeClr val="tx1">
                    <a:tint val="75000"/>
                  </a:schemeClr>
                </a:solidFill>
              </a:defRPr>
            </a:lvl5pPr>
            <a:lvl6pPr marL="2286000" indent="0" algn="ctr" eaLnBrk="1" latinLnBrk="0" hangingPunct="1">
              <a:buNone/>
              <a:defRPr kumimoji="0" lang="zh-CN">
                <a:solidFill>
                  <a:schemeClr val="tx1">
                    <a:tint val="75000"/>
                  </a:schemeClr>
                </a:solidFill>
              </a:defRPr>
            </a:lvl6pPr>
            <a:lvl7pPr marL="2743200" indent="0" algn="ctr" eaLnBrk="1" latinLnBrk="0" hangingPunct="1">
              <a:buNone/>
              <a:defRPr kumimoji="0" lang="zh-CN">
                <a:solidFill>
                  <a:schemeClr val="tx1">
                    <a:tint val="75000"/>
                  </a:schemeClr>
                </a:solidFill>
              </a:defRPr>
            </a:lvl7pPr>
            <a:lvl8pPr marL="3200400" indent="0" algn="ctr" eaLnBrk="1" latinLnBrk="0" hangingPunct="1">
              <a:buNone/>
              <a:defRPr kumimoji="0" lang="zh-CN">
                <a:solidFill>
                  <a:schemeClr val="tx1">
                    <a:tint val="75000"/>
                  </a:schemeClr>
                </a:solidFill>
              </a:defRPr>
            </a:lvl8pPr>
            <a:lvl9pPr marL="3657600" indent="0" algn="ctr" eaLnBrk="1" latinLnBrk="0" hangingPunct="1">
              <a:buNone/>
              <a:defRPr kumimoji="0" lang="zh-CN">
                <a:solidFill>
                  <a:schemeClr val="tx1">
                    <a:tint val="75000"/>
                  </a:schemeClr>
                </a:solidFill>
              </a:defRPr>
            </a:lvl9pPr>
          </a:lstStyle>
          <a:p>
            <a:r>
              <a:rPr lang="zh-CN" altLang="en-US"/>
              <a:t>单击此处编辑母版副标题样式</a:t>
            </a:r>
          </a:p>
        </p:txBody>
      </p:sp>
      <p:sp>
        <p:nvSpPr>
          <p:cNvPr id="10" name="Picture Placeholder 9"/>
          <p:cNvSpPr>
            <a:spLocks noGrp="1"/>
          </p:cNvSpPr>
          <p:nvPr>
            <p:ph type="pic" sz="quarter" idx="13"/>
          </p:nvPr>
        </p:nvSpPr>
        <p:spPr>
          <a:xfrm>
            <a:off x="9144000" y="5105400"/>
            <a:ext cx="24384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2000" baseline="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20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1_节标题">
    <p:spTree>
      <p:nvGrpSpPr>
        <p:cNvPr id="1" name=""/>
        <p:cNvGrpSpPr/>
        <p:nvPr/>
      </p:nvGrpSpPr>
      <p:grpSpPr>
        <a:xfrm>
          <a:off x="0" y="0"/>
          <a:ext cx="0" cy="0"/>
          <a:chOff x="0" y="0"/>
          <a:chExt cx="0" cy="0"/>
        </a:xfrm>
      </p:grpSpPr>
      <p:pic>
        <p:nvPicPr>
          <p:cNvPr id="3" name="Picture 7"/>
          <p:cNvPicPr>
            <a:picLocks noChangeAspect="1"/>
          </p:cNvPicPr>
          <p:nvPr userDrawn="1"/>
        </p:nvPicPr>
        <p:blipFill>
          <a:blip r:embed="rId2"/>
          <a:stretch>
            <a:fillRect/>
          </a:stretch>
        </p:blipFill>
        <p:spPr>
          <a:xfrm>
            <a:off x="-21167" y="0"/>
            <a:ext cx="12230100" cy="2819400"/>
          </a:xfrm>
          <a:prstGeom prst="rect">
            <a:avLst/>
          </a:prstGeom>
          <a:noFill/>
          <a:ln w="9525">
            <a:noFill/>
          </a:ln>
        </p:spPr>
      </p:pic>
      <p:pic>
        <p:nvPicPr>
          <p:cNvPr id="15362" name="Picture 6"/>
          <p:cNvPicPr>
            <a:picLocks noChangeAspect="1"/>
          </p:cNvPicPr>
          <p:nvPr userDrawn="1"/>
        </p:nvPicPr>
        <p:blipFill>
          <a:blip r:embed="rId3"/>
          <a:stretch>
            <a:fillRect/>
          </a:stretch>
        </p:blipFill>
        <p:spPr>
          <a:xfrm>
            <a:off x="57151" y="0"/>
            <a:ext cx="12134849" cy="6880225"/>
          </a:xfrm>
          <a:prstGeom prst="rect">
            <a:avLst/>
          </a:prstGeom>
          <a:noFill/>
          <a:ln w="9525">
            <a:noFill/>
          </a:ln>
        </p:spPr>
      </p:pic>
      <p:sp>
        <p:nvSpPr>
          <p:cNvPr id="2" name="Title 1"/>
          <p:cNvSpPr>
            <a:spLocks noGrp="1"/>
          </p:cNvSpPr>
          <p:nvPr>
            <p:ph type="title"/>
          </p:nvPr>
        </p:nvSpPr>
        <p:spPr>
          <a:xfrm>
            <a:off x="6096000" y="3048000"/>
            <a:ext cx="5791200" cy="1362075"/>
          </a:xfrm>
        </p:spPr>
        <p:txBody>
          <a:bodyPr anchor="b"/>
          <a:lstStyle>
            <a:lvl1pPr algn="l" eaLnBrk="1" latinLnBrk="0" hangingPunct="1">
              <a:defRPr kumimoji="0" lang="zh-CN" sz="4000" b="1" cap="small" baseline="0">
                <a:solidFill>
                  <a:srgbClr val="003300"/>
                </a:solidFill>
              </a:defRPr>
            </a:lvl1pPr>
          </a:lstStyle>
          <a:p>
            <a:r>
              <a:rPr lang="zh-CN" altLang="en-US"/>
              <a:t>单击此处编辑母版标题样式</a:t>
            </a:r>
            <a:endParaRPr lang="zh-CN"/>
          </a:p>
        </p:txBody>
      </p:sp>
      <p:sp>
        <p:nvSpPr>
          <p:cNvPr id="10" name="Picture Placeholder 9"/>
          <p:cNvSpPr>
            <a:spLocks noGrp="1"/>
          </p:cNvSpPr>
          <p:nvPr>
            <p:ph type="pic" sz="quarter" idx="13"/>
          </p:nvPr>
        </p:nvSpPr>
        <p:spPr>
          <a:xfrm>
            <a:off x="9042400" y="5334000"/>
            <a:ext cx="2844800" cy="990600"/>
          </a:xfrm>
        </p:spPr>
        <p:txBody>
          <a:bodyPr vert="horz" wrap="square" lIns="91440" tIns="45720" rIns="91440" bIns="45720" numCol="1" rtlCol="0" anchor="t" anchorCtr="0" compatLnSpc="1">
            <a:normAutofit/>
          </a:bodyPr>
          <a:lstStyle>
            <a:lvl1pPr marL="0" indent="0" algn="ctr" eaLnBrk="1" latinLnBrk="0" hangingPunct="1">
              <a:buNone/>
              <a:defRPr kumimoji="0" lang="zh-CN" sz="1800"/>
            </a:lvl1pPr>
          </a:lstStyle>
          <a:p>
            <a:pPr marL="0" marR="0" lvl="0" indent="0" algn="ctr" defTabSz="914400" rtl="0" eaLnBrk="1" fontAlgn="base" latinLnBrk="0" hangingPunct="1">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1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zh-CN"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0" y="269632"/>
            <a:ext cx="10769600" cy="1143000"/>
          </a:xfrm>
        </p:spPr>
        <p:txBody>
          <a:bodyPr/>
          <a:lstStyle>
            <a:lvl1pPr algn="l" eaLnBrk="1" latinLnBrk="0" hangingPunct="1">
              <a:defRPr kumimoji="0" lang="zh-CN"/>
            </a:lvl1pPr>
          </a:lstStyle>
          <a:p>
            <a:r>
              <a:rPr lang="zh-CN" altLang="en-US"/>
              <a:t>单击此处编辑母版标题样式</a:t>
            </a:r>
            <a:endParaRPr lang="zh-CN"/>
          </a:p>
        </p:txBody>
      </p:sp>
      <p:sp>
        <p:nvSpPr>
          <p:cNvPr id="3" name="Content Placeholder 2"/>
          <p:cNvSpPr>
            <a:spLocks noGrp="1"/>
          </p:cNvSpPr>
          <p:nvPr>
            <p:ph idx="1"/>
          </p:nvPr>
        </p:nvSpPr>
        <p:spPr>
          <a:xfrm>
            <a:off x="1016000" y="1596413"/>
            <a:ext cx="10769600" cy="4297363"/>
          </a:xfrm>
        </p:spPr>
        <p:txBody>
          <a:bodyPr>
            <a:normAutofit/>
          </a:bodyPr>
          <a:lstStyle>
            <a:lvl1pPr eaLnBrk="1" latinLnBrk="0" hangingPunct="1">
              <a:defRPr kumimoji="0" lang="zh-CN" sz="3200">
                <a:latin typeface="+mn-lt"/>
              </a:defRPr>
            </a:lvl1pPr>
            <a:lvl2pPr eaLnBrk="1" latinLnBrk="0" hangingPunct="1">
              <a:defRPr kumimoji="0" lang="zh-CN" sz="2800">
                <a:latin typeface="+mn-lt"/>
              </a:defRPr>
            </a:lvl2pPr>
            <a:lvl3pPr eaLnBrk="1" latinLnBrk="0" hangingPunct="1">
              <a:defRPr kumimoji="0" lang="zh-CN" sz="2400">
                <a:latin typeface="+mn-lt"/>
              </a:defRPr>
            </a:lvl3pPr>
            <a:lvl4pPr eaLnBrk="1" latinLnBrk="0" hangingPunct="1">
              <a:defRPr kumimoji="0" lang="zh-CN" sz="2400">
                <a:latin typeface="+mn-lt"/>
              </a:defRPr>
            </a:lvl4pPr>
            <a:lvl5pPr eaLnBrk="1" latinLnBrk="0" hangingPunct="1">
              <a:defRPr kumimoji="0" lang="zh-CN" sz="2400">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仅显示背景">
    <p:spTree>
      <p:nvGrpSpPr>
        <p:cNvPr id="1" name=""/>
        <p:cNvGrpSpPr/>
        <p:nvPr/>
      </p:nvGrpSpPr>
      <p:grpSpPr>
        <a:xfrm>
          <a:off x="0" y="0"/>
          <a:ext cx="0" cy="0"/>
          <a:chOff x="0" y="0"/>
          <a:chExt cx="0" cy="0"/>
        </a:xfrm>
      </p:grpSpPr>
      <p:pic>
        <p:nvPicPr>
          <p:cNvPr id="17410" name="Picture 1"/>
          <p:cNvPicPr>
            <a:picLocks noChangeAspect="1"/>
          </p:cNvPicPr>
          <p:nvPr userDrawn="1"/>
        </p:nvPicPr>
        <p:blipFill>
          <a:blip r:embed="rId2"/>
          <a:stretch>
            <a:fillRect/>
          </a:stretch>
        </p:blipFill>
        <p:spPr>
          <a:xfrm>
            <a:off x="57151" y="0"/>
            <a:ext cx="12134849" cy="6880225"/>
          </a:xfrm>
          <a:prstGeom prst="rect">
            <a:avLst/>
          </a:prstGeom>
          <a:noFill/>
          <a:ln w="9525">
            <a:noFill/>
          </a:ln>
        </p:spPr>
      </p:pic>
      <p:sp>
        <p:nvSpPr>
          <p:cNvPr id="10" name="Date Placeholder 3"/>
          <p:cNvSpPr>
            <a:spLocks noGrp="1"/>
          </p:cNvSpPr>
          <p:nvPr>
            <p:ph type="dt" sz="half" idx="2"/>
          </p:nvPr>
        </p:nvSpPr>
        <p:spPr>
          <a:xfrm>
            <a:off x="101600" y="6400800"/>
            <a:ext cx="4267200" cy="284163"/>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7112000"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5486400" y="6400800"/>
            <a:ext cx="1219200" cy="284163"/>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0"/>
            <a:ext cx="109728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9" name="日期占位符 3"/>
          <p:cNvSpPr>
            <a:spLocks noGrp="1"/>
          </p:cNvSpPr>
          <p:nvPr>
            <p:ph type="dt" sz="half" idx="2"/>
          </p:nvPr>
        </p:nvSpPr>
        <p:spPr>
          <a:xfrm>
            <a:off x="609600" y="6243638"/>
            <a:ext cx="2844800" cy="457200"/>
          </a:xfrm>
          <a:prstGeom prst="rect">
            <a:avLst/>
          </a:prstGeom>
        </p:spPr>
        <p:txBody>
          <a:bodyPr vert="horz" rtlCol="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4165600" y="6248400"/>
            <a:ext cx="3860800" cy="457200"/>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2">
                  <a:lumMod val="75000"/>
                  <a:lumOff val="25000"/>
                </a:schemeClr>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8737600" y="6243638"/>
            <a:ext cx="2844800" cy="457200"/>
          </a:xfrm>
          <a:prstGeom prst="rect">
            <a:avLst/>
          </a:prstGeom>
        </p:spPr>
        <p:txBody>
          <a:bodyPr vert="horz" lIns="45720" rIns="45720" rtlCol="0" anchor="ctr"/>
          <a:lstStyle/>
          <a:p>
            <a:pPr algn="ctr">
              <a:buNone/>
            </a:pPr>
            <a:fld id="{9A0DB2DC-4C9A-4742-B13C-FB6460FD3503}" type="slidenum">
              <a:rPr lang="en-US" altLang="zh-CN" dirty="0"/>
              <a:t>‹#›</a:t>
            </a:fld>
            <a:endParaRPr lang="en-US" altLang="zh-CN" dirty="0"/>
          </a:p>
        </p:txBody>
      </p:sp>
    </p:spTree>
  </p:cSld>
  <p:clrMapOvr>
    <a:masterClrMapping/>
  </p:clrMapOvr>
  <p:transition spd="slow">
    <p:wipe dir="d"/>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47A14FB-78D1-4659-8EC9-331213E112C8}" type="datetimeFigureOut">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12041B1-2172-4AFD-9301-314F7512B1E0}" type="slidenum">
              <a:rPr lang="zh-CN" altLang="en-US" smtClean="0"/>
              <a:t>‹#›</a:t>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
        <p:nvSpPr>
          <p:cNvPr id="10" name="Content Placeholder 9"/>
          <p:cNvSpPr>
            <a:spLocks noGrp="1"/>
          </p:cNvSpPr>
          <p:nvPr>
            <p:ph sz="quarter" idx="13"/>
          </p:nvPr>
        </p:nvSpPr>
        <p:spPr>
          <a:xfrm>
            <a:off x="1524000" y="731520"/>
            <a:ext cx="8534400" cy="347472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image" Target="../media/image1.jpeg"/><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theme" Target="../theme/theme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21" Type="http://schemas.openxmlformats.org/officeDocument/2006/relationships/image" Target="../media/image1.jpeg"/><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3.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18" Type="http://schemas.openxmlformats.org/officeDocument/2006/relationships/slideLayout" Target="../slideLayouts/slideLayout76.xml"/><Relationship Id="rId3" Type="http://schemas.openxmlformats.org/officeDocument/2006/relationships/slideLayout" Target="../slideLayouts/slideLayout61.xml"/><Relationship Id="rId21" Type="http://schemas.openxmlformats.org/officeDocument/2006/relationships/image" Target="../media/image1.jpeg"/><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theme" Target="../theme/theme4.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10" Type="http://schemas.openxmlformats.org/officeDocument/2006/relationships/slideLayout" Target="../slideLayouts/slideLayout68.xml"/><Relationship Id="rId19" Type="http://schemas.openxmlformats.org/officeDocument/2006/relationships/slideLayout" Target="../slideLayouts/slideLayout77.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slideLayout" Target="../slideLayouts/slideLayout95.xml"/><Relationship Id="rId3" Type="http://schemas.openxmlformats.org/officeDocument/2006/relationships/slideLayout" Target="../slideLayouts/slideLayout80.xml"/><Relationship Id="rId21" Type="http://schemas.openxmlformats.org/officeDocument/2006/relationships/image" Target="../media/image1.jpeg"/><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theme" Target="../theme/theme5.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3" Type="http://schemas.openxmlformats.org/officeDocument/2006/relationships/slideLayout" Target="../slideLayouts/slideLayout99.xml"/><Relationship Id="rId21" Type="http://schemas.openxmlformats.org/officeDocument/2006/relationships/image" Target="../media/image1.jpeg"/><Relationship Id="rId7" Type="http://schemas.openxmlformats.org/officeDocument/2006/relationships/slideLayout" Target="../slideLayouts/slideLayout103.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 Type="http://schemas.openxmlformats.org/officeDocument/2006/relationships/slideLayout" Target="../slideLayouts/slideLayout98.xml"/><Relationship Id="rId16" Type="http://schemas.openxmlformats.org/officeDocument/2006/relationships/slideLayout" Target="../slideLayouts/slideLayout112.xml"/><Relationship Id="rId20" Type="http://schemas.openxmlformats.org/officeDocument/2006/relationships/theme" Target="../theme/theme6.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5" Type="http://schemas.openxmlformats.org/officeDocument/2006/relationships/slideLayout" Target="../slideLayouts/slideLayout111.xml"/><Relationship Id="rId10" Type="http://schemas.openxmlformats.org/officeDocument/2006/relationships/slideLayout" Target="../slideLayouts/slideLayout106.xml"/><Relationship Id="rId19" Type="http://schemas.openxmlformats.org/officeDocument/2006/relationships/slideLayout" Target="../slideLayouts/slideLayout115.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14" Type="http://schemas.openxmlformats.org/officeDocument/2006/relationships/slideLayout" Target="../slideLayouts/slideLayout110.xml"/><Relationship Id="rId22"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23.xml"/><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3" Type="http://schemas.openxmlformats.org/officeDocument/2006/relationships/slideLayout" Target="../slideLayouts/slideLayout118.xml"/><Relationship Id="rId21" Type="http://schemas.openxmlformats.org/officeDocument/2006/relationships/image" Target="../media/image1.jpeg"/><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theme" Target="../theme/theme7.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5" Type="http://schemas.openxmlformats.org/officeDocument/2006/relationships/slideLayout" Target="../slideLayouts/slideLayout120.xml"/><Relationship Id="rId15" Type="http://schemas.openxmlformats.org/officeDocument/2006/relationships/slideLayout" Target="../slideLayouts/slideLayout130.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42.xml"/><Relationship Id="rId13" Type="http://schemas.openxmlformats.org/officeDocument/2006/relationships/slideLayout" Target="../slideLayouts/slideLayout147.xml"/><Relationship Id="rId18" Type="http://schemas.openxmlformats.org/officeDocument/2006/relationships/slideLayout" Target="../slideLayouts/slideLayout152.xml"/><Relationship Id="rId3" Type="http://schemas.openxmlformats.org/officeDocument/2006/relationships/slideLayout" Target="../slideLayouts/slideLayout137.xml"/><Relationship Id="rId21" Type="http://schemas.openxmlformats.org/officeDocument/2006/relationships/image" Target="../media/image1.jpeg"/><Relationship Id="rId7" Type="http://schemas.openxmlformats.org/officeDocument/2006/relationships/slideLayout" Target="../slideLayouts/slideLayout141.xml"/><Relationship Id="rId12" Type="http://schemas.openxmlformats.org/officeDocument/2006/relationships/slideLayout" Target="../slideLayouts/slideLayout146.xml"/><Relationship Id="rId17" Type="http://schemas.openxmlformats.org/officeDocument/2006/relationships/slideLayout" Target="../slideLayouts/slideLayout151.xml"/><Relationship Id="rId2" Type="http://schemas.openxmlformats.org/officeDocument/2006/relationships/slideLayout" Target="../slideLayouts/slideLayout136.xml"/><Relationship Id="rId16" Type="http://schemas.openxmlformats.org/officeDocument/2006/relationships/slideLayout" Target="../slideLayouts/slideLayout150.xml"/><Relationship Id="rId20" Type="http://schemas.openxmlformats.org/officeDocument/2006/relationships/theme" Target="../theme/theme8.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1" Type="http://schemas.openxmlformats.org/officeDocument/2006/relationships/slideLayout" Target="../slideLayouts/slideLayout145.xml"/><Relationship Id="rId5" Type="http://schemas.openxmlformats.org/officeDocument/2006/relationships/slideLayout" Target="../slideLayouts/slideLayout139.xml"/><Relationship Id="rId15" Type="http://schemas.openxmlformats.org/officeDocument/2006/relationships/slideLayout" Target="../slideLayouts/slideLayout149.xml"/><Relationship Id="rId10" Type="http://schemas.openxmlformats.org/officeDocument/2006/relationships/slideLayout" Target="../slideLayouts/slideLayout144.xml"/><Relationship Id="rId19" Type="http://schemas.openxmlformats.org/officeDocument/2006/relationships/slideLayout" Target="../slideLayouts/slideLayout153.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4" Type="http://schemas.openxmlformats.org/officeDocument/2006/relationships/slideLayout" Target="../slideLayouts/slideLayout148.xml"/><Relationship Id="rId22"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slideLayout" Target="../slideLayouts/slideLayout166.xml"/><Relationship Id="rId18" Type="http://schemas.openxmlformats.org/officeDocument/2006/relationships/slideLayout" Target="../slideLayouts/slideLayout171.xml"/><Relationship Id="rId3" Type="http://schemas.openxmlformats.org/officeDocument/2006/relationships/slideLayout" Target="../slideLayouts/slideLayout156.xml"/><Relationship Id="rId21" Type="http://schemas.openxmlformats.org/officeDocument/2006/relationships/image" Target="../media/image1.jpeg"/><Relationship Id="rId7" Type="http://schemas.openxmlformats.org/officeDocument/2006/relationships/slideLayout" Target="../slideLayouts/slideLayout160.xml"/><Relationship Id="rId12" Type="http://schemas.openxmlformats.org/officeDocument/2006/relationships/slideLayout" Target="../slideLayouts/slideLayout165.xml"/><Relationship Id="rId17" Type="http://schemas.openxmlformats.org/officeDocument/2006/relationships/slideLayout" Target="../slideLayouts/slideLayout170.xml"/><Relationship Id="rId2" Type="http://schemas.openxmlformats.org/officeDocument/2006/relationships/slideLayout" Target="../slideLayouts/slideLayout155.xml"/><Relationship Id="rId16" Type="http://schemas.openxmlformats.org/officeDocument/2006/relationships/slideLayout" Target="../slideLayouts/slideLayout169.xml"/><Relationship Id="rId20" Type="http://schemas.openxmlformats.org/officeDocument/2006/relationships/theme" Target="../theme/theme9.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slideLayout" Target="../slideLayouts/slideLayout164.xml"/><Relationship Id="rId5" Type="http://schemas.openxmlformats.org/officeDocument/2006/relationships/slideLayout" Target="../slideLayouts/slideLayout158.xml"/><Relationship Id="rId15" Type="http://schemas.openxmlformats.org/officeDocument/2006/relationships/slideLayout" Target="../slideLayouts/slideLayout168.xml"/><Relationship Id="rId10" Type="http://schemas.openxmlformats.org/officeDocument/2006/relationships/slideLayout" Target="../slideLayouts/slideLayout163.xml"/><Relationship Id="rId19" Type="http://schemas.openxmlformats.org/officeDocument/2006/relationships/slideLayout" Target="../slideLayouts/slideLayout172.xml"/><Relationship Id="rId4" Type="http://schemas.openxmlformats.org/officeDocument/2006/relationships/slideLayout" Target="../slideLayouts/slideLayout157.xml"/><Relationship Id="rId9" Type="http://schemas.openxmlformats.org/officeDocument/2006/relationships/slideLayout" Target="../slideLayouts/slideLayout162.xml"/><Relationship Id="rId14" Type="http://schemas.openxmlformats.org/officeDocument/2006/relationships/slideLayout" Target="../slideLayouts/slideLayout167.xml"/><Relationship Id="rId22"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80.xml"/><Relationship Id="rId13" Type="http://schemas.openxmlformats.org/officeDocument/2006/relationships/slideLayout" Target="../slideLayouts/slideLayout185.xml"/><Relationship Id="rId18" Type="http://schemas.openxmlformats.org/officeDocument/2006/relationships/slideLayout" Target="../slideLayouts/slideLayout190.xml"/><Relationship Id="rId3" Type="http://schemas.openxmlformats.org/officeDocument/2006/relationships/slideLayout" Target="../slideLayouts/slideLayout175.xml"/><Relationship Id="rId21" Type="http://schemas.openxmlformats.org/officeDocument/2006/relationships/theme" Target="../theme/theme10.xml"/><Relationship Id="rId7" Type="http://schemas.openxmlformats.org/officeDocument/2006/relationships/slideLayout" Target="../slideLayouts/slideLayout179.xml"/><Relationship Id="rId12" Type="http://schemas.openxmlformats.org/officeDocument/2006/relationships/slideLayout" Target="../slideLayouts/slideLayout184.xml"/><Relationship Id="rId17" Type="http://schemas.openxmlformats.org/officeDocument/2006/relationships/slideLayout" Target="../slideLayouts/slideLayout189.xml"/><Relationship Id="rId2" Type="http://schemas.openxmlformats.org/officeDocument/2006/relationships/slideLayout" Target="../slideLayouts/slideLayout174.xml"/><Relationship Id="rId16" Type="http://schemas.openxmlformats.org/officeDocument/2006/relationships/slideLayout" Target="../slideLayouts/slideLayout188.xml"/><Relationship Id="rId20" Type="http://schemas.openxmlformats.org/officeDocument/2006/relationships/slideLayout" Target="../slideLayouts/slideLayout192.xml"/><Relationship Id="rId1" Type="http://schemas.openxmlformats.org/officeDocument/2006/relationships/slideLayout" Target="../slideLayouts/slideLayout173.xml"/><Relationship Id="rId6" Type="http://schemas.openxmlformats.org/officeDocument/2006/relationships/slideLayout" Target="../slideLayouts/slideLayout178.xml"/><Relationship Id="rId11" Type="http://schemas.openxmlformats.org/officeDocument/2006/relationships/slideLayout" Target="../slideLayouts/slideLayout183.xml"/><Relationship Id="rId5" Type="http://schemas.openxmlformats.org/officeDocument/2006/relationships/slideLayout" Target="../slideLayouts/slideLayout177.xml"/><Relationship Id="rId15" Type="http://schemas.openxmlformats.org/officeDocument/2006/relationships/slideLayout" Target="../slideLayouts/slideLayout187.xml"/><Relationship Id="rId23" Type="http://schemas.openxmlformats.org/officeDocument/2006/relationships/image" Target="../media/image2.png"/><Relationship Id="rId10" Type="http://schemas.openxmlformats.org/officeDocument/2006/relationships/slideLayout" Target="../slideLayouts/slideLayout182.xml"/><Relationship Id="rId19" Type="http://schemas.openxmlformats.org/officeDocument/2006/relationships/slideLayout" Target="../slideLayouts/slideLayout191.xml"/><Relationship Id="rId4" Type="http://schemas.openxmlformats.org/officeDocument/2006/relationships/slideLayout" Target="../slideLayouts/slideLayout176.xml"/><Relationship Id="rId9" Type="http://schemas.openxmlformats.org/officeDocument/2006/relationships/slideLayout" Target="../slideLayouts/slideLayout181.xml"/><Relationship Id="rId14" Type="http://schemas.openxmlformats.org/officeDocument/2006/relationships/slideLayout" Target="../slideLayouts/slideLayout186.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2">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3"/>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1">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1">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1">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1">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1">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1">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88" r:id="rId19"/>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1">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1">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 id="2147483826" r:id="rId17"/>
    <p:sldLayoutId id="2147483827" r:id="rId18"/>
    <p:sldLayoutId id="2147483828" r:id="rId19"/>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22">
            <a:extLst>
              <a:ext uri="{28A0092B-C50C-407E-A947-70E740481C1C}">
                <a14:useLocalDpi xmlns:a14="http://schemas.microsoft.com/office/drawing/2010/main" val="0"/>
              </a:ext>
            </a:extLst>
          </a:blip>
          <a:srcRect r="453"/>
          <a:stretch>
            <a:fillRect/>
          </a:stretch>
        </p:blipFill>
        <p:spPr>
          <a:xfrm>
            <a:off x="-14046" y="0"/>
            <a:ext cx="12229268" cy="6858000"/>
          </a:xfrm>
          <a:prstGeom prst="rect">
            <a:avLst/>
          </a:prstGeom>
        </p:spPr>
      </p:pic>
      <p:sp>
        <p:nvSpPr>
          <p:cNvPr id="2" name="KSO_BT1"/>
          <p:cNvSpPr>
            <a:spLocks noGrp="1"/>
          </p:cNvSpPr>
          <p:nvPr>
            <p:ph type="title"/>
          </p:nvPr>
        </p:nvSpPr>
        <p:spPr>
          <a:xfrm>
            <a:off x="452846" y="101595"/>
            <a:ext cx="11160604" cy="699594"/>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KSO_BC1"/>
          <p:cNvSpPr>
            <a:spLocks noGrp="1"/>
          </p:cNvSpPr>
          <p:nvPr>
            <p:ph type="body" idx="1"/>
          </p:nvPr>
        </p:nvSpPr>
        <p:spPr>
          <a:xfrm>
            <a:off x="452845" y="1114384"/>
            <a:ext cx="11149315" cy="519321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D0CE79-49FB-443D-BEF8-6B709DE8FD0C}" type="datetimeFigureOut">
              <a:rPr lang="zh-CN" altLang="en-US" smtClean="0"/>
              <a:t>2025-12-10</a:t>
            </a:fld>
            <a:endParaRPr lang="zh-CN" altLang="en-US"/>
          </a:p>
        </p:txBody>
      </p:sp>
      <p:sp>
        <p:nvSpPr>
          <p:cNvPr id="5" name="KSO_FT"/>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06490-237C-474C-BA2E-D98840BC1F8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 id="2147483842" r:id="rId13"/>
    <p:sldLayoutId id="2147483843" r:id="rId14"/>
    <p:sldLayoutId id="2147483844" r:id="rId15"/>
    <p:sldLayoutId id="2147483845" r:id="rId16"/>
    <p:sldLayoutId id="2147483846" r:id="rId17"/>
    <p:sldLayoutId id="2147483847" r:id="rId18"/>
    <p:sldLayoutId id="2147483848" r:id="rId19"/>
    <p:sldLayoutId id="2147483849" r:id="rId20"/>
  </p:sldLayoutIdLst>
  <p:hf sldNum="0" hdr="0" ftr="0" dt="0"/>
  <p:txStyles>
    <p:titleStyle>
      <a:lvl1pPr algn="l" defTabSz="914400" rtl="0" eaLnBrk="1" latinLnBrk="0" hangingPunct="1">
        <a:lnSpc>
          <a:spcPct val="90000"/>
        </a:lnSpc>
        <a:spcBef>
          <a:spcPct val="0"/>
        </a:spcBef>
        <a:buNone/>
        <a:defRPr sz="3200" b="1" i="0" kern="1200" baseline="0">
          <a:solidFill>
            <a:schemeClr val="accent1">
              <a:lumMod val="50000"/>
            </a:schemeClr>
          </a:solidFill>
          <a:latin typeface="幼圆" panose="02010509060101010101" pitchFamily="49" charset="-122"/>
          <a:ea typeface="幼圆" panose="02010509060101010101" pitchFamily="49" charset="-122"/>
          <a:cs typeface="+mj-cs"/>
        </a:defRPr>
      </a:lvl1pPr>
    </p:titleStyle>
    <p:body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3"/>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1.emf"/><Relationship Id="rId5" Type="http://schemas.openxmlformats.org/officeDocument/2006/relationships/oleObject" Target="../embeddings/oleObject2.bin"/><Relationship Id="rId4" Type="http://schemas.openxmlformats.org/officeDocument/2006/relationships/image" Target="../media/image20.wmf"/></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4.emf"/><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23.wmf"/><Relationship Id="rId4" Type="http://schemas.openxmlformats.org/officeDocument/2006/relationships/oleObject" Target="../embeddings/oleObject4.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0.xml"/></Relationships>
</file>

<file path=ppt/slides/_rels/slide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9.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0.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jpeg"/></Relationships>
</file>

<file path=ppt/slides/_rels/slide7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custDataLst>
              <p:tags r:id="rId2"/>
            </p:custDataLst>
          </p:nvPr>
        </p:nvSpPr>
        <p:spPr>
          <a:xfrm>
            <a:off x="1847528" y="3861048"/>
            <a:ext cx="5040560" cy="508003"/>
          </a:xfrm>
        </p:spPr>
        <p:txBody>
          <a:bodyPr vert="horz" wrap="square" lIns="91440" tIns="45720" rIns="91440" bIns="45720" numCol="1" rtlCol="0" anchor="t" anchorCtr="0" compatLnSpc="1">
            <a:noAutofit/>
          </a:bodyPr>
          <a:lstStyle/>
          <a:p>
            <a:pPr marL="0" marR="0" lvl="0" indent="0" algn="ctr" defTabSz="914400" rtl="0" eaLnBrk="1" fontAlgn="auto" latinLnBrk="0" hangingPunct="1">
              <a:lnSpc>
                <a:spcPct val="100000"/>
              </a:lnSpc>
              <a:spcBef>
                <a:spcPct val="20000"/>
              </a:spcBef>
              <a:spcAft>
                <a:spcPts val="0"/>
              </a:spcAft>
              <a:buClr>
                <a:schemeClr val="tx2"/>
              </a:buClr>
              <a:buSzPct val="50000"/>
              <a:buFont typeface="Arial" panose="020B0604020202020204" pitchFamily="34" charset="0"/>
              <a:buNone/>
              <a:defRPr/>
            </a:pPr>
            <a:r>
              <a:rPr kumimoji="0" lang="zh-CN" altLang="en-US" sz="3600" b="0" i="0" u="none" strike="noStrike" kern="1200" cap="none" spc="0" normalizeH="0" baseline="0" noProof="0" dirty="0">
                <a:ln>
                  <a:noFill/>
                </a:ln>
                <a:solidFill>
                  <a:schemeClr val="tx1"/>
                </a:solidFill>
                <a:effectLst/>
                <a:uLnTx/>
                <a:uFillTx/>
                <a:latin typeface="+mn-lt"/>
                <a:ea typeface="+mn-ea"/>
                <a:cs typeface="+mn-cs"/>
              </a:rPr>
              <a:t>常志红      </a:t>
            </a:r>
            <a:r>
              <a:rPr kumimoji="0" lang="en-US" altLang="zh-CN" sz="3600" b="0" i="0" u="none" strike="noStrike" kern="1200" cap="none" spc="0" normalizeH="0" baseline="0" noProof="0" dirty="0">
                <a:ln>
                  <a:noFill/>
                </a:ln>
                <a:solidFill>
                  <a:schemeClr val="tx1"/>
                </a:solidFill>
                <a:effectLst/>
                <a:uLnTx/>
                <a:uFillTx/>
                <a:latin typeface="+mn-lt"/>
                <a:ea typeface="+mn-ea"/>
                <a:cs typeface="+mn-cs"/>
              </a:rPr>
              <a:t>2025</a:t>
            </a:r>
            <a:r>
              <a:rPr kumimoji="0" lang="zh-CN" altLang="en-US" sz="3600" b="0" i="0" u="none" strike="noStrike" kern="1200" cap="none" spc="0" normalizeH="0" baseline="0" noProof="0" dirty="0">
                <a:ln>
                  <a:noFill/>
                </a:ln>
                <a:solidFill>
                  <a:schemeClr val="tx1"/>
                </a:solidFill>
                <a:effectLst/>
                <a:uLnTx/>
                <a:uFillTx/>
                <a:latin typeface="+mn-lt"/>
                <a:ea typeface="+mn-ea"/>
                <a:cs typeface="+mn-cs"/>
              </a:rPr>
              <a:t>年</a:t>
            </a:r>
            <a:r>
              <a:rPr kumimoji="0" lang="en-US" altLang="zh-CN" sz="3600" b="0" i="0" u="none" strike="noStrike" kern="1200" cap="none" spc="0" normalizeH="0" baseline="0" noProof="0" dirty="0">
                <a:ln>
                  <a:noFill/>
                </a:ln>
                <a:solidFill>
                  <a:schemeClr val="tx1"/>
                </a:solidFill>
                <a:effectLst/>
                <a:uLnTx/>
                <a:uFillTx/>
                <a:latin typeface="+mn-lt"/>
                <a:ea typeface="+mn-ea"/>
                <a:cs typeface="+mn-cs"/>
              </a:rPr>
              <a:t>12</a:t>
            </a:r>
            <a:r>
              <a:rPr kumimoji="0" lang="zh-CN" altLang="en-US" sz="3600" b="0" i="0" u="none" strike="noStrike" kern="1200" cap="none" spc="0" normalizeH="0" baseline="0" noProof="0" dirty="0">
                <a:ln>
                  <a:noFill/>
                </a:ln>
                <a:solidFill>
                  <a:schemeClr val="tx1"/>
                </a:solidFill>
                <a:effectLst/>
                <a:uLnTx/>
                <a:uFillTx/>
                <a:latin typeface="+mn-lt"/>
                <a:ea typeface="+mn-ea"/>
                <a:cs typeface="+mn-cs"/>
              </a:rPr>
              <a:t>月</a:t>
            </a:r>
            <a:endParaRPr kumimoji="0" lang="zh-CN" sz="36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Title 1"/>
          <p:cNvSpPr>
            <a:spLocks noGrp="1"/>
          </p:cNvSpPr>
          <p:nvPr>
            <p:ph type="title"/>
            <p:custDataLst>
              <p:tags r:id="rId3"/>
            </p:custDataLst>
          </p:nvPr>
        </p:nvSpPr>
        <p:spPr>
          <a:xfrm>
            <a:off x="1271270" y="1485265"/>
            <a:ext cx="7948930" cy="786130"/>
          </a:xfrm>
        </p:spPr>
        <p:txBody>
          <a:bodyPr vert="horz" wrap="square" lIns="91440" tIns="45720" rIns="91440" bIns="45720" numCol="1" rtlCol="0" anchor="t" anchorCtr="0" compatLnSpc="1">
            <a:normAutofit fontScale="90000"/>
          </a:body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zh-CN" altLang="en-US" sz="4400" b="1" i="0" u="none" strike="noStrike" kern="1200" cap="small" spc="0" normalizeH="0" baseline="0" noProof="0" dirty="0">
                <a:ln>
                  <a:noFill/>
                </a:ln>
                <a:solidFill>
                  <a:srgbClr val="003300"/>
                </a:solidFill>
                <a:effectLst/>
                <a:uLnTx/>
                <a:uFillTx/>
                <a:latin typeface="+mj-lt"/>
                <a:ea typeface="+mj-ea"/>
                <a:cs typeface="+mj-cs"/>
              </a:rPr>
              <a:t>回弹法检测混凝土抗压强度技术</a:t>
            </a:r>
            <a:endParaRPr kumimoji="0" lang="zh-CN" sz="4400" b="1" i="0" u="none" strike="noStrike" kern="1200" cap="small" spc="0" normalizeH="0" baseline="0" noProof="0" dirty="0">
              <a:ln>
                <a:noFill/>
              </a:ln>
              <a:solidFill>
                <a:srgbClr val="003300"/>
              </a:solidFill>
              <a:effectLst/>
              <a:uLnTx/>
              <a:uFillTx/>
              <a:latin typeface="+mj-lt"/>
              <a:ea typeface="+mj-ea"/>
              <a:cs typeface="+mj-cs"/>
            </a:endParaRPr>
          </a:p>
        </p:txBody>
      </p:sp>
    </p:spTree>
    <p:custDataLst>
      <p:tags r:id="rId1"/>
    </p:custData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7080" y="404495"/>
            <a:ext cx="1966595" cy="699770"/>
          </a:xfrm>
        </p:spPr>
        <p:txBody>
          <a:bodyPr/>
          <a:lstStyle/>
          <a:p>
            <a:r>
              <a:rPr lang="zh-CN" altLang="en-US" dirty="0"/>
              <a:t>主讲内容</a:t>
            </a:r>
          </a:p>
        </p:txBody>
      </p:sp>
      <p:sp>
        <p:nvSpPr>
          <p:cNvPr id="3" name="内容占位符 2"/>
          <p:cNvSpPr>
            <a:spLocks noGrp="1"/>
          </p:cNvSpPr>
          <p:nvPr>
            <p:ph idx="1"/>
          </p:nvPr>
        </p:nvSpPr>
        <p:spPr>
          <a:xfrm>
            <a:off x="479425" y="2420620"/>
            <a:ext cx="5452110" cy="1268095"/>
          </a:xfrm>
        </p:spPr>
        <p:txBody>
          <a:bodyPr>
            <a:normAutofit/>
          </a:bodyPr>
          <a:lstStyle/>
          <a:p>
            <a:pPr marL="0" indent="0">
              <a:buNone/>
            </a:pPr>
            <a:r>
              <a:rPr lang="zh-CN" altLang="en-US" sz="3200" dirty="0"/>
              <a:t>第一部分：回弹法检测技术</a:t>
            </a:r>
            <a:endParaRPr lang="en-US" altLang="zh-CN" sz="3200" dirty="0"/>
          </a:p>
          <a:p>
            <a:pPr marL="0" indent="0">
              <a:buNone/>
            </a:pPr>
            <a:endParaRPr lang="zh-CN" altLang="en-US" sz="3200" dirty="0"/>
          </a:p>
        </p:txBody>
      </p:sp>
      <p:sp>
        <p:nvSpPr>
          <p:cNvPr id="5" name="内容占位符 2"/>
          <p:cNvSpPr>
            <a:spLocks noGrp="1"/>
          </p:cNvSpPr>
          <p:nvPr/>
        </p:nvSpPr>
        <p:spPr>
          <a:xfrm>
            <a:off x="6167755" y="548640"/>
            <a:ext cx="4748530" cy="5979795"/>
          </a:xfrm>
          <a:prstGeom prst="rect">
            <a:avLst/>
          </a:prstGeom>
        </p:spPr>
        <p:txBody>
          <a:bodyPr vert="horz" lIns="91440" tIns="45720" rIns="91440" bIns="45720" rtlCol="0">
            <a:normAutofit fontScale="80000" lnSpcReduction="20000"/>
          </a:bodyPr>
          <a:lst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dirty="0"/>
              <a:t>1.</a:t>
            </a:r>
            <a:r>
              <a:rPr lang="zh-CN" altLang="en-US" sz="3200" dirty="0"/>
              <a:t>检测标准的选用</a:t>
            </a:r>
          </a:p>
          <a:p>
            <a:pPr marL="0" indent="0">
              <a:buNone/>
            </a:pPr>
            <a:r>
              <a:rPr lang="en-US" altLang="zh-CN" sz="3200" dirty="0"/>
              <a:t>2.</a:t>
            </a:r>
            <a:r>
              <a:rPr lang="zh-CN" altLang="en-US" sz="3200" dirty="0"/>
              <a:t>回弹值的估测与设备选用</a:t>
            </a:r>
          </a:p>
          <a:p>
            <a:pPr marL="0" indent="0">
              <a:buNone/>
            </a:pPr>
            <a:r>
              <a:rPr lang="en-US" altLang="zh-CN" sz="3200" dirty="0"/>
              <a:t>3.</a:t>
            </a:r>
            <a:r>
              <a:rPr lang="zh-CN" altLang="en-US" sz="3200" dirty="0"/>
              <a:t>如何进行抽样</a:t>
            </a:r>
          </a:p>
          <a:p>
            <a:pPr marL="0" indent="0">
              <a:buNone/>
            </a:pPr>
            <a:r>
              <a:rPr lang="en-US" altLang="zh-CN" sz="3200" dirty="0"/>
              <a:t>4.</a:t>
            </a:r>
            <a:r>
              <a:rPr lang="zh-CN" altLang="en-US" sz="3200" dirty="0"/>
              <a:t>测区如何布置</a:t>
            </a:r>
          </a:p>
          <a:p>
            <a:pPr marL="0" indent="0">
              <a:buNone/>
            </a:pPr>
            <a:r>
              <a:rPr lang="en-US" altLang="zh-CN" sz="3200" dirty="0"/>
              <a:t>5.</a:t>
            </a:r>
            <a:r>
              <a:rPr lang="zh-CN" altLang="en-US" sz="3200" dirty="0"/>
              <a:t>检测前的准备</a:t>
            </a:r>
          </a:p>
          <a:p>
            <a:pPr marL="0" indent="0">
              <a:buNone/>
            </a:pPr>
            <a:r>
              <a:rPr lang="en-US" altLang="zh-CN" sz="3200" dirty="0"/>
              <a:t>6.</a:t>
            </a:r>
            <a:r>
              <a:rPr lang="zh-CN" altLang="en-US" sz="3200" dirty="0"/>
              <a:t>视频录制相关要求</a:t>
            </a:r>
          </a:p>
          <a:p>
            <a:pPr marL="0" indent="0">
              <a:buNone/>
            </a:pPr>
            <a:r>
              <a:rPr lang="en-US" altLang="zh-CN" sz="3200" dirty="0"/>
              <a:t>7.</a:t>
            </a:r>
            <a:r>
              <a:rPr lang="zh-CN" altLang="en-US" sz="3200" dirty="0"/>
              <a:t>碳化深度如何测量</a:t>
            </a:r>
          </a:p>
          <a:p>
            <a:pPr marL="0" indent="0">
              <a:buNone/>
            </a:pPr>
            <a:r>
              <a:rPr lang="en-US" altLang="zh-CN" sz="3200" dirty="0"/>
              <a:t>8.</a:t>
            </a:r>
            <a:r>
              <a:rPr lang="zh-CN" altLang="en-US" sz="3200" dirty="0"/>
              <a:t>回弹强度计算</a:t>
            </a:r>
            <a:endParaRPr lang="en-US" altLang="zh-CN" sz="3200" dirty="0"/>
          </a:p>
          <a:p>
            <a:pPr marL="0" indent="0">
              <a:buNone/>
            </a:pPr>
            <a:r>
              <a:rPr lang="en-US" altLang="zh-CN" sz="3200" dirty="0"/>
              <a:t>9.</a:t>
            </a:r>
            <a:r>
              <a:rPr lang="zh-CN" altLang="en-US" sz="3200" dirty="0"/>
              <a:t>强度检测结果的修正</a:t>
            </a:r>
            <a:endParaRPr lang="en-US" altLang="zh-CN" sz="3200" dirty="0"/>
          </a:p>
          <a:p>
            <a:pPr marL="0" indent="0">
              <a:buNone/>
            </a:pPr>
            <a:r>
              <a:rPr lang="en-US" altLang="zh-CN" sz="3200" dirty="0"/>
              <a:t>10.</a:t>
            </a:r>
            <a:r>
              <a:rPr lang="zh-CN" altLang="en-US" sz="3200" dirty="0"/>
              <a:t>原始记录相关管理要求</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nvSpPr>
        <p:spPr>
          <a:xfrm>
            <a:off x="452755" y="2692400"/>
            <a:ext cx="5931277" cy="720368"/>
          </a:xfrm>
          <a:prstGeom prst="rect">
            <a:avLst/>
          </a:prstGeom>
        </p:spPr>
        <p:txBody>
          <a:bodyPr vert="horz" lIns="91440" tIns="45720" rIns="91440" bIns="45720" rtlCol="0">
            <a:normAutofit/>
          </a:bodyPr>
          <a:lst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t>第二部分：报告编制及存档要求</a:t>
            </a:r>
            <a:endParaRPr lang="en-US" altLang="zh-CN" sz="3200" dirty="0"/>
          </a:p>
          <a:p>
            <a:pPr marL="0" indent="0">
              <a:buNone/>
            </a:pPr>
            <a:endParaRPr lang="zh-CN" altLang="en-US" sz="3200" dirty="0"/>
          </a:p>
        </p:txBody>
      </p:sp>
      <p:sp>
        <p:nvSpPr>
          <p:cNvPr id="6" name="内容占位符 2"/>
          <p:cNvSpPr>
            <a:spLocks noGrp="1"/>
          </p:cNvSpPr>
          <p:nvPr/>
        </p:nvSpPr>
        <p:spPr>
          <a:xfrm>
            <a:off x="6384032" y="1196752"/>
            <a:ext cx="5184576" cy="4836160"/>
          </a:xfrm>
          <a:prstGeom prst="rect">
            <a:avLst/>
          </a:prstGeom>
        </p:spPr>
        <p:txBody>
          <a:bodyPr vert="horz" lIns="91440" tIns="45720" rIns="91440" bIns="45720" rtlCol="0">
            <a:normAutofit fontScale="92500" lnSpcReduction="10000"/>
          </a:bodyPr>
          <a:lst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dirty="0"/>
              <a:t>1.</a:t>
            </a:r>
            <a:r>
              <a:rPr lang="zh-CN" altLang="en-US" sz="3200" dirty="0"/>
              <a:t>报告编制相关要求</a:t>
            </a:r>
          </a:p>
          <a:p>
            <a:pPr marL="0" indent="0">
              <a:buNone/>
            </a:pPr>
            <a:r>
              <a:rPr lang="en-US" altLang="zh-CN" sz="3200" dirty="0"/>
              <a:t>2.</a:t>
            </a:r>
            <a:r>
              <a:rPr lang="zh-CN" altLang="en-US" sz="3200" dirty="0"/>
              <a:t>资质盖章相关规定</a:t>
            </a:r>
            <a:endParaRPr lang="en-US" altLang="zh-CN" sz="3200" dirty="0"/>
          </a:p>
          <a:p>
            <a:pPr marL="0" indent="0">
              <a:buNone/>
            </a:pPr>
            <a:r>
              <a:rPr lang="en-US" altLang="zh-CN" sz="3200" dirty="0"/>
              <a:t>3.</a:t>
            </a:r>
            <a:r>
              <a:rPr lang="zh-CN" altLang="en-US" sz="3200" dirty="0"/>
              <a:t>检测报告归档目录</a:t>
            </a:r>
          </a:p>
          <a:p>
            <a:pPr marL="0" indent="0">
              <a:buNone/>
            </a:pPr>
            <a:r>
              <a:rPr lang="en-US" altLang="zh-CN" sz="3200" dirty="0"/>
              <a:t>4.</a:t>
            </a:r>
            <a:r>
              <a:rPr lang="zh-CN" altLang="en-US" sz="3200" dirty="0"/>
              <a:t>报告更改程序</a:t>
            </a:r>
          </a:p>
          <a:p>
            <a:pPr marL="0" indent="0">
              <a:buNone/>
            </a:pPr>
            <a:r>
              <a:rPr lang="en-US" altLang="zh-CN" sz="3200" dirty="0"/>
              <a:t>5.</a:t>
            </a:r>
            <a:r>
              <a:rPr lang="zh-CN" altLang="en-US" sz="3200" dirty="0"/>
              <a:t>设备维护</a:t>
            </a:r>
          </a:p>
          <a:p>
            <a:pPr marL="0" indent="0">
              <a:buNone/>
            </a:pPr>
            <a:r>
              <a:rPr lang="en-US" altLang="zh-CN" sz="3200" dirty="0"/>
              <a:t>6.</a:t>
            </a:r>
            <a:r>
              <a:rPr lang="zh-CN" altLang="en-US" sz="3200" dirty="0"/>
              <a:t>新行标的主要修订内容介绍</a:t>
            </a:r>
            <a:endParaRPr lang="en-US" altLang="zh-CN" sz="3200" dirty="0"/>
          </a:p>
          <a:p>
            <a:pPr marL="0" indent="0">
              <a:buNone/>
            </a:pPr>
            <a:r>
              <a:rPr lang="en-US" altLang="zh-CN" sz="3200" dirty="0"/>
              <a:t>7.</a:t>
            </a:r>
            <a:r>
              <a:rPr lang="zh-CN" altLang="en-US" sz="3200" dirty="0"/>
              <a:t>报告审核中常见问题</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nvSpPr>
        <p:spPr>
          <a:xfrm>
            <a:off x="2639616" y="2492896"/>
            <a:ext cx="5400600" cy="782847"/>
          </a:xfrm>
          <a:prstGeom prst="rect">
            <a:avLst/>
          </a:prstGeom>
        </p:spPr>
        <p:txBody>
          <a:bodyPr vert="horz" lIns="91440" tIns="45720" rIns="91440" bIns="45720" rtlCol="0">
            <a:normAutofit/>
          </a:bodyPr>
          <a:lst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t>第一部分：回弹法检测技术</a:t>
            </a:r>
            <a:endParaRPr lang="en-US" altLang="zh-CN" sz="3200" dirty="0"/>
          </a:p>
          <a:p>
            <a:pPr marL="0" indent="0">
              <a:buNone/>
            </a:pPr>
            <a:endParaRPr lang="zh-CN" alt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2755" y="101600"/>
            <a:ext cx="4601845" cy="699770"/>
          </a:xfrm>
        </p:spPr>
        <p:txBody>
          <a:bodyPr>
            <a:normAutofit/>
          </a:bodyPr>
          <a:lstStyle/>
          <a:p>
            <a:r>
              <a:rPr lang="en-US" altLang="zh-CN" dirty="0"/>
              <a:t>1.</a:t>
            </a:r>
            <a:r>
              <a:rPr lang="zh-CN" altLang="en-US" dirty="0"/>
              <a:t>检测标准的选用</a:t>
            </a:r>
          </a:p>
        </p:txBody>
      </p:sp>
      <p:sp>
        <p:nvSpPr>
          <p:cNvPr id="3" name="内容占位符 2"/>
          <p:cNvSpPr>
            <a:spLocks noGrp="1"/>
          </p:cNvSpPr>
          <p:nvPr>
            <p:ph idx="1"/>
          </p:nvPr>
        </p:nvSpPr>
        <p:spPr/>
        <p:txBody>
          <a:bodyPr>
            <a:normAutofit fontScale="92500" lnSpcReduction="10000"/>
          </a:bodyPr>
          <a:lstStyle/>
          <a:p>
            <a:pPr marL="0" indent="0">
              <a:buNone/>
            </a:pPr>
            <a:r>
              <a:rPr lang="zh-CN" altLang="en-US" dirty="0"/>
              <a:t>标准的分类</a:t>
            </a:r>
            <a:endParaRPr lang="en-US" altLang="zh-CN" dirty="0"/>
          </a:p>
          <a:p>
            <a:r>
              <a:rPr lang="zh-CN" altLang="en-US" dirty="0"/>
              <a:t>国家标准</a:t>
            </a:r>
            <a:r>
              <a:rPr lang="en-US" altLang="zh-CN" dirty="0"/>
              <a:t>——</a:t>
            </a:r>
            <a:r>
              <a:rPr lang="zh-CN" altLang="en-US" dirty="0"/>
              <a:t>国标（</a:t>
            </a:r>
            <a:r>
              <a:rPr lang="en-US" altLang="zh-CN" dirty="0"/>
              <a:t>GB</a:t>
            </a:r>
            <a:r>
              <a:rPr lang="zh-CN" altLang="en-US" dirty="0"/>
              <a:t>、</a:t>
            </a:r>
            <a:r>
              <a:rPr lang="en-US" altLang="zh-CN" dirty="0"/>
              <a:t>GB/T</a:t>
            </a:r>
            <a:r>
              <a:rPr lang="zh-CN" altLang="en-US" dirty="0"/>
              <a:t>）、行标（</a:t>
            </a:r>
            <a:r>
              <a:rPr lang="en-US" altLang="zh-CN" dirty="0"/>
              <a:t>JGJ</a:t>
            </a:r>
            <a:r>
              <a:rPr lang="zh-CN" altLang="en-US" dirty="0"/>
              <a:t>、</a:t>
            </a:r>
            <a:r>
              <a:rPr lang="en-US" altLang="zh-CN" dirty="0"/>
              <a:t>JTG</a:t>
            </a:r>
            <a:r>
              <a:rPr lang="zh-CN" altLang="en-US" dirty="0"/>
              <a:t>、</a:t>
            </a:r>
            <a:r>
              <a:rPr lang="en-US" altLang="zh-CN" dirty="0"/>
              <a:t>CJJ</a:t>
            </a:r>
            <a:r>
              <a:rPr lang="zh-CN" altLang="en-US" dirty="0"/>
              <a:t>、</a:t>
            </a:r>
            <a:r>
              <a:rPr lang="en-US" altLang="zh-CN" dirty="0"/>
              <a:t>TB</a:t>
            </a:r>
            <a:r>
              <a:rPr lang="zh-CN" altLang="en-US" dirty="0"/>
              <a:t>、</a:t>
            </a:r>
            <a:r>
              <a:rPr lang="en-US" altLang="zh-CN" dirty="0"/>
              <a:t>SL</a:t>
            </a:r>
            <a:r>
              <a:rPr lang="zh-CN" altLang="en-US" dirty="0"/>
              <a:t>）、团标（</a:t>
            </a:r>
            <a:r>
              <a:rPr lang="en-US" altLang="zh-CN" dirty="0"/>
              <a:t>CECS</a:t>
            </a:r>
            <a:r>
              <a:rPr lang="zh-CN" altLang="en-US" dirty="0"/>
              <a:t>）</a:t>
            </a:r>
            <a:endParaRPr lang="en-US" altLang="zh-CN" dirty="0"/>
          </a:p>
          <a:p>
            <a:r>
              <a:rPr lang="zh-CN" altLang="en-US" dirty="0"/>
              <a:t>地方标准</a:t>
            </a:r>
            <a:r>
              <a:rPr lang="en-US" altLang="zh-CN" dirty="0"/>
              <a:t>——DB11 /T 1446-2017</a:t>
            </a:r>
          </a:p>
          <a:p>
            <a:r>
              <a:rPr lang="zh-CN" altLang="en-US" dirty="0"/>
              <a:t>企业标准</a:t>
            </a:r>
            <a:r>
              <a:rPr lang="en-US" altLang="zh-CN" dirty="0"/>
              <a:t>——QB</a:t>
            </a:r>
          </a:p>
          <a:p>
            <a:pPr marL="0" indent="0">
              <a:buNone/>
            </a:pPr>
            <a:endParaRPr lang="en-US" altLang="zh-CN" dirty="0"/>
          </a:p>
          <a:p>
            <a:r>
              <a:rPr lang="zh-CN" altLang="en-US" dirty="0"/>
              <a:t>强制性标准、强制性条文（黒体字）</a:t>
            </a:r>
            <a:endParaRPr lang="en-US" altLang="zh-CN" dirty="0"/>
          </a:p>
          <a:p>
            <a:r>
              <a:rPr lang="zh-CN" altLang="en-US" dirty="0"/>
              <a:t>推荐性标准</a:t>
            </a:r>
            <a:r>
              <a:rPr lang="en-US" altLang="zh-CN" dirty="0"/>
              <a:t> /T</a:t>
            </a:r>
          </a:p>
          <a:p>
            <a:r>
              <a:rPr lang="zh-CN" altLang="en-US" dirty="0"/>
              <a:t>检测试验方法标准、抽样标准、评定标准</a:t>
            </a:r>
            <a:endParaRPr lang="en-US" altLang="zh-CN" dirty="0"/>
          </a:p>
          <a:p>
            <a:r>
              <a:rPr lang="zh-CN" altLang="en-US" dirty="0"/>
              <a:t>设计标准、施工标准、验收标准</a:t>
            </a: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vert="horz" wrap="square" lIns="91440" tIns="45720" rIns="91440" bIns="45720" anchor="ctr" anchorCtr="0"/>
          <a:lstStyle/>
          <a:p>
            <a:pPr eaLnBrk="1" hangingPunct="1"/>
            <a:r>
              <a:rPr lang="zh-CN" altLang="en-US" dirty="0"/>
              <a:t>标准的选用原则</a:t>
            </a:r>
          </a:p>
        </p:txBody>
      </p:sp>
      <p:sp>
        <p:nvSpPr>
          <p:cNvPr id="41987" name="文本占位符 2"/>
          <p:cNvSpPr>
            <a:spLocks noGrp="1"/>
          </p:cNvSpPr>
          <p:nvPr>
            <p:ph type="body" sz="half" idx="1"/>
          </p:nvPr>
        </p:nvSpPr>
        <p:spPr>
          <a:xfrm>
            <a:off x="1127449" y="1340769"/>
            <a:ext cx="7632848" cy="3600400"/>
          </a:xfrm>
        </p:spPr>
        <p:txBody>
          <a:bodyPr vert="horz" wrap="square" lIns="91440" tIns="45720" rIns="91440" bIns="45720" anchor="t" anchorCtr="0">
            <a:normAutofit/>
          </a:bodyPr>
          <a:lstStyle/>
          <a:p>
            <a:pPr marL="0" indent="0" eaLnBrk="1" hangingPunct="1">
              <a:lnSpc>
                <a:spcPct val="150000"/>
              </a:lnSpc>
              <a:spcBef>
                <a:spcPts val="0"/>
              </a:spcBef>
              <a:buClr>
                <a:schemeClr val="tx2"/>
              </a:buClr>
              <a:buSzPct val="50000"/>
              <a:buFont typeface="Wingdings 2" panose="05020102010507070707" pitchFamily="18" charset="2"/>
              <a:buNone/>
            </a:pPr>
            <a:r>
              <a:rPr lang="zh-CN" altLang="en-US" sz="1800" dirty="0"/>
              <a:t>检测结果的准确度：   企业标准＞行业标准＞国家标准</a:t>
            </a:r>
            <a:endParaRPr lang="en-US" altLang="zh-CN" sz="1800" dirty="0"/>
          </a:p>
          <a:p>
            <a:pPr marL="538480" indent="-90805" eaLnBrk="1" hangingPunct="1">
              <a:lnSpc>
                <a:spcPct val="150000"/>
              </a:lnSpc>
              <a:spcBef>
                <a:spcPts val="0"/>
              </a:spcBef>
              <a:buClr>
                <a:schemeClr val="tx2"/>
              </a:buClr>
              <a:buSzPct val="50000"/>
              <a:buFont typeface="Wingdings 2" panose="05020102010507070707" pitchFamily="18" charset="2"/>
              <a:buNone/>
            </a:pPr>
            <a:r>
              <a:rPr lang="zh-CN" altLang="en-US" sz="1800" dirty="0"/>
              <a:t>以回弹法为例：                  </a:t>
            </a:r>
            <a:endParaRPr lang="en-US" altLang="zh-CN" sz="1800" dirty="0"/>
          </a:p>
          <a:p>
            <a:pPr marL="538480" indent="-90805" eaLnBrk="1" hangingPunct="1">
              <a:lnSpc>
                <a:spcPct val="150000"/>
              </a:lnSpc>
              <a:spcBef>
                <a:spcPts val="0"/>
              </a:spcBef>
              <a:buClr>
                <a:schemeClr val="tx2"/>
              </a:buClr>
              <a:buSzPct val="50000"/>
              <a:buFont typeface="Wingdings 2" panose="05020102010507070707" pitchFamily="18" charset="2"/>
              <a:buNone/>
            </a:pPr>
            <a:r>
              <a:rPr lang="zh-CN" altLang="en-US" sz="1800" dirty="0"/>
              <a:t>全国测强曲线平均相对标准误差≤</a:t>
            </a:r>
            <a:r>
              <a:rPr lang="en-US" altLang="zh-CN" sz="1800" dirty="0"/>
              <a:t>15%</a:t>
            </a:r>
            <a:r>
              <a:rPr lang="zh-CN" altLang="en-US" sz="1800" dirty="0"/>
              <a:t>，相对 标准差≤</a:t>
            </a:r>
            <a:r>
              <a:rPr lang="en-US" altLang="zh-CN" sz="1800" dirty="0"/>
              <a:t>18%</a:t>
            </a:r>
          </a:p>
          <a:p>
            <a:pPr marL="538480" indent="-90805">
              <a:lnSpc>
                <a:spcPct val="150000"/>
              </a:lnSpc>
              <a:spcBef>
                <a:spcPts val="0"/>
              </a:spcBef>
              <a:buClr>
                <a:schemeClr val="tx2"/>
              </a:buClr>
              <a:buSzPct val="50000"/>
              <a:buNone/>
            </a:pPr>
            <a:r>
              <a:rPr lang="zh-CN" altLang="en-US" sz="1800" dirty="0"/>
              <a:t>地区测强曲线平均相对标准误差≤</a:t>
            </a:r>
            <a:r>
              <a:rPr lang="en-US" altLang="zh-CN" sz="1800" dirty="0"/>
              <a:t>14%</a:t>
            </a:r>
            <a:r>
              <a:rPr lang="zh-CN" altLang="en-US" sz="1800" dirty="0"/>
              <a:t>，相对 标准差≤</a:t>
            </a:r>
            <a:r>
              <a:rPr lang="en-US" altLang="zh-CN" sz="1800" dirty="0"/>
              <a:t>17%</a:t>
            </a:r>
          </a:p>
          <a:p>
            <a:pPr marL="538480" indent="-90805">
              <a:lnSpc>
                <a:spcPct val="150000"/>
              </a:lnSpc>
              <a:spcBef>
                <a:spcPts val="0"/>
              </a:spcBef>
              <a:buClr>
                <a:schemeClr val="tx2"/>
              </a:buClr>
              <a:buSzPct val="50000"/>
              <a:buNone/>
            </a:pPr>
            <a:r>
              <a:rPr lang="zh-CN" altLang="en-US" sz="1800" dirty="0"/>
              <a:t>专用测强曲线平均相对标准误差≤</a:t>
            </a:r>
            <a:r>
              <a:rPr lang="en-US" altLang="zh-CN" sz="1800" dirty="0"/>
              <a:t>12%</a:t>
            </a:r>
            <a:r>
              <a:rPr lang="zh-CN" altLang="en-US" sz="1800" dirty="0"/>
              <a:t>，相对 标准差≤</a:t>
            </a:r>
            <a:r>
              <a:rPr lang="en-US" altLang="zh-CN" sz="1800" dirty="0"/>
              <a:t>14%</a:t>
            </a:r>
          </a:p>
          <a:p>
            <a:pPr marL="0" indent="0">
              <a:lnSpc>
                <a:spcPct val="150000"/>
              </a:lnSpc>
              <a:spcBef>
                <a:spcPts val="0"/>
              </a:spcBef>
              <a:buClr>
                <a:schemeClr val="tx2"/>
              </a:buClr>
              <a:buSzPct val="50000"/>
              <a:buNone/>
            </a:pPr>
            <a:r>
              <a:rPr lang="zh-CN" altLang="en-US" sz="1800" dirty="0"/>
              <a:t>地区差异</a:t>
            </a:r>
            <a:endParaRPr lang="en-US" altLang="zh-CN" sz="1800" dirty="0"/>
          </a:p>
          <a:p>
            <a:pPr marL="0" indent="0">
              <a:lnSpc>
                <a:spcPct val="150000"/>
              </a:lnSpc>
              <a:spcBef>
                <a:spcPts val="0"/>
              </a:spcBef>
              <a:buClr>
                <a:schemeClr val="tx2"/>
              </a:buClr>
              <a:buSzPct val="50000"/>
              <a:buNone/>
            </a:pPr>
            <a:r>
              <a:rPr lang="zh-CN" altLang="en-US" sz="1800" dirty="0"/>
              <a:t>行业领域差异</a:t>
            </a:r>
            <a:endParaRPr lang="en-US" altLang="zh-CN" sz="1800" dirty="0"/>
          </a:p>
          <a:p>
            <a:pPr marL="0" indent="0">
              <a:lnSpc>
                <a:spcPct val="150000"/>
              </a:lnSpc>
              <a:spcBef>
                <a:spcPts val="0"/>
              </a:spcBef>
              <a:buClr>
                <a:schemeClr val="tx2"/>
              </a:buClr>
              <a:buSzPct val="50000"/>
              <a:buNone/>
            </a:pPr>
            <a:r>
              <a:rPr lang="zh-CN" altLang="en-US" sz="1800" dirty="0"/>
              <a:t>标准的适用性</a:t>
            </a:r>
            <a:endParaRPr lang="en-US" altLang="zh-CN" sz="1800" dirty="0"/>
          </a:p>
        </p:txBody>
      </p:sp>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695400" y="1700809"/>
            <a:ext cx="9721080" cy="3312368"/>
          </a:xfrm>
        </p:spPr>
        <p:txBody>
          <a:bodyPr vert="horz" wrap="square" lIns="91440" tIns="45720" rIns="91440" bIns="45720" numCol="1" rtlCol="0" anchor="t" anchorCtr="0" compatLnSpc="1">
            <a:normAutofit lnSpcReduction="10000"/>
          </a:bodyPr>
          <a:lstStyle/>
          <a:p>
            <a:pPr marL="342900" marR="0" lvl="0" indent="-342900" algn="just" defTabSz="914400" rtl="0" eaLnBrk="1" fontAlgn="auto" latinLnBrk="0" hangingPunct="1">
              <a:lnSpc>
                <a:spcPct val="90000"/>
              </a:lnSpc>
              <a:spcBef>
                <a:spcPct val="20000"/>
              </a:spcBef>
              <a:spcAft>
                <a:spcPts val="0"/>
              </a:spcAft>
              <a:buClr>
                <a:schemeClr val="tx2"/>
              </a:buClr>
              <a:buSzPct val="50000"/>
              <a:buFont typeface="Wingdings 2" panose="05020102010507070707"/>
              <a:buNone/>
              <a:defRPr/>
            </a:pPr>
            <a:r>
              <a:rPr kumimoji="0" lang="en-US" altLang="zh-CN" sz="24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4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常用的几本检测方法标准及适用范围差异</a:t>
            </a:r>
            <a:endParaRPr kumimoji="0" lang="en-US" altLang="zh-CN" sz="24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342900" marR="0" lvl="0" indent="-342900" algn="just" defTabSz="914400" rtl="0" eaLnBrk="1" fontAlgn="auto" latinLnBrk="0" hangingPunct="1">
              <a:lnSpc>
                <a:spcPct val="90000"/>
              </a:lnSpc>
              <a:spcBef>
                <a:spcPct val="20000"/>
              </a:spcBef>
              <a:spcAft>
                <a:spcPts val="0"/>
              </a:spcAft>
              <a:buClr>
                <a:schemeClr val="tx2"/>
              </a:buClr>
              <a:buSzPct val="50000"/>
              <a:buFont typeface="Wingdings 2" panose="05020102010507070707"/>
              <a:buNone/>
              <a:defRPr/>
            </a:pPr>
            <a:endParaRPr kumimoji="0" lang="en-US" altLang="zh-CN" sz="24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342900" marR="0" lvl="0" indent="-342900" algn="just" defTabSz="914400" rtl="0" eaLnBrk="1" fontAlgn="auto" latinLnBrk="0" hangingPunct="1">
              <a:lnSpc>
                <a:spcPct val="90000"/>
              </a:lnSpc>
              <a:spcBef>
                <a:spcPct val="20000"/>
              </a:spcBef>
              <a:spcAft>
                <a:spcPts val="0"/>
              </a:spcAft>
              <a:buClr>
                <a:schemeClr val="tx2"/>
              </a:buClr>
              <a:buSzPct val="50000"/>
              <a:buFont typeface="Wingdings 2" panose="05020102010507070707"/>
              <a:buNone/>
              <a:defRPr/>
            </a:pPr>
            <a:endPar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90000"/>
              </a:lnSpc>
              <a:spcBef>
                <a:spcPct val="20000"/>
              </a:spcBef>
              <a:spcAft>
                <a:spcPts val="0"/>
              </a:spcAft>
              <a:buClr>
                <a:schemeClr val="tx2"/>
              </a:buClr>
              <a:buSzPct val="50000"/>
              <a:buFont typeface="Wingdings 2" panose="05020102010507070707"/>
              <a:buNone/>
              <a:defRPr/>
            </a:pPr>
            <a:r>
              <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回弹法检测混凝土抗压强度技术规程</a:t>
            </a:r>
            <a:r>
              <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》JGJ/T 23-2011</a:t>
            </a:r>
          </a:p>
          <a:p>
            <a:pPr marL="342900" marR="0" lvl="0" indent="-342900" algn="l" defTabSz="914400" rtl="0" eaLnBrk="1" fontAlgn="auto" latinLnBrk="0" hangingPunct="1">
              <a:lnSpc>
                <a:spcPct val="90000"/>
              </a:lnSpc>
              <a:spcBef>
                <a:spcPct val="20000"/>
              </a:spcBef>
              <a:spcAft>
                <a:spcPts val="0"/>
              </a:spcAft>
              <a:buClr>
                <a:schemeClr val="tx2"/>
              </a:buClr>
              <a:buSzPct val="50000"/>
              <a:buFont typeface="Wingdings 2" panose="05020102010507070707"/>
              <a:buNone/>
              <a:defRPr/>
            </a:pPr>
            <a:endPar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90000"/>
              </a:lnSpc>
              <a:spcBef>
                <a:spcPct val="20000"/>
              </a:spcBef>
              <a:spcAft>
                <a:spcPts val="0"/>
              </a:spcAft>
              <a:buClr>
                <a:schemeClr val="tx2"/>
              </a:buClr>
              <a:buSzPct val="50000"/>
              <a:buFont typeface="Wingdings 2" panose="05020102010507070707"/>
              <a:buNone/>
              <a:defRPr/>
            </a:pPr>
            <a:r>
              <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铁路工程混凝土实体质量检测技术规程</a:t>
            </a:r>
            <a:r>
              <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》TB 10433-2023</a:t>
            </a:r>
          </a:p>
          <a:p>
            <a:pPr marL="342900" marR="0" lvl="0" indent="-342900" algn="l" defTabSz="914400" rtl="0" eaLnBrk="1" fontAlgn="auto" latinLnBrk="0" hangingPunct="1">
              <a:lnSpc>
                <a:spcPct val="90000"/>
              </a:lnSpc>
              <a:spcBef>
                <a:spcPct val="20000"/>
              </a:spcBef>
              <a:spcAft>
                <a:spcPts val="0"/>
              </a:spcAft>
              <a:buClr>
                <a:schemeClr val="tx2"/>
              </a:buClr>
              <a:buSzPct val="50000"/>
              <a:buFont typeface="Wingdings 2" panose="05020102010507070707"/>
              <a:buNone/>
              <a:defRPr/>
            </a:pPr>
            <a:endPar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342900" indent="-342900" algn="l">
              <a:lnSpc>
                <a:spcPct val="90000"/>
              </a:lnSpc>
              <a:spcBef>
                <a:spcPct val="20000"/>
              </a:spcBef>
              <a:buClr>
                <a:schemeClr val="tx2"/>
              </a:buClr>
              <a:buSzPct val="50000"/>
              <a:buNone/>
              <a:defRPr/>
            </a:pPr>
            <a:r>
              <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超声回弹综合法检测混凝土抗压强度技术规程</a:t>
            </a:r>
            <a:r>
              <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》T/CECS </a:t>
            </a:r>
            <a:r>
              <a:rPr lang="en-US" altLang="zh-CN" sz="2100" b="0" dirty="0">
                <a:solidFill>
                  <a:schemeClr val="tx1"/>
                </a:solidFill>
                <a:latin typeface="楷体_GB2312" pitchFamily="49" charset="-122"/>
                <a:ea typeface="楷体_GB2312" pitchFamily="49" charset="-122"/>
              </a:rPr>
              <a:t>02-2020</a:t>
            </a:r>
          </a:p>
          <a:p>
            <a:pPr marL="342900" indent="-342900" algn="l">
              <a:lnSpc>
                <a:spcPct val="90000"/>
              </a:lnSpc>
              <a:spcBef>
                <a:spcPct val="20000"/>
              </a:spcBef>
              <a:buClr>
                <a:schemeClr val="tx2"/>
              </a:buClr>
              <a:buSzPct val="50000"/>
              <a:buNone/>
              <a:defRPr/>
            </a:pPr>
            <a:endParaRPr lang="en-US" altLang="zh-CN" sz="2100" b="0" dirty="0">
              <a:solidFill>
                <a:schemeClr val="tx1"/>
              </a:solidFill>
              <a:latin typeface="楷体_GB2312" pitchFamily="49" charset="-122"/>
              <a:ea typeface="楷体_GB2312" pitchFamily="49" charset="-122"/>
            </a:endParaRPr>
          </a:p>
          <a:p>
            <a:pPr marL="342900" indent="-342900" algn="l">
              <a:lnSpc>
                <a:spcPct val="90000"/>
              </a:lnSpc>
              <a:spcBef>
                <a:spcPct val="20000"/>
              </a:spcBef>
              <a:buClr>
                <a:schemeClr val="tx2"/>
              </a:buClr>
              <a:buSzPct val="50000"/>
              <a:buNone/>
              <a:defRPr/>
            </a:pPr>
            <a:r>
              <a:rPr lang="en-US" altLang="zh-CN" sz="2100" b="0" dirty="0">
                <a:solidFill>
                  <a:schemeClr val="tx1"/>
                </a:solidFill>
                <a:latin typeface="楷体_GB2312" pitchFamily="49" charset="-122"/>
                <a:ea typeface="楷体_GB2312" pitchFamily="49" charset="-122"/>
              </a:rPr>
              <a:t>《</a:t>
            </a:r>
            <a:r>
              <a:rPr lang="zh-CN" altLang="en-US" sz="2100" b="0" dirty="0">
                <a:solidFill>
                  <a:schemeClr val="tx1"/>
                </a:solidFill>
                <a:latin typeface="楷体_GB2312" pitchFamily="49" charset="-122"/>
                <a:ea typeface="楷体_GB2312" pitchFamily="49" charset="-122"/>
              </a:rPr>
              <a:t>回弹法、超声回弹综合法检测</a:t>
            </a:r>
            <a:r>
              <a:rPr lang="zh-CN" altLang="en-US" sz="2100" b="0" dirty="0">
                <a:solidFill>
                  <a:srgbClr val="FF0000"/>
                </a:solidFill>
                <a:latin typeface="楷体_GB2312" pitchFamily="49" charset="-122"/>
                <a:ea typeface="楷体_GB2312" pitchFamily="49" charset="-122"/>
              </a:rPr>
              <a:t>泵送</a:t>
            </a:r>
            <a:r>
              <a:rPr lang="zh-CN" altLang="en-US" sz="2100" b="0" dirty="0">
                <a:solidFill>
                  <a:schemeClr val="tx1"/>
                </a:solidFill>
                <a:latin typeface="楷体_GB2312" pitchFamily="49" charset="-122"/>
                <a:ea typeface="楷体_GB2312" pitchFamily="49" charset="-122"/>
              </a:rPr>
              <a:t>混凝土强度技术规程</a:t>
            </a:r>
            <a:r>
              <a:rPr lang="en-US" altLang="zh-CN" sz="2100" b="0" dirty="0">
                <a:solidFill>
                  <a:schemeClr val="tx1"/>
                </a:solidFill>
                <a:latin typeface="楷体_GB2312" pitchFamily="49" charset="-122"/>
                <a:ea typeface="楷体_GB2312" pitchFamily="49" charset="-122"/>
              </a:rPr>
              <a:t>》DB11/T 1446-2017</a:t>
            </a:r>
          </a:p>
          <a:p>
            <a:pPr marL="342900" marR="0" lvl="0" indent="-342900" algn="l" defTabSz="914400" rtl="0" eaLnBrk="1" fontAlgn="auto" latinLnBrk="0" hangingPunct="1">
              <a:lnSpc>
                <a:spcPct val="90000"/>
              </a:lnSpc>
              <a:spcBef>
                <a:spcPct val="20000"/>
              </a:spcBef>
              <a:spcAft>
                <a:spcPts val="0"/>
              </a:spcAft>
              <a:buClr>
                <a:schemeClr val="tx2"/>
              </a:buClr>
              <a:buSzPct val="50000"/>
              <a:buFont typeface="Wingdings 2" panose="05020102010507070707"/>
              <a:buNone/>
              <a:defRPr/>
            </a:pPr>
            <a:endParaRPr kumimoji="0" lang="en-US" altLang="zh-CN" sz="21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Tree>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a:xfrm>
            <a:off x="1981200" y="277813"/>
            <a:ext cx="7931150" cy="846137"/>
          </a:xfrm>
        </p:spPr>
        <p:txBody>
          <a:bodyPr vert="horz" wrap="square" lIns="91440" tIns="45720" rIns="91440" bIns="45720" anchor="ctr" anchorCtr="0"/>
          <a:lstStyle/>
          <a:p>
            <a:pPr algn="l" eaLnBrk="1" hangingPunct="1"/>
            <a:r>
              <a:rPr lang="zh-CN" altLang="en-US" sz="3200" dirty="0"/>
              <a:t>行业标准的适用条件（</a:t>
            </a:r>
            <a:r>
              <a:rPr lang="en-US" altLang="zh-CN" sz="3200" dirty="0"/>
              <a:t>JGJ/T 23-2011)</a:t>
            </a:r>
            <a:endParaRPr lang="zh-CN" altLang="en-US" sz="3200" dirty="0"/>
          </a:p>
        </p:txBody>
      </p:sp>
      <p:sp>
        <p:nvSpPr>
          <p:cNvPr id="75779" name="文本占位符 2"/>
          <p:cNvSpPr>
            <a:spLocks noGrp="1"/>
          </p:cNvSpPr>
          <p:nvPr>
            <p:ph type="body" sz="half" idx="1"/>
          </p:nvPr>
        </p:nvSpPr>
        <p:spPr>
          <a:xfrm>
            <a:off x="1847528" y="1145798"/>
            <a:ext cx="9216949" cy="4824412"/>
          </a:xfrm>
        </p:spPr>
        <p:txBody>
          <a:bodyPr vert="horz" wrap="square" lIns="91440" tIns="45720" rIns="91440" bIns="45720" anchor="t" anchorCtr="0">
            <a:normAutofit fontScale="92500" lnSpcReduction="20000"/>
          </a:bodyPr>
          <a:lstStyle/>
          <a:p>
            <a:pPr marL="0" indent="0" eaLnBrk="1" hangingPunct="1">
              <a:buClr>
                <a:schemeClr val="tx2"/>
              </a:buClr>
              <a:buSzPct val="50000"/>
              <a:buFont typeface="Wingdings 2" panose="05020102010507070707" pitchFamily="18" charset="2"/>
              <a:buNone/>
            </a:pPr>
            <a:r>
              <a:rPr lang="zh-CN" altLang="en-US" sz="2400" dirty="0"/>
              <a:t>混凝土用的材料符合国家现行有关标准</a:t>
            </a:r>
            <a:endParaRPr lang="en-US" altLang="zh-CN" sz="2400" dirty="0"/>
          </a:p>
          <a:p>
            <a:pPr marL="0" indent="0" eaLnBrk="1" hangingPunct="1">
              <a:buClr>
                <a:schemeClr val="tx2"/>
              </a:buClr>
              <a:buSzPct val="50000"/>
              <a:buFont typeface="Wingdings 2" panose="05020102010507070707" pitchFamily="18" charset="2"/>
              <a:buNone/>
            </a:pPr>
            <a:r>
              <a:rPr lang="zh-CN" altLang="en-US" sz="2400" dirty="0"/>
              <a:t>泵送混凝土、非泵送混凝土</a:t>
            </a:r>
            <a:endParaRPr lang="en-US" altLang="zh-CN" sz="2400" dirty="0"/>
          </a:p>
          <a:p>
            <a:pPr marL="0" indent="0" eaLnBrk="1" hangingPunct="1">
              <a:buClr>
                <a:schemeClr val="tx2"/>
              </a:buClr>
              <a:buSzPct val="50000"/>
              <a:buFont typeface="Wingdings 2" panose="05020102010507070707" pitchFamily="18" charset="2"/>
              <a:buNone/>
            </a:pPr>
            <a:r>
              <a:rPr lang="zh-CN" altLang="en-US" sz="2400" dirty="0"/>
              <a:t>采用普通成型工艺（区别于特殊工艺如：预制管、盾构管片、电线杆等）</a:t>
            </a:r>
            <a:endParaRPr lang="en-US" altLang="zh-CN" sz="2400" dirty="0"/>
          </a:p>
          <a:p>
            <a:pPr marL="0" indent="0" eaLnBrk="1" hangingPunct="1">
              <a:buClr>
                <a:schemeClr val="tx2"/>
              </a:buClr>
              <a:buSzPct val="50000"/>
              <a:buFont typeface="Wingdings 2" panose="05020102010507070707" pitchFamily="18" charset="2"/>
              <a:buNone/>
            </a:pPr>
            <a:r>
              <a:rPr lang="zh-CN" altLang="en-US" sz="2400" dirty="0"/>
              <a:t>标准模板浇筑成型</a:t>
            </a:r>
            <a:endParaRPr lang="en-US" altLang="zh-CN" sz="2400" dirty="0"/>
          </a:p>
          <a:p>
            <a:pPr marL="0" indent="0" eaLnBrk="1" hangingPunct="1">
              <a:buClr>
                <a:schemeClr val="tx2"/>
              </a:buClr>
              <a:buSzPct val="50000"/>
              <a:buFont typeface="Wingdings 2" panose="05020102010507070707" pitchFamily="18" charset="2"/>
              <a:buNone/>
            </a:pPr>
            <a:r>
              <a:rPr lang="zh-CN" altLang="en-US" sz="2400" dirty="0"/>
              <a:t>自然养护</a:t>
            </a:r>
            <a:r>
              <a:rPr lang="en-US" altLang="zh-CN" sz="2400" dirty="0">
                <a:solidFill>
                  <a:srgbClr val="FF0000"/>
                </a:solidFill>
              </a:rPr>
              <a:t>14</a:t>
            </a:r>
            <a:r>
              <a:rPr lang="zh-CN" altLang="en-US" sz="2400" dirty="0">
                <a:solidFill>
                  <a:srgbClr val="FF0000"/>
                </a:solidFill>
                <a:latin typeface="宋体" panose="02010600030101010101" pitchFamily="2" charset="-122"/>
                <a:ea typeface="宋体" panose="02010600030101010101" pitchFamily="2" charset="-122"/>
              </a:rPr>
              <a:t>～</a:t>
            </a:r>
            <a:r>
              <a:rPr lang="en-US" altLang="zh-CN" sz="2400" dirty="0">
                <a:solidFill>
                  <a:srgbClr val="FF0000"/>
                </a:solidFill>
              </a:rPr>
              <a:t>1000</a:t>
            </a:r>
            <a:r>
              <a:rPr lang="zh-CN" altLang="en-US" sz="2400" dirty="0"/>
              <a:t>天，</a:t>
            </a:r>
            <a:r>
              <a:rPr lang="zh-CN" altLang="en-US" sz="2400" dirty="0">
                <a:solidFill>
                  <a:srgbClr val="FF0000"/>
                </a:solidFill>
              </a:rPr>
              <a:t>蒸汽养护</a:t>
            </a:r>
            <a:r>
              <a:rPr lang="zh-CN" altLang="en-US" sz="2400" dirty="0"/>
              <a:t>出池后自然养护</a:t>
            </a:r>
            <a:r>
              <a:rPr lang="en-US" altLang="zh-CN" sz="2400" dirty="0"/>
              <a:t>7</a:t>
            </a:r>
            <a:r>
              <a:rPr lang="zh-CN" altLang="en-US" sz="2400" dirty="0"/>
              <a:t>天以上</a:t>
            </a:r>
            <a:endParaRPr lang="en-US" altLang="zh-CN" sz="2400" dirty="0"/>
          </a:p>
          <a:p>
            <a:pPr marL="0" indent="0" eaLnBrk="1" hangingPunct="1">
              <a:buClr>
                <a:schemeClr val="tx2"/>
              </a:buClr>
              <a:buSzPct val="50000"/>
              <a:buFont typeface="Wingdings 2" panose="05020102010507070707" pitchFamily="18" charset="2"/>
              <a:buNone/>
            </a:pPr>
            <a:r>
              <a:rPr lang="zh-CN" altLang="en-US" sz="2400" dirty="0"/>
              <a:t>表层为干燥状态（不适用于潮湿或浸水混凝土）</a:t>
            </a:r>
            <a:endParaRPr lang="en-US" altLang="zh-CN" sz="2400" dirty="0"/>
          </a:p>
          <a:p>
            <a:pPr marL="0" indent="0" eaLnBrk="1" hangingPunct="1">
              <a:buClr>
                <a:schemeClr val="tx2"/>
              </a:buClr>
              <a:buSzPct val="50000"/>
              <a:buFont typeface="Wingdings 2" panose="05020102010507070707" pitchFamily="18" charset="2"/>
              <a:buNone/>
            </a:pPr>
            <a:r>
              <a:rPr lang="zh-CN" altLang="en-US" sz="2400" dirty="0"/>
              <a:t>粗骨料粒径：泵送混凝土小于</a:t>
            </a:r>
            <a:r>
              <a:rPr lang="en-US" altLang="zh-CN" sz="2400" dirty="0">
                <a:solidFill>
                  <a:srgbClr val="FF0000"/>
                </a:solidFill>
              </a:rPr>
              <a:t>31.5</a:t>
            </a:r>
            <a:r>
              <a:rPr lang="en-US" altLang="zh-CN" sz="2400" dirty="0"/>
              <a:t>mm</a:t>
            </a:r>
            <a:r>
              <a:rPr lang="zh-CN" altLang="en-US" sz="2400" dirty="0"/>
              <a:t>，非泵送砼小于</a:t>
            </a:r>
            <a:r>
              <a:rPr lang="en-US" altLang="zh-CN" sz="2400" dirty="0"/>
              <a:t>60mm</a:t>
            </a:r>
          </a:p>
          <a:p>
            <a:pPr marL="0" indent="0" eaLnBrk="1" hangingPunct="1">
              <a:buClr>
                <a:schemeClr val="tx2"/>
              </a:buClr>
              <a:buSzPct val="50000"/>
              <a:buFont typeface="Wingdings 2" panose="05020102010507070707" pitchFamily="18" charset="2"/>
              <a:buNone/>
            </a:pPr>
            <a:r>
              <a:rPr lang="zh-CN" altLang="en-US" sz="2400" dirty="0"/>
              <a:t>抗压强度</a:t>
            </a:r>
            <a:r>
              <a:rPr lang="en-US" altLang="zh-CN" sz="2400" dirty="0"/>
              <a:t>10</a:t>
            </a:r>
            <a:r>
              <a:rPr lang="zh-CN" altLang="en-US" sz="2400" dirty="0">
                <a:latin typeface="宋体" panose="02010600030101010101" pitchFamily="2" charset="-122"/>
                <a:ea typeface="宋体" panose="02010600030101010101" pitchFamily="2" charset="-122"/>
              </a:rPr>
              <a:t>～</a:t>
            </a:r>
            <a:r>
              <a:rPr lang="en-US" altLang="zh-CN" sz="2400" dirty="0"/>
              <a:t>60MPa</a:t>
            </a:r>
          </a:p>
          <a:p>
            <a:pPr marL="0" indent="0" eaLnBrk="1" hangingPunct="1">
              <a:buClr>
                <a:schemeClr val="tx2"/>
              </a:buClr>
              <a:buSzPct val="50000"/>
              <a:buFont typeface="Wingdings 2" panose="05020102010507070707" pitchFamily="18" charset="2"/>
              <a:buNone/>
            </a:pPr>
            <a:r>
              <a:rPr lang="zh-CN" altLang="en-US" sz="2400" dirty="0"/>
              <a:t>曲率半径大于</a:t>
            </a:r>
            <a:r>
              <a:rPr lang="en-US" altLang="zh-CN" sz="2400" dirty="0"/>
              <a:t>250mm</a:t>
            </a:r>
          </a:p>
        </p:txBody>
      </p:sp>
    </p:spTree>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1487488" y="260648"/>
            <a:ext cx="5267325" cy="847725"/>
          </a:xfrm>
        </p:spPr>
        <p:txBody>
          <a:bodyPr vert="horz" wrap="square" lIns="91440" tIns="45720" rIns="91440" bIns="45720" anchor="ctr" anchorCtr="0"/>
          <a:lstStyle/>
          <a:p>
            <a:pPr algn="l" eaLnBrk="1" hangingPunct="1"/>
            <a:r>
              <a:rPr lang="zh-CN" altLang="en-US" sz="3200" dirty="0"/>
              <a:t>北京地方标准的适用条件</a:t>
            </a:r>
          </a:p>
        </p:txBody>
      </p:sp>
      <p:sp>
        <p:nvSpPr>
          <p:cNvPr id="76803" name="文本占位符 2"/>
          <p:cNvSpPr>
            <a:spLocks noGrp="1"/>
          </p:cNvSpPr>
          <p:nvPr>
            <p:ph type="body" sz="half" idx="1"/>
          </p:nvPr>
        </p:nvSpPr>
        <p:spPr>
          <a:xfrm>
            <a:off x="803275" y="1268730"/>
            <a:ext cx="10837341" cy="5256614"/>
          </a:xfrm>
        </p:spPr>
        <p:txBody>
          <a:bodyPr vert="horz" wrap="square" lIns="91440" tIns="45720" rIns="91440" bIns="45720" anchor="t" anchorCtr="0">
            <a:noAutofit/>
          </a:bodyPr>
          <a:lstStyle/>
          <a:p>
            <a:pPr marL="0" indent="0" eaLnBrk="1" hangingPunct="1">
              <a:lnSpc>
                <a:spcPct val="100000"/>
              </a:lnSpc>
              <a:buClr>
                <a:schemeClr val="tx2"/>
              </a:buClr>
              <a:buSzPct val="50000"/>
              <a:buFont typeface="Wingdings 2" panose="05020102010507070707" pitchFamily="18" charset="2"/>
              <a:buNone/>
            </a:pPr>
            <a:r>
              <a:rPr lang="zh-CN" altLang="en-US" dirty="0"/>
              <a:t>    北京地区范围内</a:t>
            </a:r>
            <a:endParaRPr lang="en-US" altLang="zh-CN" dirty="0"/>
          </a:p>
          <a:p>
            <a:pPr marL="0" indent="0" eaLnBrk="1" hangingPunct="1">
              <a:lnSpc>
                <a:spcPct val="100000"/>
              </a:lnSpc>
              <a:buClr>
                <a:schemeClr val="tx2"/>
              </a:buClr>
              <a:buSzPct val="50000"/>
              <a:buFont typeface="Wingdings 2" panose="05020102010507070707" pitchFamily="18" charset="2"/>
              <a:buNone/>
            </a:pPr>
            <a:r>
              <a:rPr lang="en-US" altLang="zh-CN" dirty="0"/>
              <a:t>    </a:t>
            </a:r>
            <a:r>
              <a:rPr lang="zh-CN" altLang="en-US" dirty="0"/>
              <a:t>泵送混凝土，粗骨料粒径小于</a:t>
            </a:r>
            <a:r>
              <a:rPr lang="en-US" altLang="zh-CN" dirty="0"/>
              <a:t>25mm</a:t>
            </a:r>
          </a:p>
          <a:p>
            <a:pPr marL="0" indent="0" eaLnBrk="1" hangingPunct="1">
              <a:lnSpc>
                <a:spcPct val="100000"/>
              </a:lnSpc>
              <a:buClr>
                <a:schemeClr val="tx2"/>
              </a:buClr>
              <a:buSzPct val="50000"/>
              <a:buFont typeface="Wingdings 2" panose="05020102010507070707" pitchFamily="18" charset="2"/>
              <a:buNone/>
            </a:pPr>
            <a:r>
              <a:rPr lang="en-US" altLang="zh-CN" dirty="0"/>
              <a:t>    </a:t>
            </a:r>
            <a:r>
              <a:rPr lang="zh-CN" altLang="en-US" dirty="0"/>
              <a:t>采用普通成型工艺（区别于特殊工艺如：预制管、盾构管片、电线杆等）</a:t>
            </a:r>
            <a:endParaRPr lang="en-US" altLang="zh-CN" dirty="0"/>
          </a:p>
          <a:p>
            <a:pPr marL="0" indent="0" eaLnBrk="1" hangingPunct="1">
              <a:lnSpc>
                <a:spcPct val="100000"/>
              </a:lnSpc>
              <a:buClr>
                <a:schemeClr val="tx2"/>
              </a:buClr>
              <a:buSzPct val="50000"/>
              <a:buFont typeface="Wingdings 2" panose="05020102010507070707" pitchFamily="18" charset="2"/>
              <a:buNone/>
            </a:pPr>
            <a:r>
              <a:rPr lang="en-US" altLang="zh-CN" dirty="0"/>
              <a:t>    </a:t>
            </a:r>
            <a:r>
              <a:rPr lang="zh-CN" altLang="en-US" dirty="0"/>
              <a:t>标准模板浇筑成型</a:t>
            </a:r>
            <a:endParaRPr lang="en-US" altLang="zh-CN" dirty="0"/>
          </a:p>
          <a:p>
            <a:pPr marL="0" indent="0" eaLnBrk="1" hangingPunct="1">
              <a:lnSpc>
                <a:spcPct val="100000"/>
              </a:lnSpc>
              <a:buClr>
                <a:schemeClr val="tx2"/>
              </a:buClr>
              <a:buSzPct val="50000"/>
              <a:buFont typeface="Wingdings 2" panose="05020102010507070707" pitchFamily="18" charset="2"/>
              <a:buNone/>
            </a:pPr>
            <a:r>
              <a:rPr lang="en-US" altLang="zh-CN" dirty="0"/>
              <a:t>    </a:t>
            </a:r>
            <a:r>
              <a:rPr lang="zh-CN" altLang="en-US" dirty="0"/>
              <a:t>自然养护（区别于构件厂蒸汽养护的预制梁、板）</a:t>
            </a:r>
            <a:endParaRPr lang="en-US" altLang="zh-CN" dirty="0"/>
          </a:p>
          <a:p>
            <a:pPr marL="0" indent="0" eaLnBrk="1" hangingPunct="1">
              <a:lnSpc>
                <a:spcPct val="100000"/>
              </a:lnSpc>
              <a:buClr>
                <a:schemeClr val="tx2"/>
              </a:buClr>
              <a:buSzPct val="50000"/>
              <a:buFont typeface="Wingdings 2" panose="05020102010507070707" pitchFamily="18" charset="2"/>
              <a:buNone/>
            </a:pPr>
            <a:r>
              <a:rPr lang="en-US" altLang="zh-CN" dirty="0"/>
              <a:t>    </a:t>
            </a:r>
            <a:r>
              <a:rPr lang="zh-CN" altLang="en-US" dirty="0"/>
              <a:t>表层为干燥状态（不适用于潮湿或浸水混凝土）</a:t>
            </a:r>
            <a:endParaRPr lang="en-US" altLang="zh-CN" dirty="0"/>
          </a:p>
          <a:p>
            <a:pPr marL="0" indent="0" eaLnBrk="1" hangingPunct="1">
              <a:lnSpc>
                <a:spcPct val="100000"/>
              </a:lnSpc>
              <a:buClr>
                <a:schemeClr val="tx2"/>
              </a:buClr>
              <a:buSzPct val="50000"/>
              <a:buFont typeface="Wingdings 2" panose="05020102010507070707" pitchFamily="18" charset="2"/>
              <a:buNone/>
            </a:pPr>
            <a:r>
              <a:rPr lang="en-US" altLang="zh-CN" dirty="0"/>
              <a:t>    </a:t>
            </a:r>
            <a:r>
              <a:rPr lang="zh-CN" altLang="en-US" dirty="0"/>
              <a:t>龄期</a:t>
            </a:r>
            <a:r>
              <a:rPr lang="en-US" altLang="zh-CN" dirty="0"/>
              <a:t>14</a:t>
            </a:r>
            <a:r>
              <a:rPr lang="zh-CN" altLang="en-US" dirty="0">
                <a:latin typeface="宋体" panose="02010600030101010101" pitchFamily="2" charset="-122"/>
                <a:ea typeface="宋体" panose="02010600030101010101" pitchFamily="2" charset="-122"/>
              </a:rPr>
              <a:t>～</a:t>
            </a:r>
            <a:r>
              <a:rPr lang="en-US" altLang="zh-CN" dirty="0"/>
              <a:t>365</a:t>
            </a:r>
            <a:r>
              <a:rPr lang="zh-CN" altLang="en-US" dirty="0"/>
              <a:t>天</a:t>
            </a:r>
            <a:endParaRPr lang="en-US" altLang="zh-CN" dirty="0"/>
          </a:p>
          <a:p>
            <a:pPr marL="0" indent="0" eaLnBrk="1" hangingPunct="1">
              <a:lnSpc>
                <a:spcPct val="100000"/>
              </a:lnSpc>
              <a:buClr>
                <a:schemeClr val="tx2"/>
              </a:buClr>
              <a:buSzPct val="50000"/>
              <a:buFont typeface="Wingdings 2" panose="05020102010507070707" pitchFamily="18" charset="2"/>
              <a:buNone/>
            </a:pPr>
            <a:r>
              <a:rPr lang="en-US" altLang="zh-CN" dirty="0"/>
              <a:t>    </a:t>
            </a:r>
            <a:r>
              <a:rPr lang="zh-CN" altLang="en-US" dirty="0"/>
              <a:t>抗压强度</a:t>
            </a:r>
            <a:r>
              <a:rPr lang="en-US" altLang="zh-CN" dirty="0"/>
              <a:t>10</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6</a:t>
            </a:r>
            <a:r>
              <a:rPr lang="en-US" altLang="zh-CN" dirty="0"/>
              <a:t>0MPa</a:t>
            </a:r>
          </a:p>
          <a:p>
            <a:pPr marL="0" indent="0" eaLnBrk="1" hangingPunct="1">
              <a:lnSpc>
                <a:spcPct val="100000"/>
              </a:lnSpc>
              <a:buClr>
                <a:schemeClr val="tx2"/>
              </a:buClr>
              <a:buSzPct val="50000"/>
              <a:buFont typeface="Wingdings 2" panose="05020102010507070707" pitchFamily="18" charset="2"/>
              <a:buNone/>
            </a:pPr>
            <a:r>
              <a:rPr lang="zh-CN" altLang="en-US" dirty="0"/>
              <a:t>    曲率半径大于</a:t>
            </a:r>
            <a:r>
              <a:rPr lang="en-US" altLang="zh-CN" dirty="0"/>
              <a:t>250mm</a:t>
            </a:r>
          </a:p>
        </p:txBody>
      </p:sp>
    </p:spTree>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xfrm>
            <a:off x="1981200" y="278130"/>
            <a:ext cx="7614285" cy="774700"/>
          </a:xfrm>
        </p:spPr>
        <p:txBody>
          <a:bodyPr vert="horz" wrap="square" lIns="91440" tIns="45720" rIns="91440" bIns="45720" anchor="ctr" anchorCtr="0"/>
          <a:lstStyle/>
          <a:p>
            <a:pPr algn="l" eaLnBrk="1" hangingPunct="1"/>
            <a:r>
              <a:rPr lang="zh-CN" altLang="en-US" sz="3200" dirty="0"/>
              <a:t>团体标准的适用条件</a:t>
            </a:r>
            <a:r>
              <a:rPr lang="en-US" altLang="zh-CN" sz="3200" dirty="0"/>
              <a:t>(T/CECS 02:2020)</a:t>
            </a:r>
            <a:endParaRPr lang="zh-CN" altLang="en-US" sz="3200" dirty="0"/>
          </a:p>
        </p:txBody>
      </p:sp>
      <p:sp>
        <p:nvSpPr>
          <p:cNvPr id="77827" name="文本占位符 2"/>
          <p:cNvSpPr>
            <a:spLocks noGrp="1"/>
          </p:cNvSpPr>
          <p:nvPr>
            <p:ph type="body" sz="half" idx="1"/>
          </p:nvPr>
        </p:nvSpPr>
        <p:spPr>
          <a:xfrm>
            <a:off x="1055370" y="1124585"/>
            <a:ext cx="10369222" cy="4680679"/>
          </a:xfrm>
        </p:spPr>
        <p:txBody>
          <a:bodyPr vert="horz" wrap="square" lIns="91440" tIns="45720" rIns="91440" bIns="45720" anchor="t" anchorCtr="0">
            <a:noAutofit/>
          </a:bodyPr>
          <a:lstStyle/>
          <a:p>
            <a:pPr marL="0" indent="0" eaLnBrk="1" hangingPunct="1">
              <a:lnSpc>
                <a:spcPct val="100000"/>
              </a:lnSpc>
              <a:spcBef>
                <a:spcPts val="0"/>
              </a:spcBef>
              <a:buClr>
                <a:schemeClr val="tx2"/>
              </a:buClr>
              <a:buSzPct val="50000"/>
              <a:buFont typeface="Wingdings 2" panose="05020102010507070707" pitchFamily="18" charset="2"/>
              <a:buNone/>
            </a:pPr>
            <a:endParaRPr lang="en-US" altLang="zh-CN" dirty="0">
              <a:latin typeface="楷体" panose="02010609060101010101" pitchFamily="49" charset="-122"/>
              <a:ea typeface="楷体" panose="02010609060101010101" pitchFamily="49" charset="-122"/>
            </a:endParaRPr>
          </a:p>
          <a:p>
            <a:pPr marL="0" indent="0" eaLnBrk="1" hangingPunct="1">
              <a:lnSpc>
                <a:spcPct val="100000"/>
              </a:lnSpc>
              <a:spcBef>
                <a:spcPts val="0"/>
              </a:spcBef>
              <a:buClr>
                <a:schemeClr val="tx2"/>
              </a:buClr>
              <a:buSzPct val="50000"/>
              <a:buFont typeface="Wingdings 2" panose="05020102010507070707" pitchFamily="18" charset="2"/>
              <a:buNone/>
            </a:pPr>
            <a:r>
              <a:rPr lang="zh-CN" altLang="en-US" dirty="0">
                <a:latin typeface="楷体" panose="02010609060101010101" pitchFamily="49" charset="-122"/>
                <a:ea typeface="楷体" panose="02010609060101010101" pitchFamily="49" charset="-122"/>
              </a:rPr>
              <a:t>混凝土用水泥、砂、石骨料符合国家相关标准</a:t>
            </a:r>
            <a:endParaRPr lang="en-US" altLang="zh-CN" dirty="0">
              <a:latin typeface="楷体" panose="02010609060101010101" pitchFamily="49" charset="-122"/>
              <a:ea typeface="楷体" panose="02010609060101010101" pitchFamily="49" charset="-122"/>
            </a:endParaRPr>
          </a:p>
          <a:p>
            <a:pPr marL="0" indent="0" eaLnBrk="1" hangingPunct="1">
              <a:lnSpc>
                <a:spcPct val="100000"/>
              </a:lnSpc>
              <a:spcBef>
                <a:spcPts val="0"/>
              </a:spcBef>
              <a:buClr>
                <a:schemeClr val="tx2"/>
              </a:buClr>
              <a:buSzPct val="50000"/>
              <a:buFont typeface="Wingdings 2" panose="05020102010507070707" pitchFamily="18" charset="2"/>
              <a:buNone/>
            </a:pPr>
            <a:r>
              <a:rPr lang="zh-CN" altLang="en-US" dirty="0">
                <a:latin typeface="楷体" panose="02010609060101010101" pitchFamily="49" charset="-122"/>
                <a:ea typeface="楷体" panose="02010609060101010101" pitchFamily="49" charset="-122"/>
              </a:rPr>
              <a:t>可掺或不掺矿物掺合物、外加剂、粉煤灰、泵送剂</a:t>
            </a:r>
            <a:endParaRPr lang="en-US" altLang="zh-CN" dirty="0">
              <a:latin typeface="楷体" panose="02010609060101010101" pitchFamily="49" charset="-122"/>
              <a:ea typeface="楷体" panose="02010609060101010101" pitchFamily="49" charset="-122"/>
            </a:endParaRPr>
          </a:p>
          <a:p>
            <a:pPr marL="0" indent="0" eaLnBrk="1" hangingPunct="1">
              <a:lnSpc>
                <a:spcPct val="100000"/>
              </a:lnSpc>
              <a:spcBef>
                <a:spcPts val="0"/>
              </a:spcBef>
              <a:buClr>
                <a:schemeClr val="tx2"/>
              </a:buClr>
              <a:buSzPct val="50000"/>
              <a:buFont typeface="Wingdings 2" panose="05020102010507070707" pitchFamily="18" charset="2"/>
              <a:buNone/>
            </a:pPr>
            <a:r>
              <a:rPr lang="zh-CN" altLang="en-US" dirty="0">
                <a:latin typeface="楷体" panose="02010609060101010101" pitchFamily="49" charset="-122"/>
                <a:ea typeface="楷体" panose="02010609060101010101" pitchFamily="49" charset="-122"/>
              </a:rPr>
              <a:t>人工或机械搅拌的混凝土或泵送混凝土</a:t>
            </a:r>
            <a:endParaRPr lang="en-US" altLang="zh-CN" dirty="0">
              <a:latin typeface="楷体" panose="02010609060101010101" pitchFamily="49" charset="-122"/>
              <a:ea typeface="楷体" panose="02010609060101010101" pitchFamily="49" charset="-122"/>
            </a:endParaRPr>
          </a:p>
          <a:p>
            <a:pPr marL="0" indent="0">
              <a:lnSpc>
                <a:spcPct val="100000"/>
              </a:lnSpc>
              <a:spcBef>
                <a:spcPts val="0"/>
              </a:spcBef>
              <a:buClr>
                <a:schemeClr val="tx2"/>
              </a:buClr>
              <a:buSzPct val="50000"/>
              <a:buNone/>
            </a:pPr>
            <a:r>
              <a:rPr lang="zh-CN" altLang="en-US" dirty="0">
                <a:latin typeface="楷体" panose="02010609060101010101" pitchFamily="49" charset="-122"/>
                <a:ea typeface="楷体" panose="02010609060101010101" pitchFamily="49" charset="-122"/>
              </a:rPr>
              <a:t>标准模板浇筑成型</a:t>
            </a:r>
            <a:endParaRPr lang="en-US" altLang="zh-CN" dirty="0">
              <a:latin typeface="楷体" panose="02010609060101010101" pitchFamily="49" charset="-122"/>
              <a:ea typeface="楷体" panose="02010609060101010101" pitchFamily="49" charset="-122"/>
            </a:endParaRPr>
          </a:p>
          <a:p>
            <a:pPr marL="0" indent="0">
              <a:lnSpc>
                <a:spcPct val="100000"/>
              </a:lnSpc>
              <a:spcBef>
                <a:spcPts val="0"/>
              </a:spcBef>
              <a:buClr>
                <a:schemeClr val="tx2"/>
              </a:buClr>
              <a:buSzPct val="50000"/>
              <a:buNone/>
            </a:pPr>
            <a:r>
              <a:rPr lang="zh-CN" altLang="en-US" dirty="0">
                <a:latin typeface="楷体" panose="02010609060101010101" pitchFamily="49" charset="-122"/>
                <a:ea typeface="楷体" panose="02010609060101010101" pitchFamily="49" charset="-122"/>
              </a:rPr>
              <a:t>采用普通成型工艺（区别于特殊工艺如：预制管、盾构管片、电线杆等）</a:t>
            </a:r>
            <a:endParaRPr lang="en-US" altLang="zh-CN" dirty="0">
              <a:latin typeface="楷体" panose="02010609060101010101" pitchFamily="49" charset="-122"/>
              <a:ea typeface="楷体" panose="02010609060101010101" pitchFamily="49" charset="-122"/>
            </a:endParaRPr>
          </a:p>
          <a:p>
            <a:pPr marL="0" indent="0">
              <a:lnSpc>
                <a:spcPct val="100000"/>
              </a:lnSpc>
              <a:spcBef>
                <a:spcPts val="0"/>
              </a:spcBef>
              <a:buClr>
                <a:schemeClr val="tx2"/>
              </a:buClr>
              <a:buSzPct val="50000"/>
              <a:buNone/>
            </a:pPr>
            <a:r>
              <a:rPr lang="zh-CN" altLang="en-US" dirty="0">
                <a:latin typeface="楷体" panose="02010609060101010101" pitchFamily="49" charset="-122"/>
                <a:ea typeface="楷体" panose="02010609060101010101" pitchFamily="49" charset="-122"/>
              </a:rPr>
              <a:t>表层为干燥状态（不适用于潮湿或浸水混凝土）</a:t>
            </a:r>
            <a:endParaRPr lang="en-US" altLang="zh-CN" dirty="0">
              <a:latin typeface="楷体" panose="02010609060101010101" pitchFamily="49" charset="-122"/>
              <a:ea typeface="楷体" panose="02010609060101010101" pitchFamily="49" charset="-122"/>
            </a:endParaRPr>
          </a:p>
          <a:p>
            <a:pPr marL="0" indent="0" eaLnBrk="1" hangingPunct="1">
              <a:lnSpc>
                <a:spcPct val="100000"/>
              </a:lnSpc>
              <a:spcBef>
                <a:spcPts val="0"/>
              </a:spcBef>
              <a:buClr>
                <a:schemeClr val="tx2"/>
              </a:buClr>
              <a:buSzPct val="50000"/>
              <a:buFont typeface="Wingdings 2" panose="05020102010507070707" pitchFamily="18" charset="2"/>
              <a:buNone/>
            </a:pPr>
            <a:endParaRPr lang="en-US" altLang="zh-CN" dirty="0">
              <a:latin typeface="楷体" panose="02010609060101010101" pitchFamily="49" charset="-122"/>
              <a:ea typeface="楷体" panose="02010609060101010101" pitchFamily="49" charset="-122"/>
            </a:endParaRPr>
          </a:p>
          <a:p>
            <a:pPr marL="0" indent="0" eaLnBrk="1" hangingPunct="1">
              <a:lnSpc>
                <a:spcPct val="100000"/>
              </a:lnSpc>
              <a:spcBef>
                <a:spcPts val="0"/>
              </a:spcBef>
              <a:buClr>
                <a:schemeClr val="tx2"/>
              </a:buClr>
              <a:buSzPct val="50000"/>
              <a:buFont typeface="Wingdings 2" panose="05020102010507070707" pitchFamily="18" charset="2"/>
              <a:buNone/>
            </a:pPr>
            <a:r>
              <a:rPr lang="zh-CN" altLang="en-US" dirty="0">
                <a:latin typeface="楷体" panose="02010609060101010101" pitchFamily="49" charset="-122"/>
                <a:ea typeface="楷体" panose="02010609060101010101" pitchFamily="49" charset="-122"/>
              </a:rPr>
              <a:t>自然养护（区别于构件厂蒸汽养护的预制梁、板）</a:t>
            </a:r>
            <a:endParaRPr lang="en-US" altLang="zh-CN" dirty="0">
              <a:latin typeface="楷体" panose="02010609060101010101" pitchFamily="49" charset="-122"/>
              <a:ea typeface="楷体" panose="02010609060101010101" pitchFamily="49" charset="-122"/>
            </a:endParaRPr>
          </a:p>
          <a:p>
            <a:pPr marL="0" indent="0" eaLnBrk="1" hangingPunct="1">
              <a:lnSpc>
                <a:spcPct val="100000"/>
              </a:lnSpc>
              <a:spcBef>
                <a:spcPts val="0"/>
              </a:spcBef>
              <a:buClr>
                <a:schemeClr val="tx2"/>
              </a:buClr>
              <a:buSzPct val="50000"/>
              <a:buFont typeface="Wingdings 2" panose="05020102010507070707" pitchFamily="18" charset="2"/>
              <a:buNone/>
            </a:pPr>
            <a:r>
              <a:rPr lang="zh-CN" altLang="en-US" dirty="0">
                <a:latin typeface="楷体" panose="02010609060101010101" pitchFamily="49" charset="-122"/>
                <a:ea typeface="楷体" panose="02010609060101010101" pitchFamily="49" charset="-122"/>
              </a:rPr>
              <a:t>龄期</a:t>
            </a:r>
            <a:r>
              <a:rPr lang="en-US" altLang="zh-CN" dirty="0">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2000</a:t>
            </a:r>
            <a:r>
              <a:rPr lang="zh-CN" altLang="en-US" dirty="0">
                <a:latin typeface="楷体" panose="02010609060101010101" pitchFamily="49" charset="-122"/>
                <a:ea typeface="楷体" panose="02010609060101010101" pitchFamily="49" charset="-122"/>
              </a:rPr>
              <a:t>天</a:t>
            </a:r>
            <a:endParaRPr lang="en-US" altLang="zh-CN" dirty="0">
              <a:latin typeface="楷体" panose="02010609060101010101" pitchFamily="49" charset="-122"/>
              <a:ea typeface="楷体" panose="02010609060101010101" pitchFamily="49" charset="-122"/>
            </a:endParaRPr>
          </a:p>
          <a:p>
            <a:pPr marL="0" indent="0" eaLnBrk="1" hangingPunct="1">
              <a:lnSpc>
                <a:spcPct val="100000"/>
              </a:lnSpc>
              <a:spcBef>
                <a:spcPts val="0"/>
              </a:spcBef>
              <a:buClr>
                <a:schemeClr val="tx2"/>
              </a:buClr>
              <a:buSzPct val="50000"/>
              <a:buFont typeface="Wingdings 2" panose="05020102010507070707" pitchFamily="18" charset="2"/>
              <a:buNone/>
            </a:pPr>
            <a:r>
              <a:rPr lang="zh-CN" altLang="en-US" dirty="0">
                <a:latin typeface="楷体" panose="02010609060101010101" pitchFamily="49" charset="-122"/>
                <a:ea typeface="楷体" panose="02010609060101010101" pitchFamily="49" charset="-122"/>
              </a:rPr>
              <a:t>抗压强度</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70MPa</a:t>
            </a:r>
          </a:p>
          <a:p>
            <a:pPr marL="0" indent="0" eaLnBrk="1" hangingPunct="1">
              <a:lnSpc>
                <a:spcPct val="100000"/>
              </a:lnSpc>
              <a:spcBef>
                <a:spcPts val="0"/>
              </a:spcBef>
              <a:buClr>
                <a:schemeClr val="tx2"/>
              </a:buClr>
              <a:buSzPct val="50000"/>
              <a:buFont typeface="Wingdings 2" panose="05020102010507070707" pitchFamily="18" charset="2"/>
              <a:buNone/>
            </a:pPr>
            <a:r>
              <a:rPr lang="zh-CN" altLang="en-US" dirty="0">
                <a:latin typeface="楷体" panose="02010609060101010101" pitchFamily="49" charset="-122"/>
                <a:ea typeface="楷体" panose="02010609060101010101" pitchFamily="49" charset="-122"/>
              </a:rPr>
              <a:t>曲率半径大于</a:t>
            </a:r>
            <a:r>
              <a:rPr lang="en-US" altLang="zh-CN" dirty="0">
                <a:latin typeface="楷体" panose="02010609060101010101" pitchFamily="49" charset="-122"/>
                <a:ea typeface="楷体" panose="02010609060101010101" pitchFamily="49" charset="-122"/>
              </a:rPr>
              <a:t>250mm</a:t>
            </a:r>
            <a:endParaRPr lang="en-US" altLang="zh-CN" dirty="0"/>
          </a:p>
        </p:txBody>
      </p:sp>
    </p:spTree>
  </p:cSld>
  <p:clrMapOvr>
    <a:masterClrMapping/>
  </p:clrMapOvr>
  <p:transition spd="slow">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15415" y="548640"/>
            <a:ext cx="9265920" cy="5544820"/>
          </a:xfrm>
        </p:spPr>
        <p:txBody>
          <a:bodyPr>
            <a:normAutofit fontScale="80000" lnSpcReduction="10000"/>
          </a:bodyPr>
          <a:lstStyle/>
          <a:p>
            <a:pPr marL="0" indent="0">
              <a:buNone/>
            </a:pPr>
            <a:r>
              <a:rPr lang="en-US" altLang="zh-CN" sz="4100" dirty="0">
                <a:sym typeface="+mn-ea"/>
              </a:rPr>
              <a:t>2.</a:t>
            </a:r>
            <a:r>
              <a:rPr lang="zh-CN" altLang="en-US" sz="4100" dirty="0">
                <a:sym typeface="+mn-ea"/>
              </a:rPr>
              <a:t>回弹值的估测与设备选用</a:t>
            </a:r>
            <a:endParaRPr lang="en-US" altLang="zh-CN" sz="4100" dirty="0"/>
          </a:p>
          <a:p>
            <a:r>
              <a:rPr lang="zh-CN" altLang="en-US" dirty="0"/>
              <a:t>混凝土强度检测方法</a:t>
            </a:r>
            <a:endParaRPr lang="en-US" altLang="zh-CN" dirty="0"/>
          </a:p>
          <a:p>
            <a:pPr marL="502920" indent="-31750">
              <a:buNone/>
            </a:pPr>
            <a:r>
              <a:rPr lang="zh-CN" altLang="en-US" dirty="0"/>
              <a:t>回弹法、钻芯法、超声回弹综合法、后装拔出法、回弹</a:t>
            </a:r>
            <a:r>
              <a:rPr lang="en-US" altLang="zh-CN" dirty="0"/>
              <a:t>-</a:t>
            </a:r>
            <a:r>
              <a:rPr lang="zh-CN" altLang="en-US" dirty="0"/>
              <a:t>钻芯法、拉脱法、后锚固法</a:t>
            </a:r>
            <a:endParaRPr lang="en-US" altLang="zh-CN" dirty="0"/>
          </a:p>
          <a:p>
            <a:r>
              <a:rPr lang="zh-CN" altLang="en-US" dirty="0"/>
              <a:t>回弹仪的类型</a:t>
            </a:r>
            <a:endParaRPr lang="en-US" altLang="zh-CN" dirty="0"/>
          </a:p>
          <a:p>
            <a:pPr marL="1076325" indent="0"/>
            <a:r>
              <a:rPr lang="zh-CN" altLang="en-US" dirty="0"/>
              <a:t>普通混凝土</a:t>
            </a:r>
            <a:r>
              <a:rPr lang="en-US" altLang="zh-CN" dirty="0"/>
              <a:t>——</a:t>
            </a:r>
            <a:r>
              <a:rPr lang="zh-CN" altLang="en-US" dirty="0"/>
              <a:t>回弹仪标称能量</a:t>
            </a:r>
            <a:r>
              <a:rPr lang="en-US" altLang="zh-CN" dirty="0"/>
              <a:t>2.207J</a:t>
            </a:r>
            <a:r>
              <a:rPr lang="zh-CN" altLang="en-US" dirty="0"/>
              <a:t>，钢砧率定值</a:t>
            </a:r>
            <a:r>
              <a:rPr lang="en-US" altLang="zh-CN" dirty="0"/>
              <a:t>80±2</a:t>
            </a:r>
          </a:p>
          <a:p>
            <a:pPr marL="1076325" indent="0"/>
            <a:r>
              <a:rPr lang="zh-CN" altLang="en-US" dirty="0"/>
              <a:t>高强混凝土</a:t>
            </a:r>
            <a:r>
              <a:rPr lang="en-US" altLang="zh-CN" dirty="0"/>
              <a:t>——</a:t>
            </a:r>
            <a:r>
              <a:rPr lang="zh-CN" altLang="en-US" dirty="0"/>
              <a:t>回弹仪标称能量</a:t>
            </a:r>
            <a:r>
              <a:rPr lang="en-US" altLang="zh-CN" dirty="0"/>
              <a:t>4.5</a:t>
            </a:r>
            <a:r>
              <a:rPr lang="zh-CN" altLang="en-US" dirty="0"/>
              <a:t>，钢砧率定值</a:t>
            </a:r>
            <a:r>
              <a:rPr lang="en-US" altLang="zh-CN" dirty="0"/>
              <a:t>88±2</a:t>
            </a:r>
          </a:p>
          <a:p>
            <a:pPr marL="3044825" indent="-266700"/>
            <a:r>
              <a:rPr lang="zh-CN" altLang="en-US" dirty="0"/>
              <a:t>回弹仪标称能量</a:t>
            </a:r>
            <a:r>
              <a:rPr lang="en-US" altLang="zh-CN" dirty="0"/>
              <a:t>5.5J</a:t>
            </a:r>
            <a:r>
              <a:rPr lang="zh-CN" altLang="en-US" dirty="0"/>
              <a:t>，钢砧率定值</a:t>
            </a:r>
            <a:r>
              <a:rPr lang="en-US" altLang="zh-CN" sz="3025" dirty="0">
                <a:solidFill>
                  <a:schemeClr val="bg2"/>
                </a:solidFill>
                <a:highlight>
                  <a:srgbClr val="FFFF00"/>
                </a:highlight>
              </a:rPr>
              <a:t>83±1</a:t>
            </a:r>
            <a:endParaRPr lang="en-US" altLang="zh-CN" dirty="0"/>
          </a:p>
          <a:p>
            <a:pPr marL="1076325" indent="0"/>
            <a:r>
              <a:rPr lang="zh-CN" altLang="en-US" dirty="0"/>
              <a:t>砂浆强度</a:t>
            </a:r>
            <a:r>
              <a:rPr lang="en-US" altLang="zh-CN" dirty="0"/>
              <a:t>——</a:t>
            </a:r>
            <a:r>
              <a:rPr lang="zh-CN" altLang="en-US" dirty="0"/>
              <a:t>回弹仪标称能量</a:t>
            </a:r>
            <a:r>
              <a:rPr lang="en-US" altLang="zh-CN" dirty="0"/>
              <a:t>0.196J</a:t>
            </a:r>
            <a:r>
              <a:rPr lang="zh-CN" altLang="en-US" dirty="0"/>
              <a:t>，钢砧率定值</a:t>
            </a:r>
            <a:r>
              <a:rPr lang="en-US" altLang="zh-CN" dirty="0"/>
              <a:t>74±2</a:t>
            </a:r>
          </a:p>
          <a:p>
            <a:pPr marL="1076325" indent="0"/>
            <a:r>
              <a:rPr lang="zh-CN" altLang="en-US" dirty="0"/>
              <a:t>砌体强度</a:t>
            </a:r>
            <a:r>
              <a:rPr lang="en-US" altLang="zh-CN" dirty="0"/>
              <a:t>——</a:t>
            </a:r>
            <a:r>
              <a:rPr lang="zh-CN" altLang="en-US" dirty="0"/>
              <a:t>回弹仪标称能量</a:t>
            </a:r>
            <a:r>
              <a:rPr lang="en-US" altLang="zh-CN" dirty="0"/>
              <a:t>1.207J</a:t>
            </a:r>
            <a:r>
              <a:rPr lang="zh-CN" altLang="en-US" dirty="0"/>
              <a:t>，钢砧率定值</a:t>
            </a:r>
            <a:r>
              <a:rPr lang="en-US" altLang="zh-CN" dirty="0"/>
              <a:t>74±2</a:t>
            </a:r>
          </a:p>
          <a:p>
            <a:pPr marL="1076325" indent="0"/>
            <a:r>
              <a:rPr lang="zh-CN" altLang="en-US" dirty="0"/>
              <a:t>数显回弹仪</a:t>
            </a:r>
            <a:r>
              <a:rPr lang="en-US" altLang="zh-CN" dirty="0"/>
              <a:t>——</a:t>
            </a:r>
            <a:r>
              <a:rPr lang="zh-CN" altLang="en-US" dirty="0"/>
              <a:t>带指针直读系统，示值误差不大于</a:t>
            </a:r>
            <a:r>
              <a:rPr lang="en-US" altLang="zh-CN" dirty="0"/>
              <a:t>1</a:t>
            </a:r>
          </a:p>
        </p:txBody>
      </p:sp>
      <p:sp>
        <p:nvSpPr>
          <p:cNvPr id="2" name="文本框 1"/>
          <p:cNvSpPr txBox="1"/>
          <p:nvPr/>
        </p:nvSpPr>
        <p:spPr>
          <a:xfrm>
            <a:off x="9809480" y="6386830"/>
            <a:ext cx="4064000" cy="370840"/>
          </a:xfrm>
          <a:prstGeom prst="rect">
            <a:avLst/>
          </a:prstGeom>
          <a:noFill/>
        </p:spPr>
        <p:txBody>
          <a:bodyPr wrap="square" rtlCol="0">
            <a:spAutoFit/>
          </a:bodyPr>
          <a:lstStyle/>
          <a:p>
            <a:pPr>
              <a:lnSpc>
                <a:spcPct val="130000"/>
              </a:lnSpc>
            </a:pPr>
            <a:endParaRPr lang="zh-CN" altLang="en-US" sz="1400" dirty="0">
              <a:latin typeface="Arial" panose="020B0604020202020204" pitchFamily="34" charset="0"/>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71464" y="880653"/>
            <a:ext cx="9036816" cy="5096694"/>
          </a:xfrm>
        </p:spPr>
        <p:txBody>
          <a:bodyPr>
            <a:normAutofit/>
          </a:bodyPr>
          <a:lstStyle/>
          <a:p>
            <a:pPr marL="0" indent="0">
              <a:buNone/>
            </a:pPr>
            <a:r>
              <a:rPr lang="zh-CN" altLang="en-US" dirty="0"/>
              <a:t>回弹仪选用原则</a:t>
            </a:r>
            <a:r>
              <a:rPr lang="en-US" altLang="zh-CN" dirty="0"/>
              <a:t>——</a:t>
            </a:r>
            <a:r>
              <a:rPr lang="zh-CN" altLang="en-US" dirty="0"/>
              <a:t>普通、高强</a:t>
            </a:r>
            <a:endParaRPr lang="en-US" altLang="zh-CN" dirty="0"/>
          </a:p>
          <a:p>
            <a:r>
              <a:rPr lang="zh-CN" altLang="en-US" dirty="0"/>
              <a:t>不能只看设计强度等级</a:t>
            </a:r>
            <a:endParaRPr lang="en-US" altLang="zh-CN" dirty="0"/>
          </a:p>
          <a:p>
            <a:pPr marL="0" indent="0">
              <a:buNone/>
            </a:pPr>
            <a:r>
              <a:rPr lang="zh-CN" altLang="en-US" dirty="0"/>
              <a:t>    设计强度等</a:t>
            </a:r>
            <a:r>
              <a:rPr lang="en-US" altLang="zh-CN" dirty="0"/>
              <a:t>C40</a:t>
            </a:r>
            <a:r>
              <a:rPr lang="zh-CN" altLang="en-US" dirty="0">
                <a:latin typeface="宋体" panose="02010600030101010101" pitchFamily="2" charset="-122"/>
                <a:ea typeface="宋体" panose="02010600030101010101" pitchFamily="2" charset="-122"/>
              </a:rPr>
              <a:t>～</a:t>
            </a:r>
            <a:r>
              <a:rPr lang="en-US" altLang="zh-CN" dirty="0"/>
              <a:t>C50</a:t>
            </a:r>
            <a:r>
              <a:rPr lang="zh-CN" altLang="en-US" dirty="0"/>
              <a:t>之间，实测强度可能＞</a:t>
            </a:r>
            <a:r>
              <a:rPr lang="en-US" altLang="zh-CN" dirty="0"/>
              <a:t>60MPa</a:t>
            </a:r>
          </a:p>
          <a:p>
            <a:pPr marL="0" indent="0">
              <a:buNone/>
            </a:pPr>
            <a:r>
              <a:rPr lang="zh-CN" altLang="en-US" dirty="0"/>
              <a:t>    设计强度等</a:t>
            </a:r>
            <a:r>
              <a:rPr lang="en-US" altLang="zh-CN" dirty="0"/>
              <a:t>C50</a:t>
            </a:r>
            <a:r>
              <a:rPr lang="zh-CN" altLang="en-US" dirty="0"/>
              <a:t>以上，实测强度可能＜</a:t>
            </a:r>
            <a:r>
              <a:rPr lang="en-US" altLang="zh-CN" dirty="0"/>
              <a:t>50MPa</a:t>
            </a:r>
          </a:p>
          <a:p>
            <a:r>
              <a:rPr lang="zh-CN" altLang="en-US" dirty="0"/>
              <a:t>现场先回弹进行估算，方法是：</a:t>
            </a:r>
            <a:endParaRPr lang="en-US" altLang="zh-CN" dirty="0"/>
          </a:p>
          <a:p>
            <a:pPr marL="0" indent="0">
              <a:buNone/>
            </a:pPr>
            <a:r>
              <a:rPr lang="zh-CN" altLang="en-US" dirty="0">
                <a:solidFill>
                  <a:srgbClr val="FF0000"/>
                </a:solidFill>
              </a:rPr>
              <a:t>       弹几处估算</a:t>
            </a:r>
            <a:endParaRPr lang="en-US" altLang="zh-CN" dirty="0">
              <a:solidFill>
                <a:srgbClr val="FF0000"/>
              </a:solidFill>
            </a:endParaRPr>
          </a:p>
          <a:p>
            <a:pPr marL="0" indent="0">
              <a:buNone/>
            </a:pPr>
            <a:r>
              <a:rPr lang="zh-CN" altLang="en-US" dirty="0"/>
              <a:t>  选用普通回弹仪弹几处，估算回弹值或者强度换算值大概范围</a:t>
            </a:r>
            <a:endParaRPr lang="en-US" altLang="zh-CN"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114" y="1268760"/>
            <a:ext cx="11187771" cy="2602648"/>
          </a:xfrm>
        </p:spPr>
        <p:txBody>
          <a:bodyPr/>
          <a:lstStyle/>
          <a:p>
            <a:pPr marL="0" indent="0">
              <a:buNone/>
            </a:pPr>
            <a:r>
              <a:rPr lang="zh-CN" altLang="en-US" dirty="0"/>
              <a:t>举例：</a:t>
            </a:r>
            <a:endParaRPr lang="en-US" altLang="zh-CN" dirty="0"/>
          </a:p>
          <a:p>
            <a:r>
              <a:rPr lang="zh-CN" altLang="en-US" dirty="0"/>
              <a:t>普通回弹仪，回弹值＞</a:t>
            </a:r>
            <a:r>
              <a:rPr lang="en-US" altLang="zh-CN" dirty="0"/>
              <a:t>50</a:t>
            </a:r>
            <a:r>
              <a:rPr lang="zh-CN" altLang="en-US" dirty="0"/>
              <a:t>，换算值＞</a:t>
            </a:r>
            <a:r>
              <a:rPr lang="en-US" altLang="zh-CN" dirty="0"/>
              <a:t>60</a:t>
            </a:r>
            <a:r>
              <a:rPr lang="zh-CN" altLang="en-US" dirty="0"/>
              <a:t>，选高强回弹仪（</a:t>
            </a:r>
            <a:r>
              <a:rPr lang="en-US" altLang="zh-CN" dirty="0"/>
              <a:t>60-80MPa</a:t>
            </a:r>
            <a:r>
              <a:rPr lang="zh-CN" altLang="en-US" dirty="0"/>
              <a:t>）</a:t>
            </a:r>
            <a:endParaRPr lang="en-US" altLang="zh-CN" dirty="0"/>
          </a:p>
          <a:p>
            <a:r>
              <a:rPr lang="zh-CN" altLang="en-US" dirty="0"/>
              <a:t>普通回弹仪，回弹值＜</a:t>
            </a:r>
            <a:r>
              <a:rPr lang="en-US" altLang="zh-CN" dirty="0"/>
              <a:t>45</a:t>
            </a:r>
            <a:r>
              <a:rPr lang="zh-CN" altLang="en-US" dirty="0"/>
              <a:t>，换算值＜</a:t>
            </a:r>
            <a:r>
              <a:rPr lang="en-US" altLang="zh-CN" dirty="0"/>
              <a:t>60</a:t>
            </a:r>
            <a:r>
              <a:rPr lang="zh-CN" altLang="en-US" dirty="0"/>
              <a:t>，选普通回弹仪（</a:t>
            </a:r>
            <a:r>
              <a:rPr lang="en-US" altLang="zh-CN" dirty="0"/>
              <a:t>20-60MPa</a:t>
            </a:r>
            <a:r>
              <a:rPr lang="zh-CN" altLang="en-US" dirty="0"/>
              <a:t>）</a:t>
            </a:r>
            <a:endParaRPr lang="en-US" altLang="zh-CN" dirty="0"/>
          </a:p>
          <a:p>
            <a:r>
              <a:rPr lang="zh-CN" altLang="en-US" dirty="0"/>
              <a:t>普通回弹仪，回弹值</a:t>
            </a:r>
            <a:r>
              <a:rPr lang="en-US" altLang="zh-CN" dirty="0"/>
              <a:t>45</a:t>
            </a:r>
            <a:r>
              <a:rPr lang="zh-CN" altLang="en-US" dirty="0">
                <a:latin typeface="宋体" panose="02010600030101010101" pitchFamily="2" charset="-122"/>
                <a:ea typeface="宋体" panose="02010600030101010101" pitchFamily="2" charset="-122"/>
              </a:rPr>
              <a:t>～</a:t>
            </a:r>
            <a:r>
              <a:rPr lang="en-US" altLang="zh-CN" dirty="0"/>
              <a:t>50</a:t>
            </a:r>
            <a:r>
              <a:rPr lang="zh-CN" altLang="en-US" dirty="0"/>
              <a:t>，换算值</a:t>
            </a:r>
            <a:r>
              <a:rPr lang="en-US" altLang="zh-CN" dirty="0"/>
              <a:t>60</a:t>
            </a:r>
            <a:r>
              <a:rPr lang="zh-CN" altLang="en-US" dirty="0"/>
              <a:t>左右，</a:t>
            </a:r>
            <a:r>
              <a:rPr lang="en-US" altLang="zh-CN" dirty="0"/>
              <a:t>4.50J</a:t>
            </a:r>
            <a:r>
              <a:rPr lang="zh-CN" altLang="en-US" dirty="0"/>
              <a:t>高强回弹仪（</a:t>
            </a:r>
            <a:r>
              <a:rPr lang="en-US" altLang="zh-CN" dirty="0"/>
              <a:t>20-110MPa</a:t>
            </a:r>
            <a:r>
              <a:rPr lang="zh-CN" alt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27125" y="1340485"/>
            <a:ext cx="10368915" cy="4895215"/>
          </a:xfrm>
        </p:spPr>
        <p:txBody>
          <a:bodyPr>
            <a:normAutofit fontScale="92500" lnSpcReduction="20000"/>
          </a:bodyPr>
          <a:lstStyle/>
          <a:p>
            <a:pPr marL="0" indent="0">
              <a:buNone/>
            </a:pPr>
            <a:r>
              <a:rPr lang="zh-CN" altLang="en-US" sz="3500" dirty="0"/>
              <a:t>基本知识</a:t>
            </a:r>
            <a:endParaRPr lang="en-US" altLang="zh-CN" sz="3500" dirty="0"/>
          </a:p>
          <a:p>
            <a:r>
              <a:rPr lang="zh-CN" altLang="en-US" dirty="0"/>
              <a:t>混凝土强度</a:t>
            </a:r>
            <a:r>
              <a:rPr lang="en-US" altLang="zh-CN" dirty="0"/>
              <a:t>——</a:t>
            </a:r>
            <a:r>
              <a:rPr lang="zh-CN" altLang="en-US" dirty="0"/>
              <a:t>抗压强度、抗折强度、劈裂抗拉强度</a:t>
            </a:r>
            <a:endParaRPr lang="en-US" altLang="zh-CN" dirty="0"/>
          </a:p>
          <a:p>
            <a:r>
              <a:rPr lang="zh-CN" altLang="en-US" dirty="0"/>
              <a:t>混凝土强度等级</a:t>
            </a:r>
            <a:r>
              <a:rPr lang="en-US" altLang="zh-CN" dirty="0"/>
              <a:t>C15-C80</a:t>
            </a:r>
          </a:p>
          <a:p>
            <a:pPr marL="717550" indent="0">
              <a:buNone/>
            </a:pPr>
            <a:r>
              <a:rPr lang="zh-CN" altLang="en-US" dirty="0"/>
              <a:t>根据立方体抗压强度标准值划分，采用符号</a:t>
            </a:r>
            <a:r>
              <a:rPr lang="en-US" altLang="zh-CN" dirty="0"/>
              <a:t>C</a:t>
            </a:r>
            <a:r>
              <a:rPr lang="zh-CN" altLang="en-US" dirty="0"/>
              <a:t>表示，单位为</a:t>
            </a:r>
            <a:r>
              <a:rPr lang="en-US" altLang="zh-CN" dirty="0"/>
              <a:t>MPa</a:t>
            </a:r>
          </a:p>
          <a:p>
            <a:pPr marL="717550" indent="0">
              <a:buNone/>
            </a:pPr>
            <a:r>
              <a:rPr lang="zh-CN" altLang="en-US" dirty="0"/>
              <a:t>边长</a:t>
            </a:r>
            <a:r>
              <a:rPr lang="en-US" altLang="zh-CN" dirty="0"/>
              <a:t>150mm</a:t>
            </a:r>
            <a:r>
              <a:rPr lang="zh-CN" altLang="en-US" dirty="0"/>
              <a:t>的立方体试块，标准养护（</a:t>
            </a:r>
            <a:r>
              <a:rPr lang="en-US" altLang="zh-CN" dirty="0"/>
              <a:t>20±2℃</a:t>
            </a:r>
            <a:r>
              <a:rPr lang="zh-CN" altLang="en-US" dirty="0"/>
              <a:t>、湿度≥</a:t>
            </a:r>
            <a:r>
              <a:rPr lang="en-US" altLang="zh-CN" dirty="0"/>
              <a:t>95%</a:t>
            </a:r>
            <a:r>
              <a:rPr lang="zh-CN" altLang="en-US" dirty="0"/>
              <a:t>）</a:t>
            </a:r>
            <a:r>
              <a:rPr lang="en-US" altLang="zh-CN" dirty="0"/>
              <a:t>28</a:t>
            </a:r>
            <a:r>
              <a:rPr lang="zh-CN" altLang="en-US" dirty="0"/>
              <a:t>天，</a:t>
            </a:r>
          </a:p>
          <a:p>
            <a:pPr marL="717550" indent="0">
              <a:buNone/>
            </a:pPr>
            <a:r>
              <a:rPr lang="zh-CN" altLang="en-US" dirty="0"/>
              <a:t>通过试验测得具有</a:t>
            </a:r>
            <a:r>
              <a:rPr lang="en-US" altLang="zh-CN" dirty="0"/>
              <a:t>95%</a:t>
            </a:r>
            <a:r>
              <a:rPr lang="zh-CN" altLang="en-US" dirty="0"/>
              <a:t>保证率的抗压强度值</a:t>
            </a:r>
            <a:endParaRPr lang="en-US" altLang="zh-CN" dirty="0"/>
          </a:p>
          <a:p>
            <a:pPr marL="717550" indent="0">
              <a:buNone/>
            </a:pPr>
            <a:r>
              <a:rPr lang="zh-CN" altLang="en-US" dirty="0"/>
              <a:t>   素混凝土</a:t>
            </a:r>
            <a:r>
              <a:rPr lang="en-US" altLang="zh-CN" dirty="0"/>
              <a:t>C15</a:t>
            </a:r>
            <a:r>
              <a:rPr lang="zh-CN" altLang="en-US" dirty="0"/>
              <a:t>以下；钢筋混凝土</a:t>
            </a:r>
            <a:r>
              <a:rPr lang="en-US" altLang="zh-CN" dirty="0"/>
              <a:t>C20</a:t>
            </a:r>
            <a:r>
              <a:rPr lang="zh-CN" altLang="en-US" dirty="0"/>
              <a:t>以上；高强混凝土</a:t>
            </a:r>
            <a:r>
              <a:rPr lang="en-US" altLang="zh-CN" dirty="0"/>
              <a:t>C50</a:t>
            </a:r>
            <a:r>
              <a:rPr lang="zh-CN" altLang="en-US" dirty="0"/>
              <a:t>以上</a:t>
            </a:r>
            <a:endParaRPr lang="en-US" altLang="zh-CN" dirty="0"/>
          </a:p>
          <a:p>
            <a:pPr marL="0" indent="0"/>
            <a:r>
              <a:rPr lang="en-US" altLang="zh-CN" dirty="0"/>
              <a:t> </a:t>
            </a:r>
            <a:r>
              <a:rPr lang="zh-CN" altLang="en-US" dirty="0"/>
              <a:t>养护方式</a:t>
            </a:r>
            <a:endParaRPr lang="en-US" altLang="zh-CN" dirty="0"/>
          </a:p>
          <a:p>
            <a:pPr marL="0" indent="717550">
              <a:buNone/>
            </a:pPr>
            <a:r>
              <a:rPr lang="zh-CN" altLang="en-US" dirty="0"/>
              <a:t>标准养护、同条件养护、洒水自然养护、蒸汽养护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27125" y="620395"/>
            <a:ext cx="9760585" cy="3181350"/>
          </a:xfrm>
        </p:spPr>
        <p:txBody>
          <a:bodyPr>
            <a:normAutofit/>
          </a:bodyPr>
          <a:lstStyle/>
          <a:p>
            <a:pPr marL="0" indent="0">
              <a:buNone/>
            </a:pPr>
            <a:r>
              <a:rPr lang="zh-CN" altLang="en-US" sz="3200" dirty="0"/>
              <a:t>浇筑工艺</a:t>
            </a:r>
            <a:endParaRPr lang="en-US" altLang="zh-CN" sz="3200" dirty="0"/>
          </a:p>
          <a:p>
            <a:pPr marL="0" indent="0">
              <a:buNone/>
            </a:pPr>
            <a:r>
              <a:rPr lang="zh-CN" altLang="en-US" dirty="0"/>
              <a:t>泵送混凝土</a:t>
            </a:r>
            <a:r>
              <a:rPr lang="en-US" altLang="zh-CN" dirty="0"/>
              <a:t>——</a:t>
            </a:r>
            <a:r>
              <a:rPr lang="zh-CN" altLang="en-US" dirty="0"/>
              <a:t>按泵送混凝土配合比设计的，添加泵送剂，流动性强</a:t>
            </a:r>
            <a:endParaRPr lang="en-US" altLang="zh-CN" dirty="0"/>
          </a:p>
          <a:p>
            <a:pPr marL="0" indent="0">
              <a:buNone/>
            </a:pPr>
            <a:r>
              <a:rPr lang="zh-CN" altLang="en-US" dirty="0"/>
              <a:t>非泵送混凝土</a:t>
            </a:r>
            <a:r>
              <a:rPr lang="en-US" altLang="zh-CN" dirty="0"/>
              <a:t>——</a:t>
            </a:r>
            <a:r>
              <a:rPr lang="zh-CN" altLang="en-US" dirty="0"/>
              <a:t>自搅拌混凝土，流动性差</a:t>
            </a:r>
            <a:endParaRPr lang="en-US" altLang="zh-CN" dirty="0"/>
          </a:p>
          <a:p>
            <a:pPr marL="0" indent="0">
              <a:buNone/>
            </a:pPr>
            <a:r>
              <a:rPr lang="zh-CN" altLang="en-US" dirty="0"/>
              <a:t>预制混凝土</a:t>
            </a:r>
            <a:r>
              <a:rPr lang="en-US" altLang="zh-CN" dirty="0"/>
              <a:t>——</a:t>
            </a:r>
            <a:r>
              <a:rPr lang="zh-CN" altLang="en-US" dirty="0"/>
              <a:t>构件厂生产的成品，预制构件、盾构管片、预制管件</a:t>
            </a:r>
            <a:endParaRPr lang="en-US" altLang="zh-CN" dirty="0"/>
          </a:p>
          <a:p>
            <a:pPr marL="0" indent="0">
              <a:buNone/>
            </a:pPr>
            <a:r>
              <a:rPr lang="zh-CN" altLang="en-US" dirty="0"/>
              <a:t>现浇混凝土</a:t>
            </a:r>
            <a:r>
              <a:rPr lang="en-US" altLang="zh-CN" dirty="0"/>
              <a:t>——</a:t>
            </a:r>
            <a:r>
              <a:rPr lang="zh-CN" altLang="en-US" dirty="0"/>
              <a:t>现场支模、现场施工成型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27125" y="620395"/>
            <a:ext cx="10661650" cy="5372100"/>
          </a:xfrm>
        </p:spPr>
        <p:txBody>
          <a:bodyPr>
            <a:normAutofit fontScale="97500"/>
          </a:bodyPr>
          <a:lstStyle/>
          <a:p>
            <a:pPr marL="0" indent="0">
              <a:buNone/>
            </a:pPr>
            <a:r>
              <a:rPr lang="zh-CN" altLang="en-US" sz="3200" dirty="0"/>
              <a:t>认识几个名词</a:t>
            </a:r>
            <a:endParaRPr lang="en-US" altLang="zh-CN" sz="3200" dirty="0"/>
          </a:p>
          <a:p>
            <a:pPr marL="0" indent="0">
              <a:buNone/>
            </a:pPr>
            <a:r>
              <a:rPr lang="zh-CN" altLang="en-US" dirty="0"/>
              <a:t>回弹值</a:t>
            </a:r>
            <a:r>
              <a:rPr lang="en-US" altLang="zh-CN" dirty="0"/>
              <a:t>——</a:t>
            </a:r>
            <a:r>
              <a:rPr lang="zh-CN" altLang="en-US" dirty="0"/>
              <a:t>回弹仪指针读数（无量纲）</a:t>
            </a:r>
            <a:endParaRPr lang="en-US" altLang="zh-CN" dirty="0"/>
          </a:p>
          <a:p>
            <a:pPr marL="0" indent="0">
              <a:buNone/>
            </a:pPr>
            <a:r>
              <a:rPr lang="zh-CN" altLang="en-US" dirty="0"/>
              <a:t>测区回弹平均值</a:t>
            </a:r>
            <a:r>
              <a:rPr lang="en-US" altLang="zh-CN" dirty="0"/>
              <a:t>——16</a:t>
            </a:r>
            <a:r>
              <a:rPr lang="zh-CN" altLang="en-US" dirty="0"/>
              <a:t>个回弹值去掉</a:t>
            </a:r>
            <a:r>
              <a:rPr lang="en-US" altLang="zh-CN" dirty="0"/>
              <a:t>3</a:t>
            </a:r>
            <a:r>
              <a:rPr lang="zh-CN" altLang="en-US" dirty="0"/>
              <a:t>个最大</a:t>
            </a:r>
            <a:r>
              <a:rPr lang="en-US" altLang="zh-CN" dirty="0"/>
              <a:t>3</a:t>
            </a:r>
            <a:r>
              <a:rPr lang="zh-CN" altLang="en-US" dirty="0"/>
              <a:t>个最小后，</a:t>
            </a:r>
          </a:p>
          <a:p>
            <a:pPr marL="0" indent="2794000">
              <a:buNone/>
            </a:pPr>
            <a:r>
              <a:rPr lang="zh-CN" altLang="en-US" dirty="0"/>
              <a:t>剩余</a:t>
            </a:r>
            <a:r>
              <a:rPr lang="en-US" altLang="zh-CN" dirty="0"/>
              <a:t>10</a:t>
            </a:r>
            <a:r>
              <a:rPr lang="zh-CN" altLang="en-US" dirty="0"/>
              <a:t>个数取平均值（无量纲）</a:t>
            </a:r>
            <a:endParaRPr lang="en-US" altLang="zh-CN" dirty="0"/>
          </a:p>
          <a:p>
            <a:pPr marL="0" indent="0">
              <a:buNone/>
            </a:pPr>
            <a:r>
              <a:rPr lang="zh-CN" altLang="en-US" dirty="0"/>
              <a:t>测区强度换算值</a:t>
            </a:r>
            <a:r>
              <a:rPr lang="en-US" altLang="zh-CN" dirty="0"/>
              <a:t>——</a:t>
            </a:r>
            <a:r>
              <a:rPr lang="zh-CN" altLang="en-US" dirty="0"/>
              <a:t>回弹</a:t>
            </a:r>
            <a:r>
              <a:rPr lang="zh-CN" altLang="en-US" dirty="0">
                <a:sym typeface="+mn-ea"/>
              </a:rPr>
              <a:t>平均值及碳化深度值在</a:t>
            </a:r>
            <a:r>
              <a:rPr lang="zh-CN" altLang="en-US" dirty="0"/>
              <a:t>回弹曲线中计算出的强度值（</a:t>
            </a:r>
            <a:r>
              <a:rPr lang="en-US" altLang="zh-CN" dirty="0"/>
              <a:t>MPa</a:t>
            </a:r>
            <a:r>
              <a:rPr lang="zh-CN" altLang="en-US" dirty="0"/>
              <a:t>）</a:t>
            </a:r>
          </a:p>
          <a:p>
            <a:pPr marL="0" indent="0">
              <a:buNone/>
            </a:pPr>
            <a:r>
              <a:rPr lang="zh-CN" altLang="en-US" dirty="0">
                <a:sym typeface="+mn-ea"/>
              </a:rPr>
              <a:t>强度修正值</a:t>
            </a:r>
            <a:r>
              <a:rPr lang="en-US" altLang="zh-CN" dirty="0">
                <a:sym typeface="+mn-ea"/>
              </a:rPr>
              <a:t>——</a:t>
            </a:r>
            <a:r>
              <a:rPr lang="zh-CN" altLang="en-US" dirty="0">
                <a:sym typeface="+mn-ea"/>
              </a:rPr>
              <a:t>非标准状态测试进行角度修正、浇筑面修正、芯样修正</a:t>
            </a:r>
            <a:endParaRPr lang="en-US" altLang="zh-CN" dirty="0"/>
          </a:p>
          <a:p>
            <a:pPr marL="0" indent="0">
              <a:buNone/>
            </a:pPr>
            <a:r>
              <a:rPr lang="zh-CN" altLang="en-US" dirty="0"/>
              <a:t>构件强度推定值</a:t>
            </a:r>
            <a:r>
              <a:rPr lang="en-US" altLang="zh-CN" dirty="0"/>
              <a:t>——</a:t>
            </a:r>
            <a:r>
              <a:rPr lang="zh-CN" altLang="en-US" dirty="0"/>
              <a:t>所有测区强度换算值的平均值</a:t>
            </a:r>
            <a:r>
              <a:rPr lang="en-US" altLang="zh-CN" dirty="0"/>
              <a:t> - 1.645 </a:t>
            </a:r>
            <a:r>
              <a:rPr lang="en-US" altLang="en-US" dirty="0"/>
              <a:t>× </a:t>
            </a:r>
            <a:r>
              <a:rPr lang="zh-CN" altLang="en-US" dirty="0"/>
              <a:t>标准差</a:t>
            </a:r>
            <a:r>
              <a:rPr lang="en-US" altLang="zh-CN" dirty="0"/>
              <a:t> </a:t>
            </a:r>
            <a:endParaRPr lang="zh-CN" altLang="en-US" dirty="0"/>
          </a:p>
          <a:p>
            <a:pPr marL="0" indent="0">
              <a:buNone/>
            </a:pPr>
            <a:r>
              <a:rPr lang="zh-CN" altLang="en-US" dirty="0"/>
              <a:t>现龄期混凝土抗压强度推定值</a:t>
            </a:r>
            <a:r>
              <a:rPr lang="en-US" altLang="zh-CN"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983615" y="836930"/>
            <a:ext cx="10201910" cy="4530725"/>
          </a:xfrm>
        </p:spPr>
        <p:txBody>
          <a:bodyPr/>
          <a:lstStyle/>
          <a:p>
            <a:pPr marL="0" indent="0">
              <a:buNone/>
            </a:pPr>
            <a:r>
              <a:rPr lang="zh-CN" altLang="en-US" dirty="0">
                <a:sym typeface="+mn-ea"/>
              </a:rPr>
              <a:t>设备检定、校准、率定、保养</a:t>
            </a:r>
            <a:endParaRPr lang="zh-CN" altLang="en-US" dirty="0"/>
          </a:p>
          <a:p>
            <a:r>
              <a:rPr lang="zh-CN" altLang="en-US" dirty="0"/>
              <a:t>设备检定</a:t>
            </a:r>
            <a:r>
              <a:rPr lang="en-US" altLang="zh-CN" dirty="0"/>
              <a:t>/</a:t>
            </a:r>
            <a:r>
              <a:rPr lang="zh-CN" altLang="en-US" dirty="0"/>
              <a:t>校准：具有计量检定资质的单位对设备进行测试后，出具证书</a:t>
            </a:r>
          </a:p>
          <a:p>
            <a:r>
              <a:rPr lang="zh-CN" altLang="en-US" dirty="0"/>
              <a:t>结果确认：对检定</a:t>
            </a:r>
            <a:r>
              <a:rPr lang="en-US" altLang="zh-CN" dirty="0"/>
              <a:t>/</a:t>
            </a:r>
            <a:r>
              <a:rPr lang="zh-CN" altLang="en-US" dirty="0"/>
              <a:t>校准结果证书的相关内容进行确认，确定结果是否</a:t>
            </a:r>
          </a:p>
          <a:p>
            <a:pPr marL="1901190" indent="-10160">
              <a:buNone/>
            </a:pPr>
            <a:r>
              <a:rPr lang="zh-CN" altLang="en-US" dirty="0"/>
              <a:t>符合检测方法标准的规定要求</a:t>
            </a:r>
          </a:p>
          <a:p>
            <a:r>
              <a:rPr lang="zh-CN" altLang="en-US" dirty="0"/>
              <a:t>回弹仪率定：在</a:t>
            </a:r>
            <a:r>
              <a:rPr lang="zh-CN" altLang="en-US" dirty="0">
                <a:sym typeface="+mn-ea"/>
              </a:rPr>
              <a:t>洛氏硬度HRC为60±2的钢砧上进行率定，以检查</a:t>
            </a:r>
            <a:endParaRPr lang="zh-CN" altLang="en-US" b="0" noProof="0" dirty="0">
              <a:ln>
                <a:noFill/>
              </a:ln>
              <a:solidFill>
                <a:schemeClr val="tx1"/>
              </a:solidFill>
              <a:effectLst/>
              <a:uLnTx/>
              <a:uFillTx/>
              <a:latin typeface="+mn-lt"/>
              <a:ea typeface="+mn-ea"/>
              <a:sym typeface="+mn-ea"/>
            </a:endParaRPr>
          </a:p>
          <a:p>
            <a:pPr marL="2205990" indent="-20320">
              <a:buNone/>
            </a:pPr>
            <a:r>
              <a:rPr lang="zh-CN" altLang="en-US" dirty="0">
                <a:sym typeface="+mn-ea"/>
              </a:rPr>
              <a:t>回弹仪是否处于标准工作状态</a:t>
            </a:r>
            <a:endParaRPr lang="zh-CN" altLang="en-US" dirty="0"/>
          </a:p>
          <a:p>
            <a:r>
              <a:rPr lang="zh-CN" altLang="en-US" dirty="0"/>
              <a:t>设备保养：定期对设备进行检查和保养</a:t>
            </a:r>
          </a:p>
        </p:txBody>
      </p:sp>
    </p:spTree>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3432" y="178789"/>
            <a:ext cx="4617010" cy="699594"/>
          </a:xfrm>
        </p:spPr>
        <p:txBody>
          <a:bodyPr>
            <a:normAutofit/>
          </a:bodyPr>
          <a:lstStyle/>
          <a:p>
            <a:r>
              <a:rPr lang="en-US" altLang="zh-CN" dirty="0"/>
              <a:t>3.</a:t>
            </a:r>
            <a:r>
              <a:rPr lang="zh-CN" altLang="en-US" dirty="0"/>
              <a:t>如何进行抽样</a:t>
            </a:r>
          </a:p>
        </p:txBody>
      </p:sp>
      <p:sp>
        <p:nvSpPr>
          <p:cNvPr id="3" name="内容占位符 2"/>
          <p:cNvSpPr>
            <a:spLocks noGrp="1"/>
          </p:cNvSpPr>
          <p:nvPr>
            <p:ph idx="1"/>
          </p:nvPr>
        </p:nvSpPr>
        <p:spPr>
          <a:xfrm>
            <a:off x="1271464" y="1136202"/>
            <a:ext cx="9319074" cy="5193212"/>
          </a:xfrm>
        </p:spPr>
        <p:txBody>
          <a:bodyPr>
            <a:normAutofit fontScale="92500" lnSpcReduction="20000"/>
          </a:bodyPr>
          <a:lstStyle/>
          <a:p>
            <a:pPr marL="0" indent="0">
              <a:buNone/>
            </a:pPr>
            <a:r>
              <a:rPr lang="zh-CN" altLang="en-US" dirty="0"/>
              <a:t>单个构件检测</a:t>
            </a:r>
            <a:endParaRPr lang="en-US" altLang="zh-CN" dirty="0"/>
          </a:p>
          <a:p>
            <a:r>
              <a:rPr lang="zh-CN" altLang="en-US" dirty="0"/>
              <a:t>标准或规范规定，验收规范、方法标准等有明确规定的</a:t>
            </a:r>
            <a:endParaRPr lang="en-US" altLang="zh-CN" dirty="0"/>
          </a:p>
          <a:p>
            <a:r>
              <a:rPr lang="zh-CN" altLang="en-US" dirty="0"/>
              <a:t>合同约定</a:t>
            </a:r>
            <a:endParaRPr lang="en-US" altLang="zh-CN" dirty="0"/>
          </a:p>
          <a:p>
            <a:r>
              <a:rPr lang="zh-CN" altLang="en-US" dirty="0"/>
              <a:t>委托方指定（委托方指定抽样数量，随机抽取）</a:t>
            </a:r>
            <a:endParaRPr lang="en-US" altLang="zh-CN" dirty="0"/>
          </a:p>
          <a:p>
            <a:r>
              <a:rPr lang="zh-CN" altLang="en-US" dirty="0"/>
              <a:t>委托方指定区域或部位</a:t>
            </a:r>
            <a:endParaRPr lang="en-US" altLang="zh-CN" dirty="0"/>
          </a:p>
          <a:p>
            <a:pPr marL="0" indent="0">
              <a:buNone/>
            </a:pPr>
            <a:r>
              <a:rPr lang="zh-CN" altLang="en-US" dirty="0"/>
              <a:t>按批件检测时，最少构件数量的确定方法</a:t>
            </a:r>
            <a:endParaRPr lang="en-US" altLang="zh-CN" dirty="0"/>
          </a:p>
          <a:p>
            <a:r>
              <a:rPr lang="zh-CN" altLang="en-US" dirty="0"/>
              <a:t>标准或规范规定按批进行抽样的（回弹法</a:t>
            </a:r>
            <a:r>
              <a:rPr lang="en-US" altLang="zh-CN" dirty="0"/>
              <a:t>30%</a:t>
            </a:r>
            <a:r>
              <a:rPr lang="zh-CN" altLang="en-US" dirty="0"/>
              <a:t>不少于</a:t>
            </a:r>
            <a:r>
              <a:rPr lang="en-US" altLang="zh-CN" dirty="0"/>
              <a:t>10</a:t>
            </a:r>
            <a:r>
              <a:rPr lang="zh-CN" altLang="en-US" dirty="0"/>
              <a:t>个）</a:t>
            </a:r>
            <a:endParaRPr lang="en-US" altLang="zh-CN" dirty="0"/>
          </a:p>
          <a:p>
            <a:r>
              <a:rPr lang="zh-CN" altLang="en-US" dirty="0"/>
              <a:t>最少构件数量</a:t>
            </a:r>
            <a:r>
              <a:rPr lang="en-US" altLang="zh-CN" dirty="0"/>
              <a:t>GB/T 50784-2013</a:t>
            </a:r>
            <a:r>
              <a:rPr lang="zh-CN" altLang="en-US" dirty="0"/>
              <a:t>表</a:t>
            </a:r>
            <a:r>
              <a:rPr lang="en-US" altLang="zh-CN" dirty="0"/>
              <a:t>3.4.4</a:t>
            </a:r>
          </a:p>
          <a:p>
            <a:r>
              <a:rPr lang="zh-CN" altLang="en-US" dirty="0"/>
              <a:t>不能使用</a:t>
            </a:r>
            <a:r>
              <a:rPr lang="en-US" altLang="zh-CN" dirty="0"/>
              <a:t>GB/T 50344-2019 </a:t>
            </a:r>
            <a:r>
              <a:rPr lang="zh-CN" altLang="en-US" dirty="0"/>
              <a:t>表</a:t>
            </a:r>
            <a:r>
              <a:rPr lang="en-US" altLang="zh-CN" dirty="0"/>
              <a:t>3.3.10</a:t>
            </a:r>
            <a:r>
              <a:rPr lang="zh-CN" altLang="en-US" dirty="0"/>
              <a:t>，</a:t>
            </a:r>
            <a:endParaRPr lang="en-US" altLang="zh-CN" dirty="0"/>
          </a:p>
          <a:p>
            <a:pPr marL="0" indent="0">
              <a:buNone/>
            </a:pPr>
            <a:r>
              <a:rPr lang="zh-CN" altLang="en-US" dirty="0"/>
              <a:t>   （仅适用于计数抽样检测，回弹法属于计量检测，所以不适用）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271465" y="1124744"/>
            <a:ext cx="8496944" cy="5189867"/>
          </a:xfrm>
          <a:prstGeom prst="rect">
            <a:avLst/>
          </a:prstGeom>
        </p:spPr>
      </p:pic>
      <p:sp>
        <p:nvSpPr>
          <p:cNvPr id="2" name="文本框 1"/>
          <p:cNvSpPr txBox="1"/>
          <p:nvPr/>
        </p:nvSpPr>
        <p:spPr>
          <a:xfrm>
            <a:off x="1199456" y="400922"/>
            <a:ext cx="4680520" cy="737574"/>
          </a:xfrm>
          <a:prstGeom prst="rect">
            <a:avLst/>
          </a:prstGeom>
          <a:noFill/>
        </p:spPr>
        <p:txBody>
          <a:bodyPr wrap="square" rtlCol="0">
            <a:spAutoFit/>
          </a:bodyPr>
          <a:lstStyle/>
          <a:p>
            <a:pPr>
              <a:lnSpc>
                <a:spcPct val="130000"/>
              </a:lnSpc>
            </a:pPr>
            <a:r>
              <a:rPr lang="en-US" altLang="zh-CN" sz="3600" dirty="0">
                <a:latin typeface="Arial" panose="020B0604020202020204" pitchFamily="34" charset="0"/>
                <a:ea typeface="微软雅黑" panose="020B0503020204020204" pitchFamily="34" charset="-122"/>
              </a:rPr>
              <a:t>GB/T 50784-2013</a:t>
            </a:r>
            <a:endParaRPr lang="zh-CN" altLang="en-US" sz="3600" dirty="0">
              <a:latin typeface="Arial" panose="020B0604020202020204" pitchFamily="34" charset="0"/>
              <a:ea typeface="微软雅黑" panose="020B0503020204020204" pitchFamily="34" charset="-122"/>
            </a:endParaRPr>
          </a:p>
        </p:txBody>
      </p:sp>
    </p:spTree>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p:cNvSpPr>
          <p:nvPr>
            <p:ph idx="1"/>
          </p:nvPr>
        </p:nvSpPr>
        <p:spPr>
          <a:xfrm>
            <a:off x="911424" y="832394"/>
            <a:ext cx="9361039" cy="4756846"/>
          </a:xfrm>
        </p:spPr>
        <p:txBody>
          <a:bodyPr vert="horz" wrap="square" lIns="91440" tIns="45720" rIns="91440" bIns="45720" anchor="t" anchorCtr="0"/>
          <a:lstStyle/>
          <a:p>
            <a:pPr eaLnBrk="1" hangingPunct="1">
              <a:lnSpc>
                <a:spcPct val="90000"/>
              </a:lnSpc>
              <a:buNone/>
            </a:pPr>
            <a:r>
              <a:rPr lang="en-US" altLang="zh-CN" sz="26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抽样方案选择的原则（</a:t>
            </a:r>
            <a:r>
              <a:rPr lang="en-US" altLang="zh-CN" sz="2600" dirty="0">
                <a:latin typeface="楷体_GB2312" pitchFamily="49" charset="-122"/>
                <a:ea typeface="楷体_GB2312" pitchFamily="49" charset="-122"/>
              </a:rPr>
              <a:t>GB/T 50344-2019 3.3</a:t>
            </a:r>
            <a:r>
              <a:rPr lang="zh-CN" altLang="en-US" sz="2600" dirty="0">
                <a:latin typeface="楷体_GB2312" pitchFamily="49" charset="-122"/>
                <a:ea typeface="楷体_GB2312" pitchFamily="49" charset="-122"/>
              </a:rPr>
              <a:t>节）</a:t>
            </a:r>
          </a:p>
          <a:p>
            <a:pPr eaLnBrk="1" hangingPunct="1">
              <a:lnSpc>
                <a:spcPct val="90000"/>
              </a:lnSpc>
              <a:buFont typeface="Wingdings" panose="05000000000000000000" pitchFamily="2" charset="2"/>
              <a:buNone/>
            </a:pPr>
            <a:r>
              <a:rPr lang="en-US" altLang="zh-CN" sz="2600" dirty="0">
                <a:latin typeface="楷体_GB2312" pitchFamily="49" charset="-122"/>
                <a:ea typeface="楷体_GB2312" pitchFamily="49" charset="-122"/>
              </a:rPr>
              <a:t> 1 </a:t>
            </a:r>
            <a:r>
              <a:rPr lang="zh-CN" altLang="en-US" sz="2600" dirty="0">
                <a:latin typeface="楷体_GB2312" pitchFamily="49" charset="-122"/>
                <a:ea typeface="楷体_GB2312" pitchFamily="49" charset="-122"/>
              </a:rPr>
              <a:t>外观缺陷检测，全数检测</a:t>
            </a:r>
          </a:p>
          <a:p>
            <a:pPr eaLnBrk="1" hangingPunct="1">
              <a:lnSpc>
                <a:spcPct val="90000"/>
              </a:lnSpc>
              <a:buFont typeface="Wingdings" panose="05000000000000000000" pitchFamily="2" charset="2"/>
              <a:buNone/>
            </a:pPr>
            <a:r>
              <a:rPr lang="zh-CN" altLang="en-US" sz="2600" dirty="0">
                <a:latin typeface="楷体_GB2312" pitchFamily="49" charset="-122"/>
                <a:ea typeface="楷体_GB2312" pitchFamily="49" charset="-122"/>
              </a:rPr>
              <a:t> </a:t>
            </a:r>
            <a:r>
              <a:rPr lang="en-US" altLang="zh-CN" sz="2600" dirty="0">
                <a:latin typeface="楷体_GB2312" pitchFamily="49" charset="-122"/>
                <a:ea typeface="楷体_GB2312" pitchFamily="49" charset="-122"/>
              </a:rPr>
              <a:t>2 </a:t>
            </a:r>
            <a:r>
              <a:rPr lang="zh-CN" altLang="en-US" sz="2600" dirty="0">
                <a:latin typeface="楷体_GB2312" pitchFamily="49" charset="-122"/>
                <a:ea typeface="楷体_GB2312" pitchFamily="49" charset="-122"/>
              </a:rPr>
              <a:t>几何尺寸与尺寸偏差检测，选用一次或二次读数抽样方案</a:t>
            </a:r>
          </a:p>
          <a:p>
            <a:pPr eaLnBrk="1" hangingPunct="1">
              <a:lnSpc>
                <a:spcPct val="90000"/>
              </a:lnSpc>
              <a:buFont typeface="Wingdings" panose="05000000000000000000" pitchFamily="2" charset="2"/>
              <a:buNone/>
            </a:pPr>
            <a:r>
              <a:rPr lang="zh-CN" altLang="en-US" sz="2600" dirty="0">
                <a:latin typeface="楷体_GB2312" pitchFamily="49" charset="-122"/>
                <a:ea typeface="楷体_GB2312" pitchFamily="49" charset="-122"/>
              </a:rPr>
              <a:t> </a:t>
            </a:r>
            <a:r>
              <a:rPr lang="en-US" altLang="zh-CN" sz="2600" dirty="0">
                <a:latin typeface="楷体_GB2312" pitchFamily="49" charset="-122"/>
                <a:ea typeface="楷体_GB2312" pitchFamily="49" charset="-122"/>
              </a:rPr>
              <a:t>3 </a:t>
            </a:r>
            <a:r>
              <a:rPr lang="zh-CN" altLang="en-US" sz="2600" dirty="0">
                <a:latin typeface="楷体_GB2312" pitchFamily="49" charset="-122"/>
                <a:ea typeface="楷体_GB2312" pitchFamily="49" charset="-122"/>
              </a:rPr>
              <a:t>结构连接构造的检测，选择重要部位</a:t>
            </a:r>
          </a:p>
          <a:p>
            <a:pPr eaLnBrk="1" hangingPunct="1">
              <a:lnSpc>
                <a:spcPct val="90000"/>
              </a:lnSpc>
              <a:buFont typeface="Wingdings" panose="05000000000000000000" pitchFamily="2" charset="2"/>
              <a:buNone/>
            </a:pPr>
            <a:r>
              <a:rPr lang="zh-CN" altLang="en-US" sz="2600" dirty="0">
                <a:latin typeface="楷体_GB2312" pitchFamily="49" charset="-122"/>
                <a:ea typeface="楷体_GB2312" pitchFamily="49" charset="-122"/>
              </a:rPr>
              <a:t> </a:t>
            </a:r>
            <a:r>
              <a:rPr lang="en-US" altLang="zh-CN" sz="2600" dirty="0">
                <a:latin typeface="楷体_GB2312" pitchFamily="49" charset="-122"/>
                <a:ea typeface="楷体_GB2312" pitchFamily="49" charset="-122"/>
              </a:rPr>
              <a:t>4 </a:t>
            </a:r>
            <a:r>
              <a:rPr lang="zh-CN" altLang="en-US" sz="2600" dirty="0">
                <a:latin typeface="楷体_GB2312" pitchFamily="49" charset="-122"/>
                <a:ea typeface="楷体_GB2312" pitchFamily="49" charset="-122"/>
              </a:rPr>
              <a:t>构件结构性能的实荷检测，重要部位</a:t>
            </a:r>
          </a:p>
          <a:p>
            <a:pPr eaLnBrk="1" hangingPunct="1">
              <a:lnSpc>
                <a:spcPct val="90000"/>
              </a:lnSpc>
              <a:buFont typeface="Wingdings" panose="05000000000000000000" pitchFamily="2" charset="2"/>
              <a:buNone/>
            </a:pPr>
            <a:r>
              <a:rPr lang="zh-CN" altLang="en-US" sz="2600" dirty="0">
                <a:latin typeface="楷体_GB2312" pitchFamily="49" charset="-122"/>
                <a:ea typeface="楷体_GB2312" pitchFamily="49" charset="-122"/>
              </a:rPr>
              <a:t> </a:t>
            </a:r>
            <a:r>
              <a:rPr lang="en-US" altLang="zh-CN" sz="2600" dirty="0">
                <a:latin typeface="楷体_GB2312" pitchFamily="49" charset="-122"/>
                <a:ea typeface="楷体_GB2312" pitchFamily="49" charset="-122"/>
              </a:rPr>
              <a:t>5 </a:t>
            </a:r>
            <a:r>
              <a:rPr lang="zh-CN" altLang="en-US" sz="2600" dirty="0">
                <a:latin typeface="楷体_GB2312" pitchFamily="49" charset="-122"/>
                <a:ea typeface="楷体_GB2312" pitchFamily="49" charset="-122"/>
              </a:rPr>
              <a:t>批检测项目，随机抽样，最小样本容量</a:t>
            </a:r>
          </a:p>
          <a:p>
            <a:pPr eaLnBrk="1" hangingPunct="1">
              <a:lnSpc>
                <a:spcPct val="90000"/>
              </a:lnSpc>
              <a:buFont typeface="Wingdings" panose="05000000000000000000" pitchFamily="2" charset="2"/>
              <a:buNone/>
            </a:pPr>
            <a:r>
              <a:rPr lang="zh-CN" altLang="en-US" sz="2600" dirty="0">
                <a:latin typeface="楷体_GB2312" pitchFamily="49" charset="-122"/>
                <a:ea typeface="楷体_GB2312" pitchFamily="49" charset="-122"/>
              </a:rPr>
              <a:t> </a:t>
            </a:r>
            <a:r>
              <a:rPr lang="en-US" altLang="zh-CN" sz="2600" dirty="0">
                <a:latin typeface="楷体_GB2312" pitchFamily="49" charset="-122"/>
                <a:ea typeface="楷体_GB2312" pitchFamily="49" charset="-122"/>
              </a:rPr>
              <a:t>6 </a:t>
            </a:r>
            <a:r>
              <a:rPr lang="zh-CN" altLang="en-US" sz="2600" dirty="0">
                <a:latin typeface="楷体_GB2312" pitchFamily="49" charset="-122"/>
                <a:ea typeface="楷体_GB2312" pitchFamily="49" charset="-122"/>
              </a:rPr>
              <a:t>其它施工质量验收规范</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文本占位符 2"/>
          <p:cNvSpPr>
            <a:spLocks noGrp="1"/>
          </p:cNvSpPr>
          <p:nvPr>
            <p:ph type="body" sz="half" idx="1"/>
          </p:nvPr>
        </p:nvSpPr>
        <p:spPr>
          <a:xfrm>
            <a:off x="1271447" y="908720"/>
            <a:ext cx="9649105" cy="4608512"/>
          </a:xfrm>
        </p:spPr>
        <p:txBody>
          <a:bodyPr vert="horz" wrap="square" lIns="91440" tIns="45720" rIns="91440" bIns="45720" anchor="t" anchorCtr="0">
            <a:normAutofit/>
          </a:bodyPr>
          <a:lstStyle/>
          <a:p>
            <a:pPr marL="0" indent="0" eaLnBrk="1" hangingPunct="1">
              <a:buClr>
                <a:schemeClr val="tx2"/>
              </a:buClr>
              <a:buSzPct val="50000"/>
              <a:buFont typeface="Wingdings 2" panose="05020102010507070707" pitchFamily="18" charset="2"/>
              <a:buNone/>
            </a:pPr>
            <a:r>
              <a:rPr lang="en-US" altLang="zh-CN" dirty="0"/>
              <a:t>4.</a:t>
            </a:r>
            <a:r>
              <a:rPr lang="zh-CN" altLang="en-US" dirty="0"/>
              <a:t>测区如何布置</a:t>
            </a:r>
            <a:endParaRPr lang="en-US" altLang="zh-CN" dirty="0"/>
          </a:p>
          <a:p>
            <a:pPr marL="0" indent="0" eaLnBrk="1" hangingPunct="1">
              <a:buClr>
                <a:schemeClr val="tx2"/>
              </a:buClr>
              <a:buSzPct val="50000"/>
              <a:buFont typeface="Wingdings 2" panose="05020102010507070707" pitchFamily="18" charset="2"/>
              <a:buNone/>
            </a:pPr>
            <a:r>
              <a:rPr lang="zh-CN" altLang="en-US" sz="2000" dirty="0"/>
              <a:t>表面处理：清洁干燥无污物</a:t>
            </a:r>
            <a:endParaRPr lang="en-US" altLang="zh-CN" sz="2000" dirty="0"/>
          </a:p>
          <a:p>
            <a:pPr marL="0" indent="0" eaLnBrk="1" hangingPunct="1">
              <a:buClr>
                <a:schemeClr val="tx2"/>
              </a:buClr>
              <a:buSzPct val="50000"/>
              <a:buFont typeface="Wingdings 2" panose="05020102010507070707" pitchFamily="18" charset="2"/>
              <a:buNone/>
            </a:pPr>
            <a:r>
              <a:rPr lang="zh-CN" altLang="en-US" sz="2000" dirty="0"/>
              <a:t>测区布置：</a:t>
            </a:r>
            <a:r>
              <a:rPr lang="en-US" altLang="zh-CN" sz="2000" dirty="0"/>
              <a:t>10</a:t>
            </a:r>
            <a:r>
              <a:rPr lang="zh-CN" altLang="en-US" sz="2000" dirty="0"/>
              <a:t>个或</a:t>
            </a:r>
            <a:r>
              <a:rPr lang="en-US" altLang="zh-CN" sz="2000" dirty="0"/>
              <a:t>5</a:t>
            </a:r>
            <a:r>
              <a:rPr lang="zh-CN" altLang="en-US" sz="2000" dirty="0"/>
              <a:t>个测区，均匀分布</a:t>
            </a:r>
            <a:endParaRPr lang="en-US" altLang="zh-CN" sz="2000" dirty="0"/>
          </a:p>
          <a:p>
            <a:pPr marL="0" indent="0" eaLnBrk="1" hangingPunct="1">
              <a:buClr>
                <a:schemeClr val="tx2"/>
              </a:buClr>
              <a:buSzPct val="50000"/>
              <a:buFont typeface="Wingdings 2" panose="05020102010507070707" pitchFamily="18" charset="2"/>
              <a:buNone/>
            </a:pPr>
            <a:r>
              <a:rPr lang="zh-CN" altLang="en-US" sz="2000" dirty="0"/>
              <a:t>测区大小：</a:t>
            </a:r>
            <a:r>
              <a:rPr lang="en-US" altLang="zh-CN" sz="2000" dirty="0"/>
              <a:t>20cm×20cm</a:t>
            </a:r>
            <a:r>
              <a:rPr lang="zh-CN" altLang="en-US" sz="2000" dirty="0"/>
              <a:t>，不小于</a:t>
            </a:r>
            <a:r>
              <a:rPr lang="en-US" altLang="zh-CN" sz="2000" dirty="0"/>
              <a:t>0.04</a:t>
            </a:r>
            <a:r>
              <a:rPr lang="zh-CN" altLang="en-US" sz="2000" dirty="0"/>
              <a:t>平方米</a:t>
            </a:r>
            <a:endParaRPr lang="en-US" altLang="zh-CN" sz="2000" dirty="0"/>
          </a:p>
          <a:p>
            <a:pPr marL="0" indent="0" eaLnBrk="1" hangingPunct="1">
              <a:buClr>
                <a:schemeClr val="tx2"/>
              </a:buClr>
              <a:buSzPct val="50000"/>
              <a:buFont typeface="Wingdings 2" panose="05020102010507070707" pitchFamily="18" charset="2"/>
              <a:buNone/>
            </a:pPr>
            <a:r>
              <a:rPr lang="zh-CN" altLang="en-US" sz="2000" dirty="0"/>
              <a:t>弹击面的选择：优先选侧面（墙、梁、柱）、</a:t>
            </a:r>
            <a:r>
              <a:rPr lang="en-US" altLang="zh-CN" sz="2000" dirty="0"/>
              <a:t> </a:t>
            </a:r>
            <a:r>
              <a:rPr lang="zh-CN" altLang="en-US" sz="2000" dirty="0"/>
              <a:t>板（优先选底面） </a:t>
            </a:r>
            <a:endParaRPr lang="en-US" altLang="zh-CN" sz="2000" dirty="0"/>
          </a:p>
          <a:p>
            <a:pPr marL="0" indent="0" eaLnBrk="1" hangingPunct="1">
              <a:buClr>
                <a:schemeClr val="tx2"/>
              </a:buClr>
              <a:buSzPct val="50000"/>
              <a:buFont typeface="Wingdings 2" panose="05020102010507070707" pitchFamily="18" charset="2"/>
              <a:buNone/>
            </a:pPr>
            <a:r>
              <a:rPr lang="zh-CN" altLang="en-US" sz="2000" dirty="0"/>
              <a:t>测区定位：首、末测区定位法</a:t>
            </a:r>
            <a:endParaRPr lang="en-US" altLang="zh-CN" sz="2000" dirty="0"/>
          </a:p>
          <a:p>
            <a:pPr marL="0" indent="0" eaLnBrk="1" hangingPunct="1">
              <a:buClr>
                <a:schemeClr val="tx2"/>
              </a:buClr>
              <a:buSzPct val="50000"/>
              <a:buFont typeface="Wingdings 2" panose="05020102010507070707" pitchFamily="18" charset="2"/>
              <a:buNone/>
            </a:pPr>
            <a:r>
              <a:rPr lang="zh-CN" altLang="en-US" sz="2000" dirty="0"/>
              <a:t>测区布置示意图：尺寸标注，距边缘距离（</a:t>
            </a:r>
            <a:r>
              <a:rPr lang="en-US" altLang="zh-CN" sz="2000" dirty="0"/>
              <a:t>0.2</a:t>
            </a:r>
            <a:r>
              <a:rPr lang="zh-CN" altLang="en-US" sz="2000" dirty="0">
                <a:latin typeface="宋体" panose="02010600030101010101" pitchFamily="2" charset="-122"/>
                <a:ea typeface="宋体" panose="02010600030101010101" pitchFamily="2" charset="-122"/>
              </a:rPr>
              <a:t>～</a:t>
            </a:r>
            <a:r>
              <a:rPr lang="en-US" altLang="zh-CN" sz="2000" dirty="0"/>
              <a:t>0.5m</a:t>
            </a:r>
            <a:r>
              <a:rPr lang="zh-CN" altLang="en-US" sz="2000" dirty="0"/>
              <a:t>），测区间距离（不大于</a:t>
            </a:r>
            <a:r>
              <a:rPr lang="en-US" altLang="zh-CN" sz="2000" dirty="0"/>
              <a:t>2m</a:t>
            </a:r>
            <a:r>
              <a:rPr lang="zh-CN" altLang="en-US" sz="2000" dirty="0"/>
              <a:t>）</a:t>
            </a:r>
            <a:endParaRPr lang="en-US" altLang="zh-CN" sz="2000" dirty="0"/>
          </a:p>
          <a:p>
            <a:pPr marL="0" indent="0" eaLnBrk="1" hangingPunct="1">
              <a:buClr>
                <a:schemeClr val="tx2"/>
              </a:buClr>
              <a:buSzPct val="50000"/>
              <a:buFont typeface="Wingdings 2" panose="05020102010507070707" pitchFamily="18" charset="2"/>
              <a:buNone/>
            </a:pPr>
            <a:r>
              <a:rPr lang="zh-CN" altLang="en-US" sz="2000" dirty="0"/>
              <a:t>回弹：匀速弹击、同一点不重复、测点均匀分布、避开蜂窝麻面和预埋件部位</a:t>
            </a:r>
            <a:endParaRPr lang="en-US" altLang="zh-CN" sz="2000" dirty="0"/>
          </a:p>
          <a:p>
            <a:pPr marL="0" indent="0" eaLnBrk="1" hangingPunct="1">
              <a:buClr>
                <a:schemeClr val="tx2"/>
              </a:buClr>
              <a:buSzPct val="50000"/>
              <a:buFont typeface="Wingdings 2" panose="05020102010507070707" pitchFamily="18" charset="2"/>
              <a:buNone/>
            </a:pPr>
            <a:endParaRPr lang="zh-CN" altLang="en-US" sz="2400" dirty="0"/>
          </a:p>
        </p:txBody>
      </p:sp>
    </p:spTree>
  </p:cSld>
  <p:clrMapOvr>
    <a:masterClrMapping/>
  </p:clrMapOvr>
  <p:transition spd="slow">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占位符 2"/>
          <p:cNvSpPr>
            <a:spLocks noGrp="1"/>
          </p:cNvSpPr>
          <p:nvPr>
            <p:ph type="body" sz="half" idx="1"/>
          </p:nvPr>
        </p:nvSpPr>
        <p:spPr>
          <a:xfrm>
            <a:off x="1559560" y="980440"/>
            <a:ext cx="10365105" cy="4693920"/>
          </a:xfrm>
        </p:spPr>
        <p:txBody>
          <a:bodyPr vert="horz" wrap="square" lIns="91440" tIns="45720" rIns="91440" bIns="45720" anchor="t" anchorCtr="0">
            <a:normAutofit/>
          </a:bodyPr>
          <a:lstStyle/>
          <a:p>
            <a:pPr marL="0" indent="0">
              <a:buClr>
                <a:schemeClr val="tx2"/>
              </a:buClr>
              <a:buSzPct val="50000"/>
              <a:buFont typeface="Wingdings 2" panose="05020102010507070707" pitchFamily="18" charset="2"/>
              <a:buNone/>
            </a:pPr>
            <a:r>
              <a:rPr lang="zh-CN" altLang="en-US" dirty="0"/>
              <a:t>行业标准</a:t>
            </a:r>
            <a:r>
              <a:rPr lang="en-US" altLang="zh-CN" dirty="0"/>
              <a:t>JGJ 23-2011</a:t>
            </a:r>
            <a:r>
              <a:rPr lang="zh-CN" altLang="en-US" dirty="0"/>
              <a:t>第</a:t>
            </a:r>
            <a:r>
              <a:rPr lang="en-US" altLang="zh-CN" dirty="0"/>
              <a:t>4.4.1</a:t>
            </a:r>
            <a:r>
              <a:rPr lang="zh-CN" altLang="en-US" dirty="0"/>
              <a:t>条规定的理解</a:t>
            </a:r>
            <a:endParaRPr lang="en-US" altLang="zh-CN" dirty="0"/>
          </a:p>
          <a:p>
            <a:pPr marL="0" indent="0">
              <a:buClr>
                <a:schemeClr val="tx2"/>
              </a:buClr>
              <a:buSzPct val="50000"/>
              <a:buFont typeface="Wingdings 2" panose="05020102010507070707" pitchFamily="18" charset="2"/>
              <a:buNone/>
            </a:pPr>
            <a:r>
              <a:rPr lang="zh-CN" altLang="en-US" sz="3200" dirty="0">
                <a:solidFill>
                  <a:srgbClr val="FF0000"/>
                </a:solidFill>
              </a:rPr>
              <a:t>    检测泵送混凝土时，测区应选在混凝土浇筑侧面</a:t>
            </a:r>
            <a:endParaRPr lang="en-US" altLang="zh-CN" sz="3200" dirty="0">
              <a:solidFill>
                <a:srgbClr val="FF0000"/>
              </a:solidFill>
            </a:endParaRPr>
          </a:p>
          <a:p>
            <a:pPr marL="0" indent="0">
              <a:buClr>
                <a:schemeClr val="tx2"/>
              </a:buClr>
              <a:buSzPct val="50000"/>
              <a:buFont typeface="Wingdings 2" panose="05020102010507070707" pitchFamily="18" charset="2"/>
              <a:buNone/>
            </a:pPr>
            <a:r>
              <a:rPr lang="zh-CN" altLang="en-US" sz="2400" dirty="0"/>
              <a:t>理解为：</a:t>
            </a:r>
            <a:endParaRPr lang="en-US" altLang="zh-CN" sz="2400" dirty="0"/>
          </a:p>
          <a:p>
            <a:pPr marL="0" indent="0">
              <a:buClr>
                <a:schemeClr val="tx2"/>
              </a:buClr>
              <a:buSzPct val="50000"/>
              <a:buFont typeface="Wingdings 2" panose="05020102010507070707" pitchFamily="18" charset="2"/>
              <a:buNone/>
            </a:pPr>
            <a:r>
              <a:rPr lang="en-US" altLang="zh-CN" sz="2400" dirty="0"/>
              <a:t>        </a:t>
            </a:r>
            <a:r>
              <a:rPr lang="zh-CN" altLang="en-US" sz="2400" dirty="0"/>
              <a:t>梁类构件：必须选用侧面</a:t>
            </a:r>
            <a:endParaRPr lang="en-US" altLang="zh-CN" sz="2400" dirty="0"/>
          </a:p>
          <a:p>
            <a:pPr marL="0" indent="0">
              <a:buClr>
                <a:schemeClr val="tx2"/>
              </a:buClr>
              <a:buSzPct val="50000"/>
              <a:buFont typeface="Wingdings 2" panose="05020102010507070707" pitchFamily="18" charset="2"/>
              <a:buNone/>
            </a:pPr>
            <a:r>
              <a:rPr lang="en-US" altLang="zh-CN" sz="2400" dirty="0"/>
              <a:t>        </a:t>
            </a:r>
            <a:r>
              <a:rPr lang="zh-CN" altLang="en-US" sz="2400" dirty="0"/>
              <a:t>板类构件：不适用。可以选用其它标准或底面（表面）回弹后再用芯样或同条件试块进行修正，如果没有修正，结果无效。</a:t>
            </a:r>
            <a:endParaRPr lang="en-US" altLang="zh-CN" sz="2400" dirty="0"/>
          </a:p>
          <a:p>
            <a:pPr marL="0" indent="0">
              <a:buClr>
                <a:schemeClr val="tx2"/>
              </a:buClr>
              <a:buSzPct val="50000"/>
              <a:buFont typeface="Wingdings 2" panose="05020102010507070707" pitchFamily="18" charset="2"/>
              <a:buNone/>
            </a:pPr>
            <a:r>
              <a:rPr lang="zh-CN" altLang="en-US" sz="2400" dirty="0">
                <a:solidFill>
                  <a:srgbClr val="FF0000"/>
                </a:solidFill>
              </a:rPr>
              <a:t>问题：底面（表面）回弹后，是否需要先进行角度、浇筑面修正，然后再进行</a:t>
            </a:r>
            <a:r>
              <a:rPr lang="zh-CN" altLang="en-US" dirty="0">
                <a:solidFill>
                  <a:srgbClr val="FF0000"/>
                </a:solidFill>
                <a:sym typeface="+mn-ea"/>
              </a:rPr>
              <a:t>钻芯修正？</a:t>
            </a:r>
          </a:p>
        </p:txBody>
      </p:sp>
    </p:spTree>
  </p:cSld>
  <p:clrMapOvr>
    <a:masterClrMapping/>
  </p:clrMapOvr>
  <p:transition spd="slow">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2201863" y="620713"/>
            <a:ext cx="7926387" cy="774700"/>
          </a:xfrm>
        </p:spPr>
        <p:txBody>
          <a:bodyPr vert="horz" wrap="square" lIns="91440" tIns="45720" rIns="91440" bIns="45720" anchor="ctr" anchorCtr="0"/>
          <a:lstStyle/>
          <a:p>
            <a:pPr algn="l" eaLnBrk="1" hangingPunct="1"/>
            <a:r>
              <a:rPr lang="zh-CN" altLang="en-US" sz="2800" dirty="0"/>
              <a:t>墙板类构件测区分布示意图</a:t>
            </a:r>
          </a:p>
        </p:txBody>
      </p:sp>
      <p:sp>
        <p:nvSpPr>
          <p:cNvPr id="55299" name="文本占位符 2"/>
          <p:cNvSpPr>
            <a:spLocks noGrp="1"/>
          </p:cNvSpPr>
          <p:nvPr>
            <p:ph type="body" sz="half" idx="1"/>
          </p:nvPr>
        </p:nvSpPr>
        <p:spPr>
          <a:xfrm>
            <a:off x="2424113" y="1844675"/>
            <a:ext cx="3887787" cy="3262313"/>
          </a:xfrm>
        </p:spPr>
        <p:txBody>
          <a:bodyPr vert="horz" wrap="square" lIns="91440" tIns="45720" rIns="91440" bIns="45720" anchor="t" anchorCtr="0"/>
          <a:lstStyle/>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p:txBody>
      </p:sp>
      <p:sp>
        <p:nvSpPr>
          <p:cNvPr id="2" name="矩形 1"/>
          <p:cNvSpPr/>
          <p:nvPr/>
        </p:nvSpPr>
        <p:spPr>
          <a:xfrm>
            <a:off x="2204085" y="1635125"/>
            <a:ext cx="6876415" cy="41236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矩形 2"/>
          <p:cNvSpPr/>
          <p:nvPr/>
        </p:nvSpPr>
        <p:spPr>
          <a:xfrm>
            <a:off x="6713538" y="263683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359593" y="357346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6704648" y="357219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4355783" y="449611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5509578" y="450881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6662420" y="4504690"/>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5580063" y="263683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7758748" y="263683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5486718" y="357346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3359785" y="450881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5311" name="TextBox 4"/>
          <p:cNvSpPr txBox="1"/>
          <p:nvPr/>
        </p:nvSpPr>
        <p:spPr>
          <a:xfrm>
            <a:off x="5523230" y="227711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8</a:t>
            </a:r>
            <a:endParaRPr lang="zh-CN" altLang="en-US" dirty="0">
              <a:latin typeface="宋体" panose="02010600030101010101" pitchFamily="2" charset="-122"/>
              <a:ea typeface="宋体" panose="02010600030101010101" pitchFamily="2" charset="-122"/>
            </a:endParaRPr>
          </a:p>
        </p:txBody>
      </p:sp>
      <p:sp>
        <p:nvSpPr>
          <p:cNvPr id="55321" name="TextBox 49"/>
          <p:cNvSpPr txBox="1"/>
          <p:nvPr/>
        </p:nvSpPr>
        <p:spPr>
          <a:xfrm>
            <a:off x="7104063" y="206216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55322" name="TextBox 53"/>
          <p:cNvSpPr txBox="1"/>
          <p:nvPr/>
        </p:nvSpPr>
        <p:spPr>
          <a:xfrm>
            <a:off x="7094538" y="210661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17" name="TextBox 4"/>
          <p:cNvSpPr txBox="1"/>
          <p:nvPr/>
        </p:nvSpPr>
        <p:spPr>
          <a:xfrm>
            <a:off x="6678930" y="227711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9</a:t>
            </a:r>
            <a:endParaRPr lang="zh-CN" altLang="en-US" dirty="0">
              <a:latin typeface="宋体" panose="02010600030101010101" pitchFamily="2" charset="-122"/>
              <a:ea typeface="宋体" panose="02010600030101010101" pitchFamily="2" charset="-122"/>
            </a:endParaRPr>
          </a:p>
        </p:txBody>
      </p:sp>
      <p:sp>
        <p:nvSpPr>
          <p:cNvPr id="18" name="TextBox 4"/>
          <p:cNvSpPr txBox="1"/>
          <p:nvPr/>
        </p:nvSpPr>
        <p:spPr>
          <a:xfrm>
            <a:off x="7603490" y="2289175"/>
            <a:ext cx="597535"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10</a:t>
            </a:r>
            <a:endParaRPr lang="zh-CN" altLang="en-US" dirty="0">
              <a:latin typeface="宋体" panose="02010600030101010101" pitchFamily="2" charset="-122"/>
              <a:ea typeface="宋体" panose="02010600030101010101" pitchFamily="2" charset="-122"/>
            </a:endParaRPr>
          </a:p>
        </p:txBody>
      </p:sp>
      <p:sp>
        <p:nvSpPr>
          <p:cNvPr id="19" name="TextBox 4"/>
          <p:cNvSpPr txBox="1"/>
          <p:nvPr/>
        </p:nvSpPr>
        <p:spPr>
          <a:xfrm>
            <a:off x="4328160" y="3197225"/>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5</a:t>
            </a:r>
            <a:endParaRPr lang="zh-CN" altLang="en-US" dirty="0">
              <a:latin typeface="宋体" panose="02010600030101010101" pitchFamily="2" charset="-122"/>
              <a:ea typeface="宋体" panose="02010600030101010101" pitchFamily="2" charset="-122"/>
            </a:endParaRPr>
          </a:p>
        </p:txBody>
      </p:sp>
      <p:sp>
        <p:nvSpPr>
          <p:cNvPr id="20" name="TextBox 4"/>
          <p:cNvSpPr txBox="1"/>
          <p:nvPr/>
        </p:nvSpPr>
        <p:spPr>
          <a:xfrm>
            <a:off x="5465445" y="3193415"/>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6</a:t>
            </a:r>
            <a:endParaRPr lang="zh-CN" altLang="en-US" dirty="0">
              <a:latin typeface="宋体" panose="02010600030101010101" pitchFamily="2" charset="-122"/>
              <a:ea typeface="宋体" panose="02010600030101010101" pitchFamily="2" charset="-122"/>
            </a:endParaRPr>
          </a:p>
        </p:txBody>
      </p:sp>
      <p:sp>
        <p:nvSpPr>
          <p:cNvPr id="21" name="TextBox 4"/>
          <p:cNvSpPr txBox="1"/>
          <p:nvPr/>
        </p:nvSpPr>
        <p:spPr>
          <a:xfrm>
            <a:off x="6713855" y="3213735"/>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7</a:t>
            </a:r>
            <a:endParaRPr lang="zh-CN" altLang="en-US" dirty="0">
              <a:latin typeface="宋体" panose="02010600030101010101" pitchFamily="2" charset="-122"/>
              <a:ea typeface="宋体" panose="02010600030101010101" pitchFamily="2" charset="-122"/>
            </a:endParaRPr>
          </a:p>
        </p:txBody>
      </p:sp>
      <p:sp>
        <p:nvSpPr>
          <p:cNvPr id="22" name="TextBox 4"/>
          <p:cNvSpPr txBox="1"/>
          <p:nvPr/>
        </p:nvSpPr>
        <p:spPr>
          <a:xfrm>
            <a:off x="3368040" y="4110355"/>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p:txBody>
      </p:sp>
      <p:sp>
        <p:nvSpPr>
          <p:cNvPr id="23" name="TextBox 4"/>
          <p:cNvSpPr txBox="1"/>
          <p:nvPr/>
        </p:nvSpPr>
        <p:spPr>
          <a:xfrm>
            <a:off x="4337050" y="409194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2</a:t>
            </a:r>
            <a:endParaRPr lang="zh-CN" altLang="en-US" dirty="0">
              <a:latin typeface="宋体" panose="02010600030101010101" pitchFamily="2" charset="-122"/>
              <a:ea typeface="宋体" panose="02010600030101010101" pitchFamily="2" charset="-122"/>
            </a:endParaRPr>
          </a:p>
        </p:txBody>
      </p:sp>
      <p:sp>
        <p:nvSpPr>
          <p:cNvPr id="24" name="TextBox 4"/>
          <p:cNvSpPr txBox="1"/>
          <p:nvPr/>
        </p:nvSpPr>
        <p:spPr>
          <a:xfrm>
            <a:off x="5487035" y="409194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p:txBody>
      </p:sp>
      <p:sp>
        <p:nvSpPr>
          <p:cNvPr id="25" name="TextBox 4"/>
          <p:cNvSpPr txBox="1"/>
          <p:nvPr/>
        </p:nvSpPr>
        <p:spPr>
          <a:xfrm>
            <a:off x="6661785" y="409194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4</a:t>
            </a:r>
            <a:endParaRPr lang="zh-CN" altLang="en-US" dirty="0">
              <a:latin typeface="宋体" panose="02010600030101010101" pitchFamily="2" charset="-122"/>
              <a:ea typeface="宋体" panose="02010600030101010101" pitchFamily="2" charset="-122"/>
            </a:endParaRPr>
          </a:p>
        </p:txBody>
      </p:sp>
      <p:cxnSp>
        <p:nvCxnSpPr>
          <p:cNvPr id="26" name="直接箭头连接符 25"/>
          <p:cNvCxnSpPr/>
          <p:nvPr/>
        </p:nvCxnSpPr>
        <p:spPr>
          <a:xfrm>
            <a:off x="2495233" y="4652963"/>
            <a:ext cx="71596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111808" y="2779713"/>
            <a:ext cx="71596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H="1" flipV="1">
            <a:off x="3504248" y="4892993"/>
            <a:ext cx="0" cy="8366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flipV="1">
            <a:off x="8111173" y="1700213"/>
            <a:ext cx="0" cy="8366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V="1">
            <a:off x="7391718" y="3859531"/>
            <a:ext cx="0" cy="57658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3648710" y="4652963"/>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4668520" y="4666321"/>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5851525" y="4656051"/>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2254" name="TextBox 21"/>
          <p:cNvSpPr txBox="1"/>
          <p:nvPr/>
        </p:nvSpPr>
        <p:spPr>
          <a:xfrm>
            <a:off x="2309495" y="4303395"/>
            <a:ext cx="1339215" cy="349885"/>
          </a:xfrm>
          <a:prstGeom prst="rect">
            <a:avLst/>
          </a:prstGeom>
          <a:noFill/>
          <a:ln w="9525">
            <a:noFill/>
          </a:ln>
        </p:spPr>
        <p:txBody>
          <a:bodyPr>
            <a:no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sp>
        <p:nvSpPr>
          <p:cNvPr id="34" name="TextBox 21"/>
          <p:cNvSpPr txBox="1"/>
          <p:nvPr/>
        </p:nvSpPr>
        <p:spPr>
          <a:xfrm>
            <a:off x="7967980" y="2896235"/>
            <a:ext cx="1339215" cy="349885"/>
          </a:xfrm>
          <a:prstGeom prst="rect">
            <a:avLst/>
          </a:prstGeom>
          <a:noFill/>
          <a:ln w="9525">
            <a:noFill/>
          </a:ln>
        </p:spPr>
        <p:txBody>
          <a:bodyPr>
            <a:no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sp>
        <p:nvSpPr>
          <p:cNvPr id="35" name="TextBox 21"/>
          <p:cNvSpPr txBox="1"/>
          <p:nvPr/>
        </p:nvSpPr>
        <p:spPr>
          <a:xfrm>
            <a:off x="4584384" y="4982370"/>
            <a:ext cx="1141095" cy="349885"/>
          </a:xfrm>
          <a:prstGeom prst="rect">
            <a:avLst/>
          </a:prstGeom>
          <a:noFill/>
          <a:ln w="9525">
            <a:noFill/>
          </a:ln>
        </p:spPr>
        <p:txBody>
          <a:bodyPr>
            <a:noAutofit/>
          </a:bodyPr>
          <a:lstStyle/>
          <a:p>
            <a:r>
              <a:rPr 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小于</a:t>
            </a:r>
            <a:r>
              <a:rPr lang="en-US" alt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2.0m</a:t>
            </a:r>
          </a:p>
        </p:txBody>
      </p:sp>
      <p:sp>
        <p:nvSpPr>
          <p:cNvPr id="36" name="TextBox 21"/>
          <p:cNvSpPr txBox="1"/>
          <p:nvPr/>
        </p:nvSpPr>
        <p:spPr>
          <a:xfrm>
            <a:off x="7464425" y="4004945"/>
            <a:ext cx="1339215" cy="349885"/>
          </a:xfrm>
          <a:prstGeom prst="rect">
            <a:avLst/>
          </a:prstGeom>
          <a:noFill/>
          <a:ln w="9525">
            <a:noFill/>
          </a:ln>
        </p:spPr>
        <p:txBody>
          <a:bodyPr>
            <a:noAutofit/>
          </a:bodyPr>
          <a:lstStyle/>
          <a:p>
            <a:r>
              <a:rPr 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小于</a:t>
            </a:r>
            <a:r>
              <a:rPr lang="en-US" alt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2.0m</a:t>
            </a:r>
          </a:p>
        </p:txBody>
      </p:sp>
      <p:sp>
        <p:nvSpPr>
          <p:cNvPr id="37" name="TextBox 21"/>
          <p:cNvSpPr txBox="1"/>
          <p:nvPr/>
        </p:nvSpPr>
        <p:spPr>
          <a:xfrm>
            <a:off x="7010400" y="1787525"/>
            <a:ext cx="1339215" cy="349885"/>
          </a:xfrm>
          <a:prstGeom prst="rect">
            <a:avLst/>
          </a:prstGeom>
          <a:noFill/>
          <a:ln w="9525">
            <a:noFill/>
          </a:ln>
        </p:spPr>
        <p:txBody>
          <a:bodyPr>
            <a:no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cxnSp>
        <p:nvCxnSpPr>
          <p:cNvPr id="42" name="直接箭头连接符 41"/>
          <p:cNvCxnSpPr/>
          <p:nvPr/>
        </p:nvCxnSpPr>
        <p:spPr>
          <a:xfrm flipV="1">
            <a:off x="5464810" y="2943861"/>
            <a:ext cx="635" cy="58293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3" name="TextBox 21"/>
          <p:cNvSpPr txBox="1"/>
          <p:nvPr/>
        </p:nvSpPr>
        <p:spPr>
          <a:xfrm>
            <a:off x="4303077" y="2943861"/>
            <a:ext cx="1339215" cy="349885"/>
          </a:xfrm>
          <a:prstGeom prst="rect">
            <a:avLst/>
          </a:prstGeom>
          <a:noFill/>
          <a:ln w="9525">
            <a:noFill/>
          </a:ln>
        </p:spPr>
        <p:txBody>
          <a:bodyPr>
            <a:noAutofit/>
          </a:bodyPr>
          <a:lstStyle/>
          <a:p>
            <a:r>
              <a:rPr 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小于</a:t>
            </a:r>
            <a:r>
              <a:rPr lang="en-US" alt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2.0m</a:t>
            </a:r>
          </a:p>
        </p:txBody>
      </p:sp>
      <p:cxnSp>
        <p:nvCxnSpPr>
          <p:cNvPr id="45" name="直接箭头连接符 44"/>
          <p:cNvCxnSpPr/>
          <p:nvPr/>
        </p:nvCxnSpPr>
        <p:spPr>
          <a:xfrm>
            <a:off x="2201863" y="5948998"/>
            <a:ext cx="6918325"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1990408" y="1628776"/>
            <a:ext cx="635" cy="412940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a:off x="4729162" y="3710623"/>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5796915" y="3715862"/>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5962332" y="2787175"/>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7042785" y="2803368"/>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2201863" y="620713"/>
            <a:ext cx="7926387" cy="774700"/>
          </a:xfrm>
        </p:spPr>
        <p:txBody>
          <a:bodyPr vert="horz" wrap="square" lIns="91440" tIns="45720" rIns="91440" bIns="45720" anchor="ctr" anchorCtr="0"/>
          <a:lstStyle/>
          <a:p>
            <a:pPr algn="l" eaLnBrk="1" hangingPunct="1"/>
            <a:r>
              <a:rPr lang="zh-CN" altLang="en-US" sz="2800" dirty="0"/>
              <a:t>墙、板类构件测区分布示意图</a:t>
            </a:r>
          </a:p>
        </p:txBody>
      </p:sp>
      <p:sp>
        <p:nvSpPr>
          <p:cNvPr id="2" name="矩形 1"/>
          <p:cNvSpPr/>
          <p:nvPr/>
        </p:nvSpPr>
        <p:spPr>
          <a:xfrm>
            <a:off x="2162175" y="2343150"/>
            <a:ext cx="7389813" cy="3606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矩形 2"/>
          <p:cNvSpPr/>
          <p:nvPr/>
        </p:nvSpPr>
        <p:spPr>
          <a:xfrm>
            <a:off x="3707606" y="3062451"/>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5071347" y="3062451"/>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5157752" y="4756150"/>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2981325" y="3051175"/>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4375944" y="3062451"/>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5845918" y="307097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5932806" y="4773613"/>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2235" name="TextBox 4"/>
          <p:cNvSpPr txBox="1"/>
          <p:nvPr/>
        </p:nvSpPr>
        <p:spPr>
          <a:xfrm>
            <a:off x="3024188" y="2627313"/>
            <a:ext cx="144462" cy="368300"/>
          </a:xfrm>
          <a:prstGeom prst="rect">
            <a:avLst/>
          </a:prstGeom>
          <a:noFill/>
          <a:ln w="9525">
            <a:noFill/>
          </a:ln>
        </p:spPr>
        <p:txBody>
          <a:bodyPr>
            <a:spAutoFit/>
          </a:bodyPr>
          <a:lstStyle/>
          <a:p>
            <a:r>
              <a:rPr lang="en-US" altLang="zh-CN" dirty="0">
                <a:latin typeface="Calibri" panose="020F0502020204030204" pitchFamily="34" charset="0"/>
              </a:rPr>
              <a:t>1</a:t>
            </a:r>
            <a:endParaRPr lang="zh-CN" altLang="en-US" dirty="0">
              <a:latin typeface="Calibri" panose="020F0502020204030204" pitchFamily="34" charset="0"/>
            </a:endParaRPr>
          </a:p>
        </p:txBody>
      </p:sp>
      <p:sp>
        <p:nvSpPr>
          <p:cNvPr id="52236" name="TextBox 16"/>
          <p:cNvSpPr txBox="1"/>
          <p:nvPr/>
        </p:nvSpPr>
        <p:spPr>
          <a:xfrm>
            <a:off x="3779044" y="2622714"/>
            <a:ext cx="144462" cy="368300"/>
          </a:xfrm>
          <a:prstGeom prst="rect">
            <a:avLst/>
          </a:prstGeom>
          <a:noFill/>
          <a:ln w="9525">
            <a:noFill/>
          </a:ln>
        </p:spPr>
        <p:txBody>
          <a:bodyPr>
            <a:spAutoFit/>
          </a:bodyPr>
          <a:lstStyle/>
          <a:p>
            <a:r>
              <a:rPr lang="en-US" altLang="zh-CN" dirty="0">
                <a:latin typeface="Calibri" panose="020F0502020204030204" pitchFamily="34" charset="0"/>
              </a:rPr>
              <a:t>2</a:t>
            </a:r>
            <a:endParaRPr lang="zh-CN" altLang="en-US" dirty="0">
              <a:latin typeface="Calibri" panose="020F0502020204030204" pitchFamily="34" charset="0"/>
            </a:endParaRPr>
          </a:p>
        </p:txBody>
      </p:sp>
      <p:sp>
        <p:nvSpPr>
          <p:cNvPr id="52237" name="TextBox 18"/>
          <p:cNvSpPr txBox="1"/>
          <p:nvPr/>
        </p:nvSpPr>
        <p:spPr>
          <a:xfrm>
            <a:off x="4448969" y="2633826"/>
            <a:ext cx="142875" cy="368300"/>
          </a:xfrm>
          <a:prstGeom prst="rect">
            <a:avLst/>
          </a:prstGeom>
          <a:noFill/>
          <a:ln w="9525">
            <a:noFill/>
          </a:ln>
        </p:spPr>
        <p:txBody>
          <a:bodyPr>
            <a:spAutoFit/>
          </a:bodyPr>
          <a:lstStyle/>
          <a:p>
            <a:r>
              <a:rPr lang="en-US" altLang="zh-CN" dirty="0">
                <a:latin typeface="Calibri" panose="020F0502020204030204" pitchFamily="34" charset="0"/>
              </a:rPr>
              <a:t>3</a:t>
            </a:r>
            <a:endParaRPr lang="zh-CN" altLang="en-US" dirty="0">
              <a:latin typeface="Calibri" panose="020F0502020204030204" pitchFamily="34" charset="0"/>
            </a:endParaRPr>
          </a:p>
        </p:txBody>
      </p:sp>
      <p:sp>
        <p:nvSpPr>
          <p:cNvPr id="52238" name="TextBox 19"/>
          <p:cNvSpPr txBox="1"/>
          <p:nvPr/>
        </p:nvSpPr>
        <p:spPr>
          <a:xfrm>
            <a:off x="5130085" y="2670339"/>
            <a:ext cx="142875" cy="368300"/>
          </a:xfrm>
          <a:prstGeom prst="rect">
            <a:avLst/>
          </a:prstGeom>
          <a:noFill/>
          <a:ln w="9525">
            <a:noFill/>
          </a:ln>
        </p:spPr>
        <p:txBody>
          <a:bodyPr>
            <a:spAutoFit/>
          </a:bodyPr>
          <a:lstStyle/>
          <a:p>
            <a:r>
              <a:rPr lang="en-US" altLang="zh-CN" dirty="0">
                <a:latin typeface="Calibri" panose="020F0502020204030204" pitchFamily="34" charset="0"/>
              </a:rPr>
              <a:t>4</a:t>
            </a:r>
            <a:endParaRPr lang="zh-CN" altLang="en-US" dirty="0">
              <a:latin typeface="Calibri" panose="020F0502020204030204" pitchFamily="34" charset="0"/>
            </a:endParaRPr>
          </a:p>
        </p:txBody>
      </p:sp>
      <p:sp>
        <p:nvSpPr>
          <p:cNvPr id="52239" name="TextBox 20"/>
          <p:cNvSpPr txBox="1"/>
          <p:nvPr/>
        </p:nvSpPr>
        <p:spPr>
          <a:xfrm>
            <a:off x="5884863" y="2674162"/>
            <a:ext cx="144462" cy="368300"/>
          </a:xfrm>
          <a:prstGeom prst="rect">
            <a:avLst/>
          </a:prstGeom>
          <a:noFill/>
          <a:ln w="9525">
            <a:noFill/>
          </a:ln>
        </p:spPr>
        <p:txBody>
          <a:bodyPr>
            <a:spAutoFit/>
          </a:bodyPr>
          <a:lstStyle/>
          <a:p>
            <a:r>
              <a:rPr lang="en-US" altLang="zh-CN" dirty="0">
                <a:latin typeface="Calibri" panose="020F0502020204030204" pitchFamily="34" charset="0"/>
              </a:rPr>
              <a:t>5</a:t>
            </a:r>
            <a:endParaRPr lang="zh-CN" altLang="en-US" dirty="0">
              <a:latin typeface="Calibri" panose="020F0502020204030204" pitchFamily="34" charset="0"/>
            </a:endParaRPr>
          </a:p>
        </p:txBody>
      </p:sp>
      <p:sp>
        <p:nvSpPr>
          <p:cNvPr id="52240" name="TextBox 21"/>
          <p:cNvSpPr txBox="1"/>
          <p:nvPr/>
        </p:nvSpPr>
        <p:spPr>
          <a:xfrm>
            <a:off x="5126002" y="4335463"/>
            <a:ext cx="142875" cy="368300"/>
          </a:xfrm>
          <a:prstGeom prst="rect">
            <a:avLst/>
          </a:prstGeom>
          <a:noFill/>
          <a:ln w="9525">
            <a:noFill/>
          </a:ln>
        </p:spPr>
        <p:txBody>
          <a:bodyPr>
            <a:spAutoFit/>
          </a:bodyPr>
          <a:lstStyle/>
          <a:p>
            <a:r>
              <a:rPr lang="en-US" altLang="zh-CN" dirty="0">
                <a:latin typeface="Calibri" panose="020F0502020204030204" pitchFamily="34" charset="0"/>
              </a:rPr>
              <a:t>6</a:t>
            </a:r>
            <a:endParaRPr lang="zh-CN" altLang="en-US" dirty="0">
              <a:latin typeface="Calibri" panose="020F0502020204030204" pitchFamily="34" charset="0"/>
            </a:endParaRPr>
          </a:p>
        </p:txBody>
      </p:sp>
      <p:sp>
        <p:nvSpPr>
          <p:cNvPr id="52241" name="TextBox 22"/>
          <p:cNvSpPr txBox="1"/>
          <p:nvPr/>
        </p:nvSpPr>
        <p:spPr>
          <a:xfrm>
            <a:off x="5950268" y="4371976"/>
            <a:ext cx="144463" cy="368300"/>
          </a:xfrm>
          <a:prstGeom prst="rect">
            <a:avLst/>
          </a:prstGeom>
          <a:noFill/>
          <a:ln w="9525">
            <a:noFill/>
          </a:ln>
        </p:spPr>
        <p:txBody>
          <a:bodyPr>
            <a:spAutoFit/>
          </a:bodyPr>
          <a:lstStyle/>
          <a:p>
            <a:r>
              <a:rPr lang="en-US" altLang="zh-CN" dirty="0">
                <a:latin typeface="Calibri" panose="020F0502020204030204" pitchFamily="34" charset="0"/>
              </a:rPr>
              <a:t>7</a:t>
            </a:r>
            <a:endParaRPr lang="zh-CN" altLang="en-US" dirty="0">
              <a:latin typeface="Calibri" panose="020F0502020204030204" pitchFamily="34" charset="0"/>
            </a:endParaRPr>
          </a:p>
        </p:txBody>
      </p:sp>
      <p:sp>
        <p:nvSpPr>
          <p:cNvPr id="52242" name="TextBox 49"/>
          <p:cNvSpPr txBox="1"/>
          <p:nvPr/>
        </p:nvSpPr>
        <p:spPr>
          <a:xfrm>
            <a:off x="8188325" y="4781550"/>
            <a:ext cx="144463"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52243" name="TextBox 53"/>
          <p:cNvSpPr txBox="1"/>
          <p:nvPr/>
        </p:nvSpPr>
        <p:spPr>
          <a:xfrm>
            <a:off x="8178800" y="4826000"/>
            <a:ext cx="144463"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28" name="矩形 27"/>
          <p:cNvSpPr/>
          <p:nvPr/>
        </p:nvSpPr>
        <p:spPr>
          <a:xfrm>
            <a:off x="6809546" y="4790711"/>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矩形 28"/>
          <p:cNvSpPr/>
          <p:nvPr/>
        </p:nvSpPr>
        <p:spPr>
          <a:xfrm>
            <a:off x="8310563" y="4797425"/>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 name="矩形 29"/>
          <p:cNvSpPr/>
          <p:nvPr/>
        </p:nvSpPr>
        <p:spPr>
          <a:xfrm>
            <a:off x="7592511" y="4785284"/>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2248" name="TextBox 19"/>
          <p:cNvSpPr txBox="1"/>
          <p:nvPr/>
        </p:nvSpPr>
        <p:spPr>
          <a:xfrm>
            <a:off x="6868283" y="4398599"/>
            <a:ext cx="142875" cy="368300"/>
          </a:xfrm>
          <a:prstGeom prst="rect">
            <a:avLst/>
          </a:prstGeom>
          <a:noFill/>
          <a:ln w="9525">
            <a:noFill/>
          </a:ln>
        </p:spPr>
        <p:txBody>
          <a:bodyPr>
            <a:spAutoFit/>
          </a:bodyPr>
          <a:lstStyle/>
          <a:p>
            <a:r>
              <a:rPr lang="en-US" altLang="zh-CN" dirty="0">
                <a:latin typeface="Calibri" panose="020F0502020204030204" pitchFamily="34" charset="0"/>
              </a:rPr>
              <a:t>8</a:t>
            </a:r>
            <a:endParaRPr lang="zh-CN" altLang="en-US" dirty="0">
              <a:latin typeface="Calibri" panose="020F0502020204030204" pitchFamily="34" charset="0"/>
            </a:endParaRPr>
          </a:p>
        </p:txBody>
      </p:sp>
      <p:sp>
        <p:nvSpPr>
          <p:cNvPr id="52249" name="TextBox 20"/>
          <p:cNvSpPr txBox="1"/>
          <p:nvPr/>
        </p:nvSpPr>
        <p:spPr>
          <a:xfrm>
            <a:off x="7623943" y="4375709"/>
            <a:ext cx="144463" cy="368300"/>
          </a:xfrm>
          <a:prstGeom prst="rect">
            <a:avLst/>
          </a:prstGeom>
          <a:noFill/>
          <a:ln w="9525">
            <a:noFill/>
          </a:ln>
        </p:spPr>
        <p:txBody>
          <a:bodyPr>
            <a:spAutoFit/>
          </a:bodyPr>
          <a:lstStyle/>
          <a:p>
            <a:r>
              <a:rPr lang="en-US" altLang="zh-CN" dirty="0">
                <a:latin typeface="Calibri" panose="020F0502020204030204" pitchFamily="34" charset="0"/>
              </a:rPr>
              <a:t>9</a:t>
            </a:r>
            <a:endParaRPr lang="zh-CN" altLang="en-US" dirty="0">
              <a:latin typeface="Calibri" panose="020F0502020204030204" pitchFamily="34" charset="0"/>
            </a:endParaRPr>
          </a:p>
        </p:txBody>
      </p:sp>
      <p:sp>
        <p:nvSpPr>
          <p:cNvPr id="52250" name="TextBox 21"/>
          <p:cNvSpPr txBox="1"/>
          <p:nvPr/>
        </p:nvSpPr>
        <p:spPr>
          <a:xfrm>
            <a:off x="8196263" y="4364673"/>
            <a:ext cx="517525" cy="368300"/>
          </a:xfrm>
          <a:prstGeom prst="rect">
            <a:avLst/>
          </a:prstGeom>
          <a:noFill/>
          <a:ln w="9525">
            <a:noFill/>
          </a:ln>
        </p:spPr>
        <p:txBody>
          <a:bodyPr>
            <a:spAutoFit/>
          </a:bodyPr>
          <a:lstStyle/>
          <a:p>
            <a:r>
              <a:rPr lang="en-US" altLang="zh-CN" dirty="0">
                <a:latin typeface="Calibri" panose="020F0502020204030204" pitchFamily="34" charset="0"/>
              </a:rPr>
              <a:t>10</a:t>
            </a:r>
            <a:endParaRPr lang="zh-CN" altLang="en-US" dirty="0">
              <a:latin typeface="Calibri" panose="020F0502020204030204" pitchFamily="34" charset="0"/>
            </a:endParaRPr>
          </a:p>
        </p:txBody>
      </p:sp>
      <p:cxnSp>
        <p:nvCxnSpPr>
          <p:cNvPr id="16" name="直接箭头连接符 15"/>
          <p:cNvCxnSpPr/>
          <p:nvPr/>
        </p:nvCxnSpPr>
        <p:spPr>
          <a:xfrm>
            <a:off x="2185988" y="3316288"/>
            <a:ext cx="71596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8782050" y="4921250"/>
            <a:ext cx="72231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2254" name="TextBox 21"/>
          <p:cNvSpPr txBox="1"/>
          <p:nvPr/>
        </p:nvSpPr>
        <p:spPr>
          <a:xfrm>
            <a:off x="2108835" y="3572510"/>
            <a:ext cx="2075815" cy="349885"/>
          </a:xfrm>
          <a:prstGeom prst="rect">
            <a:avLst/>
          </a:prstGeom>
          <a:noFill/>
          <a:ln w="9525">
            <a:noFill/>
          </a:ln>
        </p:spPr>
        <p:txBody>
          <a:bodyPr>
            <a:no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cxnSp>
        <p:nvCxnSpPr>
          <p:cNvPr id="5" name="直接箭头连接符 4"/>
          <p:cNvCxnSpPr/>
          <p:nvPr/>
        </p:nvCxnSpPr>
        <p:spPr>
          <a:xfrm flipV="1">
            <a:off x="2581275" y="2343150"/>
            <a:ext cx="0" cy="685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2257" name="TextBox 35"/>
          <p:cNvSpPr txBox="1"/>
          <p:nvPr/>
        </p:nvSpPr>
        <p:spPr>
          <a:xfrm>
            <a:off x="2608580" y="2298700"/>
            <a:ext cx="1711325" cy="337185"/>
          </a:xfrm>
          <a:prstGeom prst="rect">
            <a:avLst/>
          </a:prstGeom>
          <a:noFill/>
          <a:ln w="9525">
            <a:noFill/>
          </a:ln>
        </p:spPr>
        <p:txBody>
          <a:bodyPr wrap="square">
            <a:sp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cxnSp>
        <p:nvCxnSpPr>
          <p:cNvPr id="38" name="直接箭头连接符 37"/>
          <p:cNvCxnSpPr/>
          <p:nvPr/>
        </p:nvCxnSpPr>
        <p:spPr>
          <a:xfrm flipH="1" flipV="1">
            <a:off x="8578534" y="5149850"/>
            <a:ext cx="0" cy="8366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2259" name="TextBox 39"/>
          <p:cNvSpPr txBox="1"/>
          <p:nvPr/>
        </p:nvSpPr>
        <p:spPr>
          <a:xfrm>
            <a:off x="8646164" y="5424804"/>
            <a:ext cx="1296248" cy="286704"/>
          </a:xfrm>
          <a:prstGeom prst="rect">
            <a:avLst/>
          </a:prstGeom>
          <a:noFill/>
          <a:ln w="9525">
            <a:noFill/>
          </a:ln>
        </p:spPr>
        <p:txBody>
          <a:bodyPr>
            <a:no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cxnSp>
        <p:nvCxnSpPr>
          <p:cNvPr id="15" name="直接箭头连接符 14"/>
          <p:cNvCxnSpPr>
            <a:stCxn id="13" idx="2"/>
          </p:cNvCxnSpPr>
          <p:nvPr/>
        </p:nvCxnSpPr>
        <p:spPr>
          <a:xfrm flipH="1">
            <a:off x="5988793" y="3358316"/>
            <a:ext cx="0" cy="1436688"/>
          </a:xfrm>
          <a:prstGeom prst="straightConnector1">
            <a:avLst/>
          </a:prstGeom>
          <a:ln w="127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2262" name="TextBox 46"/>
          <p:cNvSpPr txBox="1"/>
          <p:nvPr/>
        </p:nvSpPr>
        <p:spPr>
          <a:xfrm>
            <a:off x="4542292" y="3784953"/>
            <a:ext cx="1802567" cy="461665"/>
          </a:xfrm>
          <a:prstGeom prst="rect">
            <a:avLst/>
          </a:prstGeom>
          <a:noFill/>
          <a:ln w="9525">
            <a:noFill/>
          </a:ln>
        </p:spPr>
        <p:txBody>
          <a:bodyPr wrap="square">
            <a:spAutoFit/>
          </a:bodyPr>
          <a:lstStyle/>
          <a:p>
            <a:r>
              <a:rPr lang="zh-CN" altLang="en-US" dirty="0">
                <a:solidFill>
                  <a:srgbClr val="FF0000"/>
                </a:solidFill>
                <a:latin typeface="Calibri" panose="020F0502020204030204" pitchFamily="34" charset="0"/>
              </a:rPr>
              <a:t>小于</a:t>
            </a:r>
            <a:r>
              <a:rPr lang="en-US" altLang="zh-CN" dirty="0">
                <a:solidFill>
                  <a:srgbClr val="FF0000"/>
                </a:solidFill>
                <a:latin typeface="Calibri" panose="020F0502020204030204" pitchFamily="34" charset="0"/>
              </a:rPr>
              <a:t>2.0m</a:t>
            </a:r>
          </a:p>
        </p:txBody>
      </p:sp>
      <p:sp>
        <p:nvSpPr>
          <p:cNvPr id="4" name="TextBox 39"/>
          <p:cNvSpPr txBox="1"/>
          <p:nvPr/>
        </p:nvSpPr>
        <p:spPr>
          <a:xfrm>
            <a:off x="8832215" y="4479290"/>
            <a:ext cx="1998345" cy="318135"/>
          </a:xfrm>
          <a:prstGeom prst="rect">
            <a:avLst/>
          </a:prstGeom>
          <a:noFill/>
          <a:ln w="9525">
            <a:noFill/>
          </a:ln>
        </p:spPr>
        <p:txBody>
          <a:bodyPr>
            <a:no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cxnSp>
        <p:nvCxnSpPr>
          <p:cNvPr id="8" name="直接箭头连接符 7"/>
          <p:cNvCxnSpPr/>
          <p:nvPr/>
        </p:nvCxnSpPr>
        <p:spPr>
          <a:xfrm>
            <a:off x="3307055" y="3206120"/>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3977164" y="3231346"/>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4661231" y="3218261"/>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5475131" y="4917282"/>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5443576" y="3214647"/>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2161858" y="2132013"/>
            <a:ext cx="7390130" cy="63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1991360" y="2343150"/>
            <a:ext cx="0" cy="360616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99D6ABFC-7759-4D1E-BA71-BBE1840556DC}"/>
              </a:ext>
            </a:extLst>
          </p:cNvPr>
          <p:cNvCxnSpPr/>
          <p:nvPr/>
        </p:nvCxnSpPr>
        <p:spPr>
          <a:xfrm>
            <a:off x="6270154" y="4928318"/>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2120137A-84C2-4BF7-A453-0F772F619E21}"/>
              </a:ext>
            </a:extLst>
          </p:cNvPr>
          <p:cNvCxnSpPr/>
          <p:nvPr/>
        </p:nvCxnSpPr>
        <p:spPr>
          <a:xfrm>
            <a:off x="7128008" y="4917577"/>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74807F41-A160-46B8-BA8D-EF5533AF8C91}"/>
              </a:ext>
            </a:extLst>
          </p:cNvPr>
          <p:cNvCxnSpPr/>
          <p:nvPr/>
        </p:nvCxnSpPr>
        <p:spPr>
          <a:xfrm>
            <a:off x="7885113" y="4948984"/>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2201863" y="620713"/>
            <a:ext cx="7926387" cy="774700"/>
          </a:xfrm>
        </p:spPr>
        <p:txBody>
          <a:bodyPr vert="horz" wrap="square" lIns="91440" tIns="45720" rIns="91440" bIns="45720" anchor="ctr" anchorCtr="0"/>
          <a:lstStyle/>
          <a:p>
            <a:pPr algn="l" eaLnBrk="1" hangingPunct="1"/>
            <a:r>
              <a:rPr lang="zh-CN" altLang="en-US" sz="2800" dirty="0"/>
              <a:t>梁类构件测区分布示意图</a:t>
            </a:r>
          </a:p>
        </p:txBody>
      </p:sp>
      <p:sp>
        <p:nvSpPr>
          <p:cNvPr id="2" name="矩形 1"/>
          <p:cNvSpPr/>
          <p:nvPr/>
        </p:nvSpPr>
        <p:spPr>
          <a:xfrm>
            <a:off x="1151890" y="2358390"/>
            <a:ext cx="6600825" cy="11017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矩形 2"/>
          <p:cNvSpPr/>
          <p:nvPr/>
        </p:nvSpPr>
        <p:spPr>
          <a:xfrm>
            <a:off x="2358524" y="2786221"/>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3618071" y="279161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4795996" y="2804477"/>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1651848" y="277907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3009963" y="277907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4225767" y="2783047"/>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5412740" y="2797809"/>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211" name="TextBox 4"/>
          <p:cNvSpPr txBox="1"/>
          <p:nvPr/>
        </p:nvSpPr>
        <p:spPr>
          <a:xfrm>
            <a:off x="1993265" y="2355215"/>
            <a:ext cx="144463" cy="368300"/>
          </a:xfrm>
          <a:prstGeom prst="rect">
            <a:avLst/>
          </a:prstGeom>
          <a:noFill/>
          <a:ln w="9525">
            <a:noFill/>
          </a:ln>
        </p:spPr>
        <p:txBody>
          <a:bodyPr>
            <a:spAutoFit/>
          </a:bodyPr>
          <a:lstStyle/>
          <a:p>
            <a:r>
              <a:rPr lang="en-US" altLang="zh-CN" dirty="0">
                <a:latin typeface="Calibri" panose="020F0502020204030204" pitchFamily="34" charset="0"/>
              </a:rPr>
              <a:t>1</a:t>
            </a:r>
            <a:endParaRPr lang="zh-CN" altLang="en-US" dirty="0">
              <a:latin typeface="Calibri" panose="020F0502020204030204" pitchFamily="34" charset="0"/>
            </a:endParaRPr>
          </a:p>
        </p:txBody>
      </p:sp>
      <p:sp>
        <p:nvSpPr>
          <p:cNvPr id="51212" name="TextBox 16"/>
          <p:cNvSpPr txBox="1"/>
          <p:nvPr/>
        </p:nvSpPr>
        <p:spPr>
          <a:xfrm>
            <a:off x="2545715" y="2339340"/>
            <a:ext cx="144463" cy="368300"/>
          </a:xfrm>
          <a:prstGeom prst="rect">
            <a:avLst/>
          </a:prstGeom>
          <a:noFill/>
          <a:ln w="9525">
            <a:noFill/>
          </a:ln>
        </p:spPr>
        <p:txBody>
          <a:bodyPr>
            <a:spAutoFit/>
          </a:bodyPr>
          <a:lstStyle/>
          <a:p>
            <a:r>
              <a:rPr lang="en-US" altLang="zh-CN" dirty="0">
                <a:latin typeface="Calibri" panose="020F0502020204030204" pitchFamily="34" charset="0"/>
              </a:rPr>
              <a:t>2</a:t>
            </a:r>
            <a:endParaRPr lang="zh-CN" altLang="en-US" dirty="0">
              <a:latin typeface="Calibri" panose="020F0502020204030204" pitchFamily="34" charset="0"/>
            </a:endParaRPr>
          </a:p>
        </p:txBody>
      </p:sp>
      <p:sp>
        <p:nvSpPr>
          <p:cNvPr id="51213" name="TextBox 18"/>
          <p:cNvSpPr txBox="1"/>
          <p:nvPr/>
        </p:nvSpPr>
        <p:spPr>
          <a:xfrm>
            <a:off x="2960053" y="2350453"/>
            <a:ext cx="142875" cy="368300"/>
          </a:xfrm>
          <a:prstGeom prst="rect">
            <a:avLst/>
          </a:prstGeom>
          <a:noFill/>
          <a:ln w="9525">
            <a:noFill/>
          </a:ln>
        </p:spPr>
        <p:txBody>
          <a:bodyPr>
            <a:spAutoFit/>
          </a:bodyPr>
          <a:lstStyle/>
          <a:p>
            <a:r>
              <a:rPr lang="en-US" altLang="zh-CN" dirty="0">
                <a:latin typeface="Calibri" panose="020F0502020204030204" pitchFamily="34" charset="0"/>
              </a:rPr>
              <a:t>3</a:t>
            </a:r>
            <a:endParaRPr lang="zh-CN" altLang="en-US" dirty="0">
              <a:latin typeface="Calibri" panose="020F0502020204030204" pitchFamily="34" charset="0"/>
            </a:endParaRPr>
          </a:p>
        </p:txBody>
      </p:sp>
      <p:sp>
        <p:nvSpPr>
          <p:cNvPr id="51214" name="TextBox 19"/>
          <p:cNvSpPr txBox="1"/>
          <p:nvPr/>
        </p:nvSpPr>
        <p:spPr>
          <a:xfrm>
            <a:off x="3450590" y="2386965"/>
            <a:ext cx="142875" cy="368300"/>
          </a:xfrm>
          <a:prstGeom prst="rect">
            <a:avLst/>
          </a:prstGeom>
          <a:noFill/>
          <a:ln w="9525">
            <a:noFill/>
          </a:ln>
        </p:spPr>
        <p:txBody>
          <a:bodyPr>
            <a:spAutoFit/>
          </a:bodyPr>
          <a:lstStyle/>
          <a:p>
            <a:r>
              <a:rPr lang="en-US" altLang="zh-CN" dirty="0">
                <a:latin typeface="Calibri" panose="020F0502020204030204" pitchFamily="34" charset="0"/>
              </a:rPr>
              <a:t>4</a:t>
            </a:r>
            <a:endParaRPr lang="zh-CN" altLang="en-US" dirty="0">
              <a:latin typeface="Calibri" panose="020F0502020204030204" pitchFamily="34" charset="0"/>
            </a:endParaRPr>
          </a:p>
        </p:txBody>
      </p:sp>
      <p:sp>
        <p:nvSpPr>
          <p:cNvPr id="51215" name="TextBox 20"/>
          <p:cNvSpPr txBox="1"/>
          <p:nvPr/>
        </p:nvSpPr>
        <p:spPr>
          <a:xfrm>
            <a:off x="3876040" y="2369503"/>
            <a:ext cx="144463" cy="368300"/>
          </a:xfrm>
          <a:prstGeom prst="rect">
            <a:avLst/>
          </a:prstGeom>
          <a:noFill/>
          <a:ln w="9525">
            <a:noFill/>
          </a:ln>
        </p:spPr>
        <p:txBody>
          <a:bodyPr>
            <a:spAutoFit/>
          </a:bodyPr>
          <a:lstStyle/>
          <a:p>
            <a:r>
              <a:rPr lang="en-US" altLang="zh-CN" dirty="0">
                <a:latin typeface="Calibri" panose="020F0502020204030204" pitchFamily="34" charset="0"/>
              </a:rPr>
              <a:t>5</a:t>
            </a:r>
            <a:endParaRPr lang="zh-CN" altLang="en-US" dirty="0">
              <a:latin typeface="Calibri" panose="020F0502020204030204" pitchFamily="34" charset="0"/>
            </a:endParaRPr>
          </a:p>
        </p:txBody>
      </p:sp>
      <p:sp>
        <p:nvSpPr>
          <p:cNvPr id="51216" name="TextBox 21"/>
          <p:cNvSpPr txBox="1"/>
          <p:nvPr/>
        </p:nvSpPr>
        <p:spPr>
          <a:xfrm>
            <a:off x="4277678" y="2358390"/>
            <a:ext cx="142875" cy="368300"/>
          </a:xfrm>
          <a:prstGeom prst="rect">
            <a:avLst/>
          </a:prstGeom>
          <a:noFill/>
          <a:ln w="9525">
            <a:noFill/>
          </a:ln>
        </p:spPr>
        <p:txBody>
          <a:bodyPr>
            <a:spAutoFit/>
          </a:bodyPr>
          <a:lstStyle/>
          <a:p>
            <a:r>
              <a:rPr lang="en-US" altLang="zh-CN" dirty="0">
                <a:latin typeface="Calibri" panose="020F0502020204030204" pitchFamily="34" charset="0"/>
              </a:rPr>
              <a:t>6</a:t>
            </a:r>
            <a:endParaRPr lang="zh-CN" altLang="en-US" dirty="0">
              <a:latin typeface="Calibri" panose="020F0502020204030204" pitchFamily="34" charset="0"/>
            </a:endParaRPr>
          </a:p>
        </p:txBody>
      </p:sp>
      <p:sp>
        <p:nvSpPr>
          <p:cNvPr id="51217" name="TextBox 22"/>
          <p:cNvSpPr txBox="1"/>
          <p:nvPr/>
        </p:nvSpPr>
        <p:spPr>
          <a:xfrm>
            <a:off x="4795203" y="2355215"/>
            <a:ext cx="144462" cy="368300"/>
          </a:xfrm>
          <a:prstGeom prst="rect">
            <a:avLst/>
          </a:prstGeom>
          <a:noFill/>
          <a:ln w="9525">
            <a:noFill/>
          </a:ln>
        </p:spPr>
        <p:txBody>
          <a:bodyPr>
            <a:spAutoFit/>
          </a:bodyPr>
          <a:lstStyle/>
          <a:p>
            <a:r>
              <a:rPr lang="en-US" altLang="zh-CN" dirty="0">
                <a:latin typeface="Calibri" panose="020F0502020204030204" pitchFamily="34" charset="0"/>
              </a:rPr>
              <a:t>7</a:t>
            </a:r>
            <a:endParaRPr lang="zh-CN" altLang="en-US" dirty="0">
              <a:latin typeface="Calibri" panose="020F0502020204030204" pitchFamily="34" charset="0"/>
            </a:endParaRPr>
          </a:p>
        </p:txBody>
      </p:sp>
      <p:sp>
        <p:nvSpPr>
          <p:cNvPr id="51218" name="TextBox 49"/>
          <p:cNvSpPr txBox="1"/>
          <p:nvPr/>
        </p:nvSpPr>
        <p:spPr>
          <a:xfrm>
            <a:off x="6436678" y="276320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51219" name="TextBox 53"/>
          <p:cNvSpPr txBox="1"/>
          <p:nvPr/>
        </p:nvSpPr>
        <p:spPr>
          <a:xfrm>
            <a:off x="6427153" y="280765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28" name="矩形 27"/>
          <p:cNvSpPr/>
          <p:nvPr/>
        </p:nvSpPr>
        <p:spPr>
          <a:xfrm>
            <a:off x="6024945" y="2806257"/>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矩形 28"/>
          <p:cNvSpPr/>
          <p:nvPr/>
        </p:nvSpPr>
        <p:spPr>
          <a:xfrm>
            <a:off x="7230318" y="279780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 name="矩形 29"/>
          <p:cNvSpPr/>
          <p:nvPr/>
        </p:nvSpPr>
        <p:spPr>
          <a:xfrm>
            <a:off x="6653277" y="279780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224" name="TextBox 19"/>
          <p:cNvSpPr txBox="1"/>
          <p:nvPr/>
        </p:nvSpPr>
        <p:spPr>
          <a:xfrm>
            <a:off x="5412740" y="2386965"/>
            <a:ext cx="142875" cy="368300"/>
          </a:xfrm>
          <a:prstGeom prst="rect">
            <a:avLst/>
          </a:prstGeom>
          <a:noFill/>
          <a:ln w="9525">
            <a:noFill/>
          </a:ln>
        </p:spPr>
        <p:txBody>
          <a:bodyPr>
            <a:spAutoFit/>
          </a:bodyPr>
          <a:lstStyle/>
          <a:p>
            <a:r>
              <a:rPr lang="en-US" altLang="zh-CN" dirty="0">
                <a:latin typeface="Calibri" panose="020F0502020204030204" pitchFamily="34" charset="0"/>
              </a:rPr>
              <a:t>8</a:t>
            </a:r>
            <a:endParaRPr lang="zh-CN" altLang="en-US" dirty="0">
              <a:latin typeface="Calibri" panose="020F0502020204030204" pitchFamily="34" charset="0"/>
            </a:endParaRPr>
          </a:p>
        </p:txBody>
      </p:sp>
      <p:sp>
        <p:nvSpPr>
          <p:cNvPr id="51225" name="TextBox 20"/>
          <p:cNvSpPr txBox="1"/>
          <p:nvPr/>
        </p:nvSpPr>
        <p:spPr>
          <a:xfrm>
            <a:off x="5838190" y="2369503"/>
            <a:ext cx="144463" cy="368300"/>
          </a:xfrm>
          <a:prstGeom prst="rect">
            <a:avLst/>
          </a:prstGeom>
          <a:noFill/>
          <a:ln w="9525">
            <a:noFill/>
          </a:ln>
        </p:spPr>
        <p:txBody>
          <a:bodyPr>
            <a:spAutoFit/>
          </a:bodyPr>
          <a:lstStyle/>
          <a:p>
            <a:r>
              <a:rPr lang="en-US" altLang="zh-CN" dirty="0">
                <a:latin typeface="Calibri" panose="020F0502020204030204" pitchFamily="34" charset="0"/>
              </a:rPr>
              <a:t>9</a:t>
            </a:r>
            <a:endParaRPr lang="zh-CN" altLang="en-US" dirty="0">
              <a:latin typeface="Calibri" panose="020F0502020204030204" pitchFamily="34" charset="0"/>
            </a:endParaRPr>
          </a:p>
        </p:txBody>
      </p:sp>
      <p:sp>
        <p:nvSpPr>
          <p:cNvPr id="51226" name="TextBox 21"/>
          <p:cNvSpPr txBox="1"/>
          <p:nvPr/>
        </p:nvSpPr>
        <p:spPr>
          <a:xfrm>
            <a:off x="6493828" y="2369820"/>
            <a:ext cx="519112" cy="368300"/>
          </a:xfrm>
          <a:prstGeom prst="rect">
            <a:avLst/>
          </a:prstGeom>
          <a:noFill/>
          <a:ln w="9525">
            <a:noFill/>
          </a:ln>
        </p:spPr>
        <p:txBody>
          <a:bodyPr>
            <a:spAutoFit/>
          </a:bodyPr>
          <a:lstStyle/>
          <a:p>
            <a:r>
              <a:rPr lang="en-US" altLang="zh-CN" dirty="0">
                <a:latin typeface="Calibri" panose="020F0502020204030204" pitchFamily="34" charset="0"/>
              </a:rPr>
              <a:t>10</a:t>
            </a:r>
            <a:endParaRPr lang="zh-CN" altLang="en-US" dirty="0">
              <a:latin typeface="Calibri" panose="020F0502020204030204" pitchFamily="34" charset="0"/>
            </a:endParaRPr>
          </a:p>
        </p:txBody>
      </p:sp>
      <p:cxnSp>
        <p:nvCxnSpPr>
          <p:cNvPr id="16" name="直接箭头连接符 15"/>
          <p:cNvCxnSpPr>
            <a:cxnSpLocks/>
          </p:cNvCxnSpPr>
          <p:nvPr/>
        </p:nvCxnSpPr>
        <p:spPr>
          <a:xfrm>
            <a:off x="1151890" y="2912428"/>
            <a:ext cx="473235"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cxnSpLocks/>
          </p:cNvCxnSpPr>
          <p:nvPr/>
        </p:nvCxnSpPr>
        <p:spPr>
          <a:xfrm>
            <a:off x="7536160" y="2890837"/>
            <a:ext cx="216555" cy="1206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1230" name="TextBox 21"/>
          <p:cNvSpPr txBox="1"/>
          <p:nvPr/>
        </p:nvSpPr>
        <p:spPr>
          <a:xfrm>
            <a:off x="1066589" y="1949451"/>
            <a:ext cx="1170517" cy="338554"/>
          </a:xfrm>
          <a:prstGeom prst="rect">
            <a:avLst/>
          </a:prstGeom>
          <a:noFill/>
          <a:ln w="9525">
            <a:noFill/>
          </a:ln>
        </p:spPr>
        <p:txBody>
          <a:bodyPr wrap="square">
            <a:sp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sp>
        <p:nvSpPr>
          <p:cNvPr id="51231" name="TextBox 45"/>
          <p:cNvSpPr txBox="1"/>
          <p:nvPr/>
        </p:nvSpPr>
        <p:spPr>
          <a:xfrm>
            <a:off x="7092824" y="2011899"/>
            <a:ext cx="1170518" cy="338554"/>
          </a:xfrm>
          <a:prstGeom prst="rect">
            <a:avLst/>
          </a:prstGeom>
          <a:noFill/>
          <a:ln w="9525">
            <a:noFill/>
          </a:ln>
        </p:spPr>
        <p:txBody>
          <a:bodyPr wrap="square">
            <a:sp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cxnSp>
        <p:nvCxnSpPr>
          <p:cNvPr id="4" name="直接箭头连接符 3"/>
          <p:cNvCxnSpPr>
            <a:cxnSpLocks/>
          </p:cNvCxnSpPr>
          <p:nvPr/>
        </p:nvCxnSpPr>
        <p:spPr>
          <a:xfrm>
            <a:off x="1970551" y="2912428"/>
            <a:ext cx="351856" cy="8572"/>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5" name="TextBox 21"/>
          <p:cNvSpPr txBox="1"/>
          <p:nvPr/>
        </p:nvSpPr>
        <p:spPr>
          <a:xfrm>
            <a:off x="1055440" y="3800452"/>
            <a:ext cx="6082367" cy="338554"/>
          </a:xfrm>
          <a:prstGeom prst="rect">
            <a:avLst/>
          </a:prstGeom>
          <a:noFill/>
          <a:ln w="9525">
            <a:noFill/>
          </a:ln>
        </p:spPr>
        <p:txBody>
          <a:bodyPr wrap="square">
            <a:spAutoFit/>
          </a:bodyPr>
          <a:lstStyle/>
          <a:p>
            <a:r>
              <a:rPr lang="zh-CN" altLang="en-US" sz="1600" dirty="0">
                <a:latin typeface="宋体" panose="02010600030101010101" pitchFamily="2" charset="-122"/>
                <a:ea typeface="宋体" panose="02010600030101010101" pitchFamily="2" charset="-122"/>
                <a:cs typeface="宋体" panose="02010600030101010101" pitchFamily="2" charset="-122"/>
              </a:rPr>
              <a:t>测区间距小于</a:t>
            </a:r>
            <a:r>
              <a:rPr lang="en-US" altLang="zh-CN" sz="1600" dirty="0">
                <a:latin typeface="宋体" panose="02010600030101010101" pitchFamily="2" charset="-122"/>
                <a:ea typeface="宋体" panose="02010600030101010101" pitchFamily="2" charset="-122"/>
                <a:cs typeface="宋体" panose="02010600030101010101" pitchFamily="2" charset="-122"/>
              </a:rPr>
              <a:t>2m</a:t>
            </a:r>
            <a:r>
              <a:rPr lang="zh-CN" altLang="en-US" sz="1600" dirty="0">
                <a:latin typeface="宋体" panose="02010600030101010101" pitchFamily="2" charset="-122"/>
                <a:ea typeface="宋体" panose="02010600030101010101" pitchFamily="2" charset="-122"/>
                <a:cs typeface="宋体" panose="02010600030101010101" pitchFamily="2" charset="-122"/>
              </a:rPr>
              <a:t>，建议标准化，方便溯源：</a:t>
            </a:r>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1.0</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2.0m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cxnSp>
        <p:nvCxnSpPr>
          <p:cNvPr id="17" name="直接箭头连接符 16"/>
          <p:cNvCxnSpPr/>
          <p:nvPr/>
        </p:nvCxnSpPr>
        <p:spPr>
          <a:xfrm>
            <a:off x="1125220" y="3731578"/>
            <a:ext cx="6624955"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906145" y="2350770"/>
            <a:ext cx="0" cy="108013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7824470" y="5373370"/>
            <a:ext cx="4211320" cy="521970"/>
          </a:xfrm>
          <a:prstGeom prst="rect">
            <a:avLst/>
          </a:prstGeom>
          <a:noFill/>
        </p:spPr>
        <p:txBody>
          <a:bodyPr wrap="square" rtlCol="0" anchor="t">
            <a:spAutoFit/>
          </a:bodyPr>
          <a:lstStyle/>
          <a:p>
            <a:pPr algn="l" eaLnBrk="1" hangingPunct="1"/>
            <a:r>
              <a:rPr lang="zh-CN" altLang="en-US" sz="2800" dirty="0">
                <a:sym typeface="+mn-ea"/>
              </a:rPr>
              <a:t>柱类构件测区分布示意图</a:t>
            </a:r>
            <a:endParaRPr lang="zh-CN" altLang="en-US" sz="2800" dirty="0">
              <a:latin typeface="Arial" panose="020B0604020202020204" pitchFamily="34" charset="0"/>
              <a:ea typeface="微软雅黑" panose="020B0503020204020204" pitchFamily="34" charset="-122"/>
              <a:sym typeface="+mn-ea"/>
            </a:endParaRPr>
          </a:p>
        </p:txBody>
      </p:sp>
      <p:sp>
        <p:nvSpPr>
          <p:cNvPr id="44" name="矩形 43">
            <a:extLst>
              <a:ext uri="{FF2B5EF4-FFF2-40B4-BE49-F238E27FC236}">
                <a16:creationId xmlns:a16="http://schemas.microsoft.com/office/drawing/2014/main" id="{5C132E65-55FE-4F47-990F-CC07D5D5A580}"/>
              </a:ext>
            </a:extLst>
          </p:cNvPr>
          <p:cNvSpPr/>
          <p:nvPr/>
        </p:nvSpPr>
        <p:spPr>
          <a:xfrm rot="5400000">
            <a:off x="7585600" y="2230121"/>
            <a:ext cx="4320541" cy="11017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5" name="矩形 44">
            <a:extLst>
              <a:ext uri="{FF2B5EF4-FFF2-40B4-BE49-F238E27FC236}">
                <a16:creationId xmlns:a16="http://schemas.microsoft.com/office/drawing/2014/main" id="{A53764D8-AF61-417B-AD61-0B918EAB9F1C}"/>
              </a:ext>
            </a:extLst>
          </p:cNvPr>
          <p:cNvSpPr/>
          <p:nvPr/>
        </p:nvSpPr>
        <p:spPr>
          <a:xfrm>
            <a:off x="9632681" y="3471914"/>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6" name="矩形 45">
            <a:extLst>
              <a:ext uri="{FF2B5EF4-FFF2-40B4-BE49-F238E27FC236}">
                <a16:creationId xmlns:a16="http://schemas.microsoft.com/office/drawing/2014/main" id="{C1AB6F03-7B3B-47F0-9C3D-234B6FD98F2D}"/>
              </a:ext>
            </a:extLst>
          </p:cNvPr>
          <p:cNvSpPr/>
          <p:nvPr/>
        </p:nvSpPr>
        <p:spPr>
          <a:xfrm>
            <a:off x="9632681" y="183292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7" name="矩形 46">
            <a:extLst>
              <a:ext uri="{FF2B5EF4-FFF2-40B4-BE49-F238E27FC236}">
                <a16:creationId xmlns:a16="http://schemas.microsoft.com/office/drawing/2014/main" id="{E4D22AF8-B418-453B-BDA5-2B5C966C89B0}"/>
              </a:ext>
            </a:extLst>
          </p:cNvPr>
          <p:cNvSpPr/>
          <p:nvPr/>
        </p:nvSpPr>
        <p:spPr>
          <a:xfrm>
            <a:off x="9609028" y="4160682"/>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0" name="矩形 49">
            <a:extLst>
              <a:ext uri="{FF2B5EF4-FFF2-40B4-BE49-F238E27FC236}">
                <a16:creationId xmlns:a16="http://schemas.microsoft.com/office/drawing/2014/main" id="{22EE3990-B3C8-4A88-A523-A1C6DDBF7BB1}"/>
              </a:ext>
            </a:extLst>
          </p:cNvPr>
          <p:cNvSpPr/>
          <p:nvPr/>
        </p:nvSpPr>
        <p:spPr>
          <a:xfrm>
            <a:off x="9641730" y="266112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 name="矩形 50">
            <a:extLst>
              <a:ext uri="{FF2B5EF4-FFF2-40B4-BE49-F238E27FC236}">
                <a16:creationId xmlns:a16="http://schemas.microsoft.com/office/drawing/2014/main" id="{DAD2304F-841D-4BC9-A0B5-B6F891C69694}"/>
              </a:ext>
            </a:extLst>
          </p:cNvPr>
          <p:cNvSpPr/>
          <p:nvPr/>
        </p:nvSpPr>
        <p:spPr>
          <a:xfrm>
            <a:off x="9608076" y="100046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52" name="直接箭头连接符 51">
            <a:extLst>
              <a:ext uri="{FF2B5EF4-FFF2-40B4-BE49-F238E27FC236}">
                <a16:creationId xmlns:a16="http://schemas.microsoft.com/office/drawing/2014/main" id="{268EBD9D-0CC6-4C2F-8305-A8E2E0B65757}"/>
              </a:ext>
            </a:extLst>
          </p:cNvPr>
          <p:cNvCxnSpPr>
            <a:cxnSpLocks/>
          </p:cNvCxnSpPr>
          <p:nvPr/>
        </p:nvCxnSpPr>
        <p:spPr>
          <a:xfrm>
            <a:off x="9245510" y="4343109"/>
            <a:ext cx="362566"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3" name="TextBox 21">
            <a:extLst>
              <a:ext uri="{FF2B5EF4-FFF2-40B4-BE49-F238E27FC236}">
                <a16:creationId xmlns:a16="http://schemas.microsoft.com/office/drawing/2014/main" id="{C7E57805-8A52-4E0D-8345-C98B673D804A}"/>
              </a:ext>
            </a:extLst>
          </p:cNvPr>
          <p:cNvSpPr txBox="1"/>
          <p:nvPr/>
        </p:nvSpPr>
        <p:spPr>
          <a:xfrm>
            <a:off x="9265466" y="4513959"/>
            <a:ext cx="1101720" cy="343499"/>
          </a:xfrm>
          <a:prstGeom prst="rect">
            <a:avLst/>
          </a:prstGeom>
          <a:noFill/>
          <a:ln w="9525">
            <a:noFill/>
          </a:ln>
        </p:spPr>
        <p:txBody>
          <a:bodyPr wrap="square">
            <a:sp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sp>
        <p:nvSpPr>
          <p:cNvPr id="54" name="TextBox 21">
            <a:extLst>
              <a:ext uri="{FF2B5EF4-FFF2-40B4-BE49-F238E27FC236}">
                <a16:creationId xmlns:a16="http://schemas.microsoft.com/office/drawing/2014/main" id="{7F3C719D-D0AA-4815-AE84-E156F3EFB98D}"/>
              </a:ext>
            </a:extLst>
          </p:cNvPr>
          <p:cNvSpPr txBox="1"/>
          <p:nvPr/>
        </p:nvSpPr>
        <p:spPr>
          <a:xfrm>
            <a:off x="10024953" y="2217989"/>
            <a:ext cx="808355" cy="337185"/>
          </a:xfrm>
          <a:prstGeom prst="rect">
            <a:avLst/>
          </a:prstGeom>
          <a:noFill/>
          <a:ln w="9525">
            <a:noFill/>
          </a:ln>
        </p:spPr>
        <p:txBody>
          <a:bodyPr wrap="square">
            <a:spAutoFit/>
          </a:bodyPr>
          <a:lstStyle/>
          <a:p>
            <a:r>
              <a:rPr lang="zh-CN" altLang="en-US" sz="1600" dirty="0">
                <a:latin typeface="宋体" panose="02010600030101010101" pitchFamily="2" charset="-122"/>
                <a:ea typeface="宋体" panose="02010600030101010101" pitchFamily="2" charset="-122"/>
                <a:cs typeface="宋体" panose="02010600030101010101" pitchFamily="2" charset="-122"/>
              </a:rPr>
              <a:t>小于</a:t>
            </a:r>
            <a:r>
              <a:rPr lang="en-US" altLang="zh-CN" sz="1600" dirty="0">
                <a:latin typeface="宋体" panose="02010600030101010101" pitchFamily="2" charset="-122"/>
                <a:ea typeface="宋体" panose="02010600030101010101" pitchFamily="2" charset="-122"/>
                <a:cs typeface="宋体" panose="02010600030101010101" pitchFamily="2" charset="-122"/>
              </a:rPr>
              <a:t>2m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cxnSp>
        <p:nvCxnSpPr>
          <p:cNvPr id="55" name="直接箭头连接符 54">
            <a:extLst>
              <a:ext uri="{FF2B5EF4-FFF2-40B4-BE49-F238E27FC236}">
                <a16:creationId xmlns:a16="http://schemas.microsoft.com/office/drawing/2014/main" id="{CFB907A6-DA7F-4C3E-BE5D-E09F8FD9A2B8}"/>
              </a:ext>
            </a:extLst>
          </p:cNvPr>
          <p:cNvCxnSpPr>
            <a:cxnSpLocks/>
          </p:cNvCxnSpPr>
          <p:nvPr/>
        </p:nvCxnSpPr>
        <p:spPr>
          <a:xfrm flipH="1" flipV="1">
            <a:off x="11080958" y="4612001"/>
            <a:ext cx="1" cy="33637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403D6EF0-40DD-44A4-91E7-12637674FAA5}"/>
              </a:ext>
            </a:extLst>
          </p:cNvPr>
          <p:cNvCxnSpPr/>
          <p:nvPr/>
        </p:nvCxnSpPr>
        <p:spPr>
          <a:xfrm flipV="1">
            <a:off x="8813373" y="620714"/>
            <a:ext cx="0" cy="432054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19604146-84D8-483A-AD55-20ED402B3C24}"/>
              </a:ext>
            </a:extLst>
          </p:cNvPr>
          <p:cNvCxnSpPr>
            <a:cxnSpLocks/>
          </p:cNvCxnSpPr>
          <p:nvPr/>
        </p:nvCxnSpPr>
        <p:spPr>
          <a:xfrm>
            <a:off x="9245510" y="5156837"/>
            <a:ext cx="100804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66F9F951-4619-4C8F-9DF4-27EC35462D50}"/>
              </a:ext>
            </a:extLst>
          </p:cNvPr>
          <p:cNvSpPr/>
          <p:nvPr/>
        </p:nvSpPr>
        <p:spPr>
          <a:xfrm rot="5400000">
            <a:off x="8887350" y="2230122"/>
            <a:ext cx="4320541" cy="11017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9" name="矩形 58">
            <a:extLst>
              <a:ext uri="{FF2B5EF4-FFF2-40B4-BE49-F238E27FC236}">
                <a16:creationId xmlns:a16="http://schemas.microsoft.com/office/drawing/2014/main" id="{15F9FE00-22FF-49EA-8788-91A5BAC6591D}"/>
              </a:ext>
            </a:extLst>
          </p:cNvPr>
          <p:cNvSpPr/>
          <p:nvPr/>
        </p:nvSpPr>
        <p:spPr>
          <a:xfrm>
            <a:off x="10934431" y="3471915"/>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矩形 59">
            <a:extLst>
              <a:ext uri="{FF2B5EF4-FFF2-40B4-BE49-F238E27FC236}">
                <a16:creationId xmlns:a16="http://schemas.microsoft.com/office/drawing/2014/main" id="{41083BB0-8D2D-46F2-87B6-7D26BA599916}"/>
              </a:ext>
            </a:extLst>
          </p:cNvPr>
          <p:cNvSpPr/>
          <p:nvPr/>
        </p:nvSpPr>
        <p:spPr>
          <a:xfrm>
            <a:off x="10934431" y="1832930"/>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 name="矩形 60">
            <a:extLst>
              <a:ext uri="{FF2B5EF4-FFF2-40B4-BE49-F238E27FC236}">
                <a16:creationId xmlns:a16="http://schemas.microsoft.com/office/drawing/2014/main" id="{B5DF2D48-FD64-49E2-8F37-8C37AD8741E7}"/>
              </a:ext>
            </a:extLst>
          </p:cNvPr>
          <p:cNvSpPr/>
          <p:nvPr/>
        </p:nvSpPr>
        <p:spPr>
          <a:xfrm>
            <a:off x="10943480" y="4217724"/>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 name="矩形 61">
            <a:extLst>
              <a:ext uri="{FF2B5EF4-FFF2-40B4-BE49-F238E27FC236}">
                <a16:creationId xmlns:a16="http://schemas.microsoft.com/office/drawing/2014/main" id="{89627F75-E6A9-4DD6-AB08-4BCBC5708028}"/>
              </a:ext>
            </a:extLst>
          </p:cNvPr>
          <p:cNvSpPr/>
          <p:nvPr/>
        </p:nvSpPr>
        <p:spPr>
          <a:xfrm>
            <a:off x="10943480" y="2661129"/>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3" name="矩形 62">
            <a:extLst>
              <a:ext uri="{FF2B5EF4-FFF2-40B4-BE49-F238E27FC236}">
                <a16:creationId xmlns:a16="http://schemas.microsoft.com/office/drawing/2014/main" id="{1C1C4239-7261-446D-947F-3DC2EC791A4D}"/>
              </a:ext>
            </a:extLst>
          </p:cNvPr>
          <p:cNvSpPr/>
          <p:nvPr/>
        </p:nvSpPr>
        <p:spPr>
          <a:xfrm>
            <a:off x="10909826" y="100046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64" name="直接箭头连接符 63">
            <a:extLst>
              <a:ext uri="{FF2B5EF4-FFF2-40B4-BE49-F238E27FC236}">
                <a16:creationId xmlns:a16="http://schemas.microsoft.com/office/drawing/2014/main" id="{205501E5-B1A9-42BE-A7B3-B79B4B6E20EA}"/>
              </a:ext>
            </a:extLst>
          </p:cNvPr>
          <p:cNvCxnSpPr>
            <a:cxnSpLocks/>
          </p:cNvCxnSpPr>
          <p:nvPr/>
        </p:nvCxnSpPr>
        <p:spPr>
          <a:xfrm flipH="1" flipV="1">
            <a:off x="9795626" y="3759252"/>
            <a:ext cx="5874" cy="37975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8F2CF895-92B6-4D89-9000-2D868B0FFD84}"/>
              </a:ext>
            </a:extLst>
          </p:cNvPr>
          <p:cNvCxnSpPr>
            <a:cxnSpLocks/>
          </p:cNvCxnSpPr>
          <p:nvPr/>
        </p:nvCxnSpPr>
        <p:spPr>
          <a:xfrm flipV="1">
            <a:off x="9812069" y="2994345"/>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A42B210-D3B6-439E-8D48-BF55D21DB319}"/>
              </a:ext>
            </a:extLst>
          </p:cNvPr>
          <p:cNvCxnSpPr>
            <a:cxnSpLocks/>
          </p:cNvCxnSpPr>
          <p:nvPr/>
        </p:nvCxnSpPr>
        <p:spPr>
          <a:xfrm flipV="1">
            <a:off x="9812069" y="2116457"/>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4980405F-2243-4692-825E-70783EC2F91F}"/>
              </a:ext>
            </a:extLst>
          </p:cNvPr>
          <p:cNvCxnSpPr>
            <a:cxnSpLocks/>
          </p:cNvCxnSpPr>
          <p:nvPr/>
        </p:nvCxnSpPr>
        <p:spPr>
          <a:xfrm flipV="1">
            <a:off x="9776350" y="1378587"/>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960C9842-59E3-443E-985C-4FB30D022401}"/>
              </a:ext>
            </a:extLst>
          </p:cNvPr>
          <p:cNvCxnSpPr>
            <a:cxnSpLocks/>
          </p:cNvCxnSpPr>
          <p:nvPr/>
        </p:nvCxnSpPr>
        <p:spPr>
          <a:xfrm flipV="1">
            <a:off x="11087942" y="1350772"/>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1745BDC8-F3D9-4EE1-A22C-5AF48CBD9355}"/>
              </a:ext>
            </a:extLst>
          </p:cNvPr>
          <p:cNvCxnSpPr>
            <a:cxnSpLocks/>
          </p:cNvCxnSpPr>
          <p:nvPr/>
        </p:nvCxnSpPr>
        <p:spPr>
          <a:xfrm flipV="1">
            <a:off x="11087942" y="2168335"/>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E54F22F3-DDAD-4E4F-8AC1-145F93E1019A}"/>
              </a:ext>
            </a:extLst>
          </p:cNvPr>
          <p:cNvCxnSpPr>
            <a:cxnSpLocks/>
          </p:cNvCxnSpPr>
          <p:nvPr/>
        </p:nvCxnSpPr>
        <p:spPr>
          <a:xfrm flipV="1">
            <a:off x="11078100" y="2994345"/>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8EF89BA7-B5B4-4931-8115-45A8032E7F51}"/>
              </a:ext>
            </a:extLst>
          </p:cNvPr>
          <p:cNvCxnSpPr>
            <a:cxnSpLocks/>
          </p:cNvCxnSpPr>
          <p:nvPr/>
        </p:nvCxnSpPr>
        <p:spPr>
          <a:xfrm flipV="1">
            <a:off x="11089456" y="3759252"/>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EF59CE5A-738D-4DCF-9DAC-D3C23323EA68}"/>
              </a:ext>
            </a:extLst>
          </p:cNvPr>
          <p:cNvCxnSpPr>
            <a:cxnSpLocks/>
          </p:cNvCxnSpPr>
          <p:nvPr/>
        </p:nvCxnSpPr>
        <p:spPr>
          <a:xfrm>
            <a:off x="10541654" y="4508711"/>
            <a:ext cx="362566"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7ED0CE2C-0167-43F6-B7FF-00400AD3A456}"/>
              </a:ext>
            </a:extLst>
          </p:cNvPr>
          <p:cNvCxnSpPr>
            <a:cxnSpLocks/>
          </p:cNvCxnSpPr>
          <p:nvPr/>
        </p:nvCxnSpPr>
        <p:spPr>
          <a:xfrm flipH="1" flipV="1">
            <a:off x="9776350" y="4469696"/>
            <a:ext cx="1" cy="47155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3FBCF6AF-18BF-4009-994F-86A9B144EC9B}"/>
              </a:ext>
            </a:extLst>
          </p:cNvPr>
          <p:cNvCxnSpPr>
            <a:cxnSpLocks/>
          </p:cNvCxnSpPr>
          <p:nvPr/>
        </p:nvCxnSpPr>
        <p:spPr>
          <a:xfrm>
            <a:off x="10543598" y="5156837"/>
            <a:ext cx="100804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831600B3-1041-403B-BA33-E38DA5511787}"/>
              </a:ext>
            </a:extLst>
          </p:cNvPr>
          <p:cNvCxnSpPr>
            <a:cxnSpLocks/>
          </p:cNvCxnSpPr>
          <p:nvPr/>
        </p:nvCxnSpPr>
        <p:spPr>
          <a:xfrm flipH="1" flipV="1">
            <a:off x="1805750" y="3081149"/>
            <a:ext cx="3788" cy="3683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76" name="TextBox 4">
            <a:extLst>
              <a:ext uri="{FF2B5EF4-FFF2-40B4-BE49-F238E27FC236}">
                <a16:creationId xmlns:a16="http://schemas.microsoft.com/office/drawing/2014/main" id="{88A5CA65-6009-4784-A076-194AB25C5E83}"/>
              </a:ext>
            </a:extLst>
          </p:cNvPr>
          <p:cNvSpPr txBox="1"/>
          <p:nvPr/>
        </p:nvSpPr>
        <p:spPr>
          <a:xfrm>
            <a:off x="9976885" y="4092382"/>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1</a:t>
            </a:r>
            <a:endParaRPr lang="zh-CN" altLang="en-US" sz="2000" dirty="0">
              <a:latin typeface="Calibri" panose="020F0502020204030204" pitchFamily="34" charset="0"/>
            </a:endParaRPr>
          </a:p>
        </p:txBody>
      </p:sp>
      <p:sp>
        <p:nvSpPr>
          <p:cNvPr id="77" name="TextBox 4">
            <a:extLst>
              <a:ext uri="{FF2B5EF4-FFF2-40B4-BE49-F238E27FC236}">
                <a16:creationId xmlns:a16="http://schemas.microsoft.com/office/drawing/2014/main" id="{F41ED177-D1F5-4283-86D0-CBD6E96A17CD}"/>
              </a:ext>
            </a:extLst>
          </p:cNvPr>
          <p:cNvSpPr txBox="1"/>
          <p:nvPr/>
        </p:nvSpPr>
        <p:spPr>
          <a:xfrm>
            <a:off x="9996830" y="3429000"/>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2</a:t>
            </a:r>
            <a:endParaRPr lang="zh-CN" altLang="en-US" sz="2000" dirty="0">
              <a:latin typeface="Calibri" panose="020F0502020204030204" pitchFamily="34" charset="0"/>
            </a:endParaRPr>
          </a:p>
        </p:txBody>
      </p:sp>
      <p:sp>
        <p:nvSpPr>
          <p:cNvPr id="78" name="TextBox 4">
            <a:extLst>
              <a:ext uri="{FF2B5EF4-FFF2-40B4-BE49-F238E27FC236}">
                <a16:creationId xmlns:a16="http://schemas.microsoft.com/office/drawing/2014/main" id="{83D0AE91-F50F-438F-B377-AD0A34EF3ECC}"/>
              </a:ext>
            </a:extLst>
          </p:cNvPr>
          <p:cNvSpPr txBox="1"/>
          <p:nvPr/>
        </p:nvSpPr>
        <p:spPr>
          <a:xfrm>
            <a:off x="9958386" y="2638967"/>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3</a:t>
            </a:r>
            <a:endParaRPr lang="zh-CN" altLang="en-US" sz="2000" dirty="0">
              <a:latin typeface="Calibri" panose="020F0502020204030204" pitchFamily="34" charset="0"/>
            </a:endParaRPr>
          </a:p>
        </p:txBody>
      </p:sp>
      <p:sp>
        <p:nvSpPr>
          <p:cNvPr id="79" name="TextBox 4">
            <a:extLst>
              <a:ext uri="{FF2B5EF4-FFF2-40B4-BE49-F238E27FC236}">
                <a16:creationId xmlns:a16="http://schemas.microsoft.com/office/drawing/2014/main" id="{BC8B5BFD-F70F-4DB0-9D73-104289CD4A68}"/>
              </a:ext>
            </a:extLst>
          </p:cNvPr>
          <p:cNvSpPr txBox="1"/>
          <p:nvPr/>
        </p:nvSpPr>
        <p:spPr>
          <a:xfrm>
            <a:off x="9958385" y="1840635"/>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4</a:t>
            </a:r>
            <a:endParaRPr lang="zh-CN" altLang="en-US" sz="2000" dirty="0">
              <a:latin typeface="Calibri" panose="020F0502020204030204" pitchFamily="34" charset="0"/>
            </a:endParaRPr>
          </a:p>
        </p:txBody>
      </p:sp>
      <p:sp>
        <p:nvSpPr>
          <p:cNvPr id="80" name="TextBox 4">
            <a:extLst>
              <a:ext uri="{FF2B5EF4-FFF2-40B4-BE49-F238E27FC236}">
                <a16:creationId xmlns:a16="http://schemas.microsoft.com/office/drawing/2014/main" id="{CC0E0563-7081-4031-A18E-E00284400296}"/>
              </a:ext>
            </a:extLst>
          </p:cNvPr>
          <p:cNvSpPr txBox="1"/>
          <p:nvPr/>
        </p:nvSpPr>
        <p:spPr>
          <a:xfrm>
            <a:off x="9958385" y="927325"/>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5</a:t>
            </a:r>
            <a:endParaRPr lang="zh-CN" altLang="en-US" sz="2000" dirty="0">
              <a:latin typeface="Calibri" panose="020F0502020204030204" pitchFamily="34" charset="0"/>
            </a:endParaRPr>
          </a:p>
        </p:txBody>
      </p:sp>
      <p:sp>
        <p:nvSpPr>
          <p:cNvPr id="81" name="TextBox 4">
            <a:extLst>
              <a:ext uri="{FF2B5EF4-FFF2-40B4-BE49-F238E27FC236}">
                <a16:creationId xmlns:a16="http://schemas.microsoft.com/office/drawing/2014/main" id="{A034B39E-6A76-467B-976B-0918B07EBC44}"/>
              </a:ext>
            </a:extLst>
          </p:cNvPr>
          <p:cNvSpPr txBox="1"/>
          <p:nvPr/>
        </p:nvSpPr>
        <p:spPr>
          <a:xfrm>
            <a:off x="11266445" y="4155053"/>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6</a:t>
            </a:r>
            <a:endParaRPr lang="zh-CN" altLang="en-US" sz="2000" dirty="0">
              <a:latin typeface="Calibri" panose="020F0502020204030204" pitchFamily="34" charset="0"/>
            </a:endParaRPr>
          </a:p>
        </p:txBody>
      </p:sp>
      <p:sp>
        <p:nvSpPr>
          <p:cNvPr id="82" name="TextBox 4">
            <a:extLst>
              <a:ext uri="{FF2B5EF4-FFF2-40B4-BE49-F238E27FC236}">
                <a16:creationId xmlns:a16="http://schemas.microsoft.com/office/drawing/2014/main" id="{E02A9796-258C-4420-BDC9-01E80AA89E36}"/>
              </a:ext>
            </a:extLst>
          </p:cNvPr>
          <p:cNvSpPr txBox="1"/>
          <p:nvPr/>
        </p:nvSpPr>
        <p:spPr>
          <a:xfrm>
            <a:off x="11286178" y="3493519"/>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7</a:t>
            </a:r>
            <a:endParaRPr lang="zh-CN" altLang="en-US" sz="2000" dirty="0">
              <a:latin typeface="Calibri" panose="020F0502020204030204" pitchFamily="34" charset="0"/>
            </a:endParaRPr>
          </a:p>
        </p:txBody>
      </p:sp>
      <p:sp>
        <p:nvSpPr>
          <p:cNvPr id="83" name="TextBox 4">
            <a:extLst>
              <a:ext uri="{FF2B5EF4-FFF2-40B4-BE49-F238E27FC236}">
                <a16:creationId xmlns:a16="http://schemas.microsoft.com/office/drawing/2014/main" id="{4361FB23-4DF4-4983-A348-21C5D64FC89B}"/>
              </a:ext>
            </a:extLst>
          </p:cNvPr>
          <p:cNvSpPr txBox="1"/>
          <p:nvPr/>
        </p:nvSpPr>
        <p:spPr>
          <a:xfrm>
            <a:off x="11278126" y="2621320"/>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8</a:t>
            </a:r>
            <a:endParaRPr lang="zh-CN" altLang="en-US" sz="2000" dirty="0">
              <a:latin typeface="Calibri" panose="020F0502020204030204" pitchFamily="34" charset="0"/>
            </a:endParaRPr>
          </a:p>
        </p:txBody>
      </p:sp>
      <p:sp>
        <p:nvSpPr>
          <p:cNvPr id="84" name="TextBox 4">
            <a:extLst>
              <a:ext uri="{FF2B5EF4-FFF2-40B4-BE49-F238E27FC236}">
                <a16:creationId xmlns:a16="http://schemas.microsoft.com/office/drawing/2014/main" id="{8469C662-BE1B-4919-AC86-FA1145D9A3E4}"/>
              </a:ext>
            </a:extLst>
          </p:cNvPr>
          <p:cNvSpPr txBox="1"/>
          <p:nvPr/>
        </p:nvSpPr>
        <p:spPr>
          <a:xfrm>
            <a:off x="11258715" y="1768865"/>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9</a:t>
            </a:r>
            <a:endParaRPr lang="zh-CN" altLang="en-US" sz="2000" dirty="0">
              <a:latin typeface="Calibri" panose="020F0502020204030204" pitchFamily="34" charset="0"/>
            </a:endParaRPr>
          </a:p>
        </p:txBody>
      </p:sp>
      <p:sp>
        <p:nvSpPr>
          <p:cNvPr id="85" name="TextBox 4">
            <a:extLst>
              <a:ext uri="{FF2B5EF4-FFF2-40B4-BE49-F238E27FC236}">
                <a16:creationId xmlns:a16="http://schemas.microsoft.com/office/drawing/2014/main" id="{0E20403B-A967-466E-B090-862F5A92CDE7}"/>
              </a:ext>
            </a:extLst>
          </p:cNvPr>
          <p:cNvSpPr txBox="1"/>
          <p:nvPr/>
        </p:nvSpPr>
        <p:spPr>
          <a:xfrm>
            <a:off x="11264457" y="965908"/>
            <a:ext cx="547177" cy="400110"/>
          </a:xfrm>
          <a:prstGeom prst="rect">
            <a:avLst/>
          </a:prstGeom>
          <a:noFill/>
          <a:ln w="9525">
            <a:noFill/>
          </a:ln>
        </p:spPr>
        <p:txBody>
          <a:bodyPr wrap="square">
            <a:spAutoFit/>
          </a:bodyPr>
          <a:lstStyle/>
          <a:p>
            <a:r>
              <a:rPr lang="en-US" altLang="zh-CN" sz="2000" dirty="0">
                <a:latin typeface="Calibri" panose="020F0502020204030204" pitchFamily="34" charset="0"/>
              </a:rPr>
              <a:t>10</a:t>
            </a:r>
            <a:endParaRPr lang="zh-CN" altLang="en-US" sz="2000" dirty="0">
              <a:latin typeface="Calibri" panose="020F0502020204030204" pitchFamily="34" charset="0"/>
            </a:endParaRPr>
          </a:p>
        </p:txBody>
      </p:sp>
      <p:cxnSp>
        <p:nvCxnSpPr>
          <p:cNvPr id="86" name="直接箭头连接符 85">
            <a:extLst>
              <a:ext uri="{FF2B5EF4-FFF2-40B4-BE49-F238E27FC236}">
                <a16:creationId xmlns:a16="http://schemas.microsoft.com/office/drawing/2014/main" id="{9FDA8660-007A-4864-A3DB-89BDE22ECE2E}"/>
              </a:ext>
            </a:extLst>
          </p:cNvPr>
          <p:cNvCxnSpPr>
            <a:cxnSpLocks/>
            <a:endCxn id="12" idx="1"/>
          </p:cNvCxnSpPr>
          <p:nvPr/>
        </p:nvCxnSpPr>
        <p:spPr>
          <a:xfrm>
            <a:off x="2667882" y="2921000"/>
            <a:ext cx="342081" cy="1747"/>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EB5794B4-E2A3-42A8-9BE4-F4540D7A8B34}"/>
              </a:ext>
            </a:extLst>
          </p:cNvPr>
          <p:cNvCxnSpPr>
            <a:cxnSpLocks/>
          </p:cNvCxnSpPr>
          <p:nvPr/>
        </p:nvCxnSpPr>
        <p:spPr>
          <a:xfrm>
            <a:off x="3315331" y="2926716"/>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A5C636D4-7B35-46D8-9A2F-A0A921B9397C}"/>
              </a:ext>
            </a:extLst>
          </p:cNvPr>
          <p:cNvCxnSpPr>
            <a:cxnSpLocks/>
          </p:cNvCxnSpPr>
          <p:nvPr/>
        </p:nvCxnSpPr>
        <p:spPr>
          <a:xfrm>
            <a:off x="3932473" y="2944336"/>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18870577-B30C-47AE-8C75-964A7F02B9A5}"/>
              </a:ext>
            </a:extLst>
          </p:cNvPr>
          <p:cNvCxnSpPr>
            <a:cxnSpLocks/>
          </p:cNvCxnSpPr>
          <p:nvPr/>
        </p:nvCxnSpPr>
        <p:spPr>
          <a:xfrm>
            <a:off x="4517548" y="2938588"/>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A721ED46-B109-4CB3-AC58-825FFBBABDD5}"/>
              </a:ext>
            </a:extLst>
          </p:cNvPr>
          <p:cNvCxnSpPr>
            <a:cxnSpLocks/>
          </p:cNvCxnSpPr>
          <p:nvPr/>
        </p:nvCxnSpPr>
        <p:spPr>
          <a:xfrm>
            <a:off x="5114766" y="2958338"/>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F3600DCA-CF96-4785-A168-3BB8AD9BB94C}"/>
              </a:ext>
            </a:extLst>
          </p:cNvPr>
          <p:cNvCxnSpPr>
            <a:cxnSpLocks/>
          </p:cNvCxnSpPr>
          <p:nvPr/>
        </p:nvCxnSpPr>
        <p:spPr>
          <a:xfrm>
            <a:off x="5726209" y="2926080"/>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793B59B2-9F38-4422-AADA-677D0C477197}"/>
              </a:ext>
            </a:extLst>
          </p:cNvPr>
          <p:cNvCxnSpPr>
            <a:cxnSpLocks/>
          </p:cNvCxnSpPr>
          <p:nvPr/>
        </p:nvCxnSpPr>
        <p:spPr>
          <a:xfrm>
            <a:off x="6323321" y="2926716"/>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D940AB16-8E08-4CC2-811C-91CA8989AEB7}"/>
              </a:ext>
            </a:extLst>
          </p:cNvPr>
          <p:cNvCxnSpPr>
            <a:cxnSpLocks/>
          </p:cNvCxnSpPr>
          <p:nvPr/>
        </p:nvCxnSpPr>
        <p:spPr>
          <a:xfrm>
            <a:off x="6956447" y="2921000"/>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0" name="TextBox 21">
            <a:extLst>
              <a:ext uri="{FF2B5EF4-FFF2-40B4-BE49-F238E27FC236}">
                <a16:creationId xmlns:a16="http://schemas.microsoft.com/office/drawing/2014/main" id="{FDB13EA8-3560-4E31-9D15-2C75E7FF33B1}"/>
              </a:ext>
            </a:extLst>
          </p:cNvPr>
          <p:cNvSpPr txBox="1"/>
          <p:nvPr/>
        </p:nvSpPr>
        <p:spPr>
          <a:xfrm>
            <a:off x="1287780" y="3107496"/>
            <a:ext cx="1170517" cy="338554"/>
          </a:xfrm>
          <a:prstGeom prst="rect">
            <a:avLst/>
          </a:prstGeom>
          <a:noFill/>
          <a:ln w="9525">
            <a:noFill/>
          </a:ln>
        </p:spPr>
        <p:txBody>
          <a:bodyPr wrap="square">
            <a:sp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slow">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a:extLst>
              <a:ext uri="{FF2B5EF4-FFF2-40B4-BE49-F238E27FC236}">
                <a16:creationId xmlns:a16="http://schemas.microsoft.com/office/drawing/2014/main" id="{04290B3B-7F2A-4773-AF3D-3DB944B782A9}"/>
              </a:ext>
            </a:extLst>
          </p:cNvPr>
          <p:cNvGrpSpPr/>
          <p:nvPr/>
        </p:nvGrpSpPr>
        <p:grpSpPr>
          <a:xfrm>
            <a:off x="839416" y="1501775"/>
            <a:ext cx="7560628" cy="3854450"/>
            <a:chOff x="1991360" y="2132013"/>
            <a:chExt cx="7560628" cy="3854450"/>
          </a:xfrm>
        </p:grpSpPr>
        <p:sp>
          <p:nvSpPr>
            <p:cNvPr id="5" name="矩形 4">
              <a:extLst>
                <a:ext uri="{FF2B5EF4-FFF2-40B4-BE49-F238E27FC236}">
                  <a16:creationId xmlns:a16="http://schemas.microsoft.com/office/drawing/2014/main" id="{409CB3F8-9540-4939-8FC1-B03E63D7BC14}"/>
                </a:ext>
              </a:extLst>
            </p:cNvPr>
            <p:cNvSpPr/>
            <p:nvPr/>
          </p:nvSpPr>
          <p:spPr>
            <a:xfrm>
              <a:off x="2162175" y="2343150"/>
              <a:ext cx="7389813" cy="3606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a:extLst>
                <a:ext uri="{FF2B5EF4-FFF2-40B4-BE49-F238E27FC236}">
                  <a16:creationId xmlns:a16="http://schemas.microsoft.com/office/drawing/2014/main" id="{BFD8BF16-75F2-4622-A68C-259210F589E8}"/>
                </a:ext>
              </a:extLst>
            </p:cNvPr>
            <p:cNvSpPr/>
            <p:nvPr/>
          </p:nvSpPr>
          <p:spPr>
            <a:xfrm>
              <a:off x="3707606" y="3062451"/>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a:extLst>
                <a:ext uri="{FF2B5EF4-FFF2-40B4-BE49-F238E27FC236}">
                  <a16:creationId xmlns:a16="http://schemas.microsoft.com/office/drawing/2014/main" id="{7922E46C-451B-4743-A335-AA87C07CEA85}"/>
                </a:ext>
              </a:extLst>
            </p:cNvPr>
            <p:cNvSpPr/>
            <p:nvPr/>
          </p:nvSpPr>
          <p:spPr>
            <a:xfrm>
              <a:off x="5071347" y="3062451"/>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a:extLst>
                <a:ext uri="{FF2B5EF4-FFF2-40B4-BE49-F238E27FC236}">
                  <a16:creationId xmlns:a16="http://schemas.microsoft.com/office/drawing/2014/main" id="{C4419BC0-8B0F-4F83-A66E-23047A266259}"/>
                </a:ext>
              </a:extLst>
            </p:cNvPr>
            <p:cNvSpPr/>
            <p:nvPr/>
          </p:nvSpPr>
          <p:spPr>
            <a:xfrm>
              <a:off x="5157752" y="4756150"/>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a:extLst>
                <a:ext uri="{FF2B5EF4-FFF2-40B4-BE49-F238E27FC236}">
                  <a16:creationId xmlns:a16="http://schemas.microsoft.com/office/drawing/2014/main" id="{1048FEAF-E7B9-4630-9079-2158FE1E5198}"/>
                </a:ext>
              </a:extLst>
            </p:cNvPr>
            <p:cNvSpPr/>
            <p:nvPr/>
          </p:nvSpPr>
          <p:spPr>
            <a:xfrm>
              <a:off x="2981325" y="3051175"/>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a:extLst>
                <a:ext uri="{FF2B5EF4-FFF2-40B4-BE49-F238E27FC236}">
                  <a16:creationId xmlns:a16="http://schemas.microsoft.com/office/drawing/2014/main" id="{F5DDF707-1685-490B-ABFA-5E4DEBBE26F8}"/>
                </a:ext>
              </a:extLst>
            </p:cNvPr>
            <p:cNvSpPr/>
            <p:nvPr/>
          </p:nvSpPr>
          <p:spPr>
            <a:xfrm>
              <a:off x="4375944" y="3062451"/>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a:extLst>
                <a:ext uri="{FF2B5EF4-FFF2-40B4-BE49-F238E27FC236}">
                  <a16:creationId xmlns:a16="http://schemas.microsoft.com/office/drawing/2014/main" id="{4DBEE894-D3D0-407F-992C-A1F7C9D00CB5}"/>
                </a:ext>
              </a:extLst>
            </p:cNvPr>
            <p:cNvSpPr/>
            <p:nvPr/>
          </p:nvSpPr>
          <p:spPr>
            <a:xfrm>
              <a:off x="5845918" y="307097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a:extLst>
                <a:ext uri="{FF2B5EF4-FFF2-40B4-BE49-F238E27FC236}">
                  <a16:creationId xmlns:a16="http://schemas.microsoft.com/office/drawing/2014/main" id="{C87FA7EE-07E3-480E-92CE-7527016C2BDE}"/>
                </a:ext>
              </a:extLst>
            </p:cNvPr>
            <p:cNvSpPr/>
            <p:nvPr/>
          </p:nvSpPr>
          <p:spPr>
            <a:xfrm>
              <a:off x="5932806" y="4773613"/>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TextBox 4">
              <a:extLst>
                <a:ext uri="{FF2B5EF4-FFF2-40B4-BE49-F238E27FC236}">
                  <a16:creationId xmlns:a16="http://schemas.microsoft.com/office/drawing/2014/main" id="{3D44E106-E005-429E-BDCB-1E35AD8CC041}"/>
                </a:ext>
              </a:extLst>
            </p:cNvPr>
            <p:cNvSpPr txBox="1"/>
            <p:nvPr/>
          </p:nvSpPr>
          <p:spPr>
            <a:xfrm>
              <a:off x="3024188" y="2627313"/>
              <a:ext cx="144462" cy="368300"/>
            </a:xfrm>
            <a:prstGeom prst="rect">
              <a:avLst/>
            </a:prstGeom>
            <a:noFill/>
            <a:ln w="9525">
              <a:noFill/>
            </a:ln>
          </p:spPr>
          <p:txBody>
            <a:bodyPr>
              <a:spAutoFit/>
            </a:bodyPr>
            <a:lstStyle/>
            <a:p>
              <a:r>
                <a:rPr lang="en-US" altLang="zh-CN" dirty="0">
                  <a:latin typeface="Calibri" panose="020F0502020204030204" pitchFamily="34" charset="0"/>
                </a:rPr>
                <a:t>1</a:t>
              </a:r>
              <a:endParaRPr lang="zh-CN" altLang="en-US" dirty="0">
                <a:latin typeface="Calibri" panose="020F0502020204030204" pitchFamily="34" charset="0"/>
              </a:endParaRPr>
            </a:p>
          </p:txBody>
        </p:sp>
        <p:sp>
          <p:nvSpPr>
            <p:cNvPr id="14" name="TextBox 16">
              <a:extLst>
                <a:ext uri="{FF2B5EF4-FFF2-40B4-BE49-F238E27FC236}">
                  <a16:creationId xmlns:a16="http://schemas.microsoft.com/office/drawing/2014/main" id="{9E0AF8A9-017D-4B13-9D3E-3CD0FCB97B9F}"/>
                </a:ext>
              </a:extLst>
            </p:cNvPr>
            <p:cNvSpPr txBox="1"/>
            <p:nvPr/>
          </p:nvSpPr>
          <p:spPr>
            <a:xfrm>
              <a:off x="3779044" y="2622714"/>
              <a:ext cx="144462" cy="368300"/>
            </a:xfrm>
            <a:prstGeom prst="rect">
              <a:avLst/>
            </a:prstGeom>
            <a:noFill/>
            <a:ln w="9525">
              <a:noFill/>
            </a:ln>
          </p:spPr>
          <p:txBody>
            <a:bodyPr>
              <a:spAutoFit/>
            </a:bodyPr>
            <a:lstStyle/>
            <a:p>
              <a:r>
                <a:rPr lang="en-US" altLang="zh-CN" dirty="0">
                  <a:latin typeface="Calibri" panose="020F0502020204030204" pitchFamily="34" charset="0"/>
                </a:rPr>
                <a:t>2</a:t>
              </a:r>
              <a:endParaRPr lang="zh-CN" altLang="en-US" dirty="0">
                <a:latin typeface="Calibri" panose="020F0502020204030204" pitchFamily="34" charset="0"/>
              </a:endParaRPr>
            </a:p>
          </p:txBody>
        </p:sp>
        <p:sp>
          <p:nvSpPr>
            <p:cNvPr id="15" name="TextBox 18">
              <a:extLst>
                <a:ext uri="{FF2B5EF4-FFF2-40B4-BE49-F238E27FC236}">
                  <a16:creationId xmlns:a16="http://schemas.microsoft.com/office/drawing/2014/main" id="{93B1C3FB-1B1E-44BC-8DDB-66D259668A89}"/>
                </a:ext>
              </a:extLst>
            </p:cNvPr>
            <p:cNvSpPr txBox="1"/>
            <p:nvPr/>
          </p:nvSpPr>
          <p:spPr>
            <a:xfrm>
              <a:off x="4448969" y="2633826"/>
              <a:ext cx="142875" cy="368300"/>
            </a:xfrm>
            <a:prstGeom prst="rect">
              <a:avLst/>
            </a:prstGeom>
            <a:noFill/>
            <a:ln w="9525">
              <a:noFill/>
            </a:ln>
          </p:spPr>
          <p:txBody>
            <a:bodyPr>
              <a:spAutoFit/>
            </a:bodyPr>
            <a:lstStyle/>
            <a:p>
              <a:r>
                <a:rPr lang="en-US" altLang="zh-CN" dirty="0">
                  <a:latin typeface="Calibri" panose="020F0502020204030204" pitchFamily="34" charset="0"/>
                </a:rPr>
                <a:t>3</a:t>
              </a:r>
              <a:endParaRPr lang="zh-CN" altLang="en-US" dirty="0">
                <a:latin typeface="Calibri" panose="020F0502020204030204" pitchFamily="34" charset="0"/>
              </a:endParaRPr>
            </a:p>
          </p:txBody>
        </p:sp>
        <p:sp>
          <p:nvSpPr>
            <p:cNvPr id="16" name="TextBox 19">
              <a:extLst>
                <a:ext uri="{FF2B5EF4-FFF2-40B4-BE49-F238E27FC236}">
                  <a16:creationId xmlns:a16="http://schemas.microsoft.com/office/drawing/2014/main" id="{23CCF96E-8B2E-4739-85CC-08C804A44B94}"/>
                </a:ext>
              </a:extLst>
            </p:cNvPr>
            <p:cNvSpPr txBox="1"/>
            <p:nvPr/>
          </p:nvSpPr>
          <p:spPr>
            <a:xfrm>
              <a:off x="5130085" y="2670339"/>
              <a:ext cx="142875" cy="368300"/>
            </a:xfrm>
            <a:prstGeom prst="rect">
              <a:avLst/>
            </a:prstGeom>
            <a:noFill/>
            <a:ln w="9525">
              <a:noFill/>
            </a:ln>
          </p:spPr>
          <p:txBody>
            <a:bodyPr>
              <a:spAutoFit/>
            </a:bodyPr>
            <a:lstStyle/>
            <a:p>
              <a:r>
                <a:rPr lang="en-US" altLang="zh-CN" dirty="0">
                  <a:latin typeface="Calibri" panose="020F0502020204030204" pitchFamily="34" charset="0"/>
                </a:rPr>
                <a:t>4</a:t>
              </a:r>
              <a:endParaRPr lang="zh-CN" altLang="en-US" dirty="0">
                <a:latin typeface="Calibri" panose="020F0502020204030204" pitchFamily="34" charset="0"/>
              </a:endParaRPr>
            </a:p>
          </p:txBody>
        </p:sp>
        <p:sp>
          <p:nvSpPr>
            <p:cNvPr id="17" name="TextBox 20">
              <a:extLst>
                <a:ext uri="{FF2B5EF4-FFF2-40B4-BE49-F238E27FC236}">
                  <a16:creationId xmlns:a16="http://schemas.microsoft.com/office/drawing/2014/main" id="{CDFF1750-2EF2-4225-B278-EAD12614A2CB}"/>
                </a:ext>
              </a:extLst>
            </p:cNvPr>
            <p:cNvSpPr txBox="1"/>
            <p:nvPr/>
          </p:nvSpPr>
          <p:spPr>
            <a:xfrm>
              <a:off x="5884863" y="2674162"/>
              <a:ext cx="144462" cy="368300"/>
            </a:xfrm>
            <a:prstGeom prst="rect">
              <a:avLst/>
            </a:prstGeom>
            <a:noFill/>
            <a:ln w="9525">
              <a:noFill/>
            </a:ln>
          </p:spPr>
          <p:txBody>
            <a:bodyPr>
              <a:spAutoFit/>
            </a:bodyPr>
            <a:lstStyle/>
            <a:p>
              <a:r>
                <a:rPr lang="en-US" altLang="zh-CN" dirty="0">
                  <a:latin typeface="Calibri" panose="020F0502020204030204" pitchFamily="34" charset="0"/>
                </a:rPr>
                <a:t>5</a:t>
              </a:r>
              <a:endParaRPr lang="zh-CN" altLang="en-US" dirty="0">
                <a:latin typeface="Calibri" panose="020F0502020204030204" pitchFamily="34" charset="0"/>
              </a:endParaRPr>
            </a:p>
          </p:txBody>
        </p:sp>
        <p:sp>
          <p:nvSpPr>
            <p:cNvPr id="18" name="TextBox 21">
              <a:extLst>
                <a:ext uri="{FF2B5EF4-FFF2-40B4-BE49-F238E27FC236}">
                  <a16:creationId xmlns:a16="http://schemas.microsoft.com/office/drawing/2014/main" id="{10803344-33B5-4CED-BA37-6B783656E6AD}"/>
                </a:ext>
              </a:extLst>
            </p:cNvPr>
            <p:cNvSpPr txBox="1"/>
            <p:nvPr/>
          </p:nvSpPr>
          <p:spPr>
            <a:xfrm>
              <a:off x="5126002" y="4335463"/>
              <a:ext cx="142875" cy="368300"/>
            </a:xfrm>
            <a:prstGeom prst="rect">
              <a:avLst/>
            </a:prstGeom>
            <a:noFill/>
            <a:ln w="9525">
              <a:noFill/>
            </a:ln>
          </p:spPr>
          <p:txBody>
            <a:bodyPr>
              <a:spAutoFit/>
            </a:bodyPr>
            <a:lstStyle/>
            <a:p>
              <a:r>
                <a:rPr lang="en-US" altLang="zh-CN" dirty="0">
                  <a:latin typeface="Calibri" panose="020F0502020204030204" pitchFamily="34" charset="0"/>
                </a:rPr>
                <a:t>6</a:t>
              </a:r>
              <a:endParaRPr lang="zh-CN" altLang="en-US" dirty="0">
                <a:latin typeface="Calibri" panose="020F0502020204030204" pitchFamily="34" charset="0"/>
              </a:endParaRPr>
            </a:p>
          </p:txBody>
        </p:sp>
        <p:sp>
          <p:nvSpPr>
            <p:cNvPr id="19" name="TextBox 22">
              <a:extLst>
                <a:ext uri="{FF2B5EF4-FFF2-40B4-BE49-F238E27FC236}">
                  <a16:creationId xmlns:a16="http://schemas.microsoft.com/office/drawing/2014/main" id="{B696DE7C-8E77-48FE-AAAE-D2AB13F36CBF}"/>
                </a:ext>
              </a:extLst>
            </p:cNvPr>
            <p:cNvSpPr txBox="1"/>
            <p:nvPr/>
          </p:nvSpPr>
          <p:spPr>
            <a:xfrm>
              <a:off x="5950268" y="4371976"/>
              <a:ext cx="144463" cy="368300"/>
            </a:xfrm>
            <a:prstGeom prst="rect">
              <a:avLst/>
            </a:prstGeom>
            <a:noFill/>
            <a:ln w="9525">
              <a:noFill/>
            </a:ln>
          </p:spPr>
          <p:txBody>
            <a:bodyPr>
              <a:spAutoFit/>
            </a:bodyPr>
            <a:lstStyle/>
            <a:p>
              <a:r>
                <a:rPr lang="en-US" altLang="zh-CN" dirty="0">
                  <a:latin typeface="Calibri" panose="020F0502020204030204" pitchFamily="34" charset="0"/>
                </a:rPr>
                <a:t>7</a:t>
              </a:r>
              <a:endParaRPr lang="zh-CN" altLang="en-US" dirty="0">
                <a:latin typeface="Calibri" panose="020F0502020204030204" pitchFamily="34" charset="0"/>
              </a:endParaRPr>
            </a:p>
          </p:txBody>
        </p:sp>
        <p:sp>
          <p:nvSpPr>
            <p:cNvPr id="20" name="TextBox 49">
              <a:extLst>
                <a:ext uri="{FF2B5EF4-FFF2-40B4-BE49-F238E27FC236}">
                  <a16:creationId xmlns:a16="http://schemas.microsoft.com/office/drawing/2014/main" id="{7F728901-7CAF-494D-BA6E-4281C7C43ECB}"/>
                </a:ext>
              </a:extLst>
            </p:cNvPr>
            <p:cNvSpPr txBox="1"/>
            <p:nvPr/>
          </p:nvSpPr>
          <p:spPr>
            <a:xfrm>
              <a:off x="8188325" y="4781550"/>
              <a:ext cx="144463"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21" name="TextBox 53">
              <a:extLst>
                <a:ext uri="{FF2B5EF4-FFF2-40B4-BE49-F238E27FC236}">
                  <a16:creationId xmlns:a16="http://schemas.microsoft.com/office/drawing/2014/main" id="{4A7D3B42-1EA2-4002-8BDC-0A33B166ADC5}"/>
                </a:ext>
              </a:extLst>
            </p:cNvPr>
            <p:cNvSpPr txBox="1"/>
            <p:nvPr/>
          </p:nvSpPr>
          <p:spPr>
            <a:xfrm>
              <a:off x="8178800" y="4826000"/>
              <a:ext cx="144463"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22" name="矩形 21">
              <a:extLst>
                <a:ext uri="{FF2B5EF4-FFF2-40B4-BE49-F238E27FC236}">
                  <a16:creationId xmlns:a16="http://schemas.microsoft.com/office/drawing/2014/main" id="{81B4D394-FE49-4708-8596-E65BF917F642}"/>
                </a:ext>
              </a:extLst>
            </p:cNvPr>
            <p:cNvSpPr/>
            <p:nvPr/>
          </p:nvSpPr>
          <p:spPr>
            <a:xfrm>
              <a:off x="6809546" y="4790711"/>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3" name="矩形 22">
              <a:extLst>
                <a:ext uri="{FF2B5EF4-FFF2-40B4-BE49-F238E27FC236}">
                  <a16:creationId xmlns:a16="http://schemas.microsoft.com/office/drawing/2014/main" id="{5A739F48-2E77-4DB2-992E-99A4B72AAFF2}"/>
                </a:ext>
              </a:extLst>
            </p:cNvPr>
            <p:cNvSpPr/>
            <p:nvPr/>
          </p:nvSpPr>
          <p:spPr>
            <a:xfrm>
              <a:off x="8310563" y="4797425"/>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矩形 23">
              <a:extLst>
                <a:ext uri="{FF2B5EF4-FFF2-40B4-BE49-F238E27FC236}">
                  <a16:creationId xmlns:a16="http://schemas.microsoft.com/office/drawing/2014/main" id="{CCC5C5EE-63CC-468D-A34E-12A2293DE535}"/>
                </a:ext>
              </a:extLst>
            </p:cNvPr>
            <p:cNvSpPr/>
            <p:nvPr/>
          </p:nvSpPr>
          <p:spPr>
            <a:xfrm>
              <a:off x="7592511" y="4785284"/>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 name="TextBox 19">
              <a:extLst>
                <a:ext uri="{FF2B5EF4-FFF2-40B4-BE49-F238E27FC236}">
                  <a16:creationId xmlns:a16="http://schemas.microsoft.com/office/drawing/2014/main" id="{587C1706-419B-41AC-9622-692AA21B1A93}"/>
                </a:ext>
              </a:extLst>
            </p:cNvPr>
            <p:cNvSpPr txBox="1"/>
            <p:nvPr/>
          </p:nvSpPr>
          <p:spPr>
            <a:xfrm>
              <a:off x="6868283" y="4398599"/>
              <a:ext cx="142875" cy="368300"/>
            </a:xfrm>
            <a:prstGeom prst="rect">
              <a:avLst/>
            </a:prstGeom>
            <a:noFill/>
            <a:ln w="9525">
              <a:noFill/>
            </a:ln>
          </p:spPr>
          <p:txBody>
            <a:bodyPr>
              <a:spAutoFit/>
            </a:bodyPr>
            <a:lstStyle/>
            <a:p>
              <a:r>
                <a:rPr lang="en-US" altLang="zh-CN" dirty="0">
                  <a:latin typeface="Calibri" panose="020F0502020204030204" pitchFamily="34" charset="0"/>
                </a:rPr>
                <a:t>8</a:t>
              </a:r>
              <a:endParaRPr lang="zh-CN" altLang="en-US" dirty="0">
                <a:latin typeface="Calibri" panose="020F0502020204030204" pitchFamily="34" charset="0"/>
              </a:endParaRPr>
            </a:p>
          </p:txBody>
        </p:sp>
        <p:sp>
          <p:nvSpPr>
            <p:cNvPr id="26" name="TextBox 20">
              <a:extLst>
                <a:ext uri="{FF2B5EF4-FFF2-40B4-BE49-F238E27FC236}">
                  <a16:creationId xmlns:a16="http://schemas.microsoft.com/office/drawing/2014/main" id="{7DF15C59-104A-476D-A13D-D7C8A17F0FC3}"/>
                </a:ext>
              </a:extLst>
            </p:cNvPr>
            <p:cNvSpPr txBox="1"/>
            <p:nvPr/>
          </p:nvSpPr>
          <p:spPr>
            <a:xfrm>
              <a:off x="7623943" y="4375709"/>
              <a:ext cx="144463" cy="368300"/>
            </a:xfrm>
            <a:prstGeom prst="rect">
              <a:avLst/>
            </a:prstGeom>
            <a:noFill/>
            <a:ln w="9525">
              <a:noFill/>
            </a:ln>
          </p:spPr>
          <p:txBody>
            <a:bodyPr>
              <a:spAutoFit/>
            </a:bodyPr>
            <a:lstStyle/>
            <a:p>
              <a:r>
                <a:rPr lang="en-US" altLang="zh-CN" dirty="0">
                  <a:latin typeface="Calibri" panose="020F0502020204030204" pitchFamily="34" charset="0"/>
                </a:rPr>
                <a:t>9</a:t>
              </a:r>
              <a:endParaRPr lang="zh-CN" altLang="en-US" dirty="0">
                <a:latin typeface="Calibri" panose="020F0502020204030204" pitchFamily="34" charset="0"/>
              </a:endParaRPr>
            </a:p>
          </p:txBody>
        </p:sp>
        <p:sp>
          <p:nvSpPr>
            <p:cNvPr id="27" name="TextBox 21">
              <a:extLst>
                <a:ext uri="{FF2B5EF4-FFF2-40B4-BE49-F238E27FC236}">
                  <a16:creationId xmlns:a16="http://schemas.microsoft.com/office/drawing/2014/main" id="{CBC7BB70-BFB9-462A-8626-C4CE336469BF}"/>
                </a:ext>
              </a:extLst>
            </p:cNvPr>
            <p:cNvSpPr txBox="1"/>
            <p:nvPr/>
          </p:nvSpPr>
          <p:spPr>
            <a:xfrm>
              <a:off x="8196263" y="4364673"/>
              <a:ext cx="517525" cy="368300"/>
            </a:xfrm>
            <a:prstGeom prst="rect">
              <a:avLst/>
            </a:prstGeom>
            <a:noFill/>
            <a:ln w="9525">
              <a:noFill/>
            </a:ln>
          </p:spPr>
          <p:txBody>
            <a:bodyPr>
              <a:spAutoFit/>
            </a:bodyPr>
            <a:lstStyle/>
            <a:p>
              <a:r>
                <a:rPr lang="en-US" altLang="zh-CN" dirty="0">
                  <a:latin typeface="Calibri" panose="020F0502020204030204" pitchFamily="34" charset="0"/>
                </a:rPr>
                <a:t>10</a:t>
              </a:r>
              <a:endParaRPr lang="zh-CN" altLang="en-US" dirty="0">
                <a:latin typeface="Calibri" panose="020F0502020204030204" pitchFamily="34" charset="0"/>
              </a:endParaRPr>
            </a:p>
          </p:txBody>
        </p:sp>
        <p:cxnSp>
          <p:nvCxnSpPr>
            <p:cNvPr id="28" name="直接箭头连接符 27">
              <a:extLst>
                <a:ext uri="{FF2B5EF4-FFF2-40B4-BE49-F238E27FC236}">
                  <a16:creationId xmlns:a16="http://schemas.microsoft.com/office/drawing/2014/main" id="{35C84DB9-830C-4258-B114-3BD188635044}"/>
                </a:ext>
              </a:extLst>
            </p:cNvPr>
            <p:cNvCxnSpPr/>
            <p:nvPr/>
          </p:nvCxnSpPr>
          <p:spPr>
            <a:xfrm>
              <a:off x="2185988" y="3316288"/>
              <a:ext cx="71596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03F64B1C-C385-4419-9E59-6D0643A535A4}"/>
                </a:ext>
              </a:extLst>
            </p:cNvPr>
            <p:cNvCxnSpPr/>
            <p:nvPr/>
          </p:nvCxnSpPr>
          <p:spPr>
            <a:xfrm>
              <a:off x="8782050" y="4921250"/>
              <a:ext cx="72231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C1D61784-930B-43E8-A6B7-AF3EA8DC3A14}"/>
                </a:ext>
              </a:extLst>
            </p:cNvPr>
            <p:cNvCxnSpPr/>
            <p:nvPr/>
          </p:nvCxnSpPr>
          <p:spPr>
            <a:xfrm flipV="1">
              <a:off x="2581275" y="2343150"/>
              <a:ext cx="0" cy="685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8038DE34-943A-4073-8609-3FC5B64977BE}"/>
                </a:ext>
              </a:extLst>
            </p:cNvPr>
            <p:cNvCxnSpPr/>
            <p:nvPr/>
          </p:nvCxnSpPr>
          <p:spPr>
            <a:xfrm flipH="1" flipV="1">
              <a:off x="8578534" y="5149850"/>
              <a:ext cx="0" cy="8366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B8BA9914-3E5A-4DC9-B83A-5369AD5FE719}"/>
                </a:ext>
              </a:extLst>
            </p:cNvPr>
            <p:cNvCxnSpPr>
              <a:stCxn id="11" idx="2"/>
            </p:cNvCxnSpPr>
            <p:nvPr/>
          </p:nvCxnSpPr>
          <p:spPr>
            <a:xfrm flipH="1">
              <a:off x="5988793" y="3358316"/>
              <a:ext cx="0" cy="1436688"/>
            </a:xfrm>
            <a:prstGeom prst="straightConnector1">
              <a:avLst/>
            </a:prstGeom>
            <a:ln w="127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2DACC67F-4E5A-45DF-AB0E-D70CF5DB2F6B}"/>
                </a:ext>
              </a:extLst>
            </p:cNvPr>
            <p:cNvCxnSpPr/>
            <p:nvPr/>
          </p:nvCxnSpPr>
          <p:spPr>
            <a:xfrm>
              <a:off x="3307055" y="3206120"/>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0F45680C-AC54-440E-8035-E7B87E3EA65A}"/>
                </a:ext>
              </a:extLst>
            </p:cNvPr>
            <p:cNvCxnSpPr/>
            <p:nvPr/>
          </p:nvCxnSpPr>
          <p:spPr>
            <a:xfrm>
              <a:off x="3977164" y="3231346"/>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96F08506-6D6A-4D3E-BD58-8644588B98CF}"/>
                </a:ext>
              </a:extLst>
            </p:cNvPr>
            <p:cNvCxnSpPr/>
            <p:nvPr/>
          </p:nvCxnSpPr>
          <p:spPr>
            <a:xfrm>
              <a:off x="4661231" y="3218261"/>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B40B5BFB-60D4-4564-A954-7C9B87D04BCA}"/>
                </a:ext>
              </a:extLst>
            </p:cNvPr>
            <p:cNvCxnSpPr/>
            <p:nvPr/>
          </p:nvCxnSpPr>
          <p:spPr>
            <a:xfrm>
              <a:off x="5475131" y="4917282"/>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1982AC08-9422-4AB2-B7F0-409B086DA80D}"/>
                </a:ext>
              </a:extLst>
            </p:cNvPr>
            <p:cNvCxnSpPr/>
            <p:nvPr/>
          </p:nvCxnSpPr>
          <p:spPr>
            <a:xfrm>
              <a:off x="5443576" y="3214647"/>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25EB1A4D-2C1E-40E8-95C8-2353FE67451F}"/>
                </a:ext>
              </a:extLst>
            </p:cNvPr>
            <p:cNvCxnSpPr/>
            <p:nvPr/>
          </p:nvCxnSpPr>
          <p:spPr>
            <a:xfrm>
              <a:off x="2161858" y="2132013"/>
              <a:ext cx="7390130" cy="63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F16B82A3-DEBC-4E7B-BDDD-40A9A2FB3168}"/>
                </a:ext>
              </a:extLst>
            </p:cNvPr>
            <p:cNvCxnSpPr/>
            <p:nvPr/>
          </p:nvCxnSpPr>
          <p:spPr>
            <a:xfrm flipV="1">
              <a:off x="1991360" y="2343150"/>
              <a:ext cx="0" cy="360616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66C4269B-2AC7-4237-9E65-7EDB46457F44}"/>
                </a:ext>
              </a:extLst>
            </p:cNvPr>
            <p:cNvCxnSpPr/>
            <p:nvPr/>
          </p:nvCxnSpPr>
          <p:spPr>
            <a:xfrm>
              <a:off x="6270154" y="4928318"/>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DD5EDE11-A7AE-486E-B00A-7BFA2D64F7FE}"/>
                </a:ext>
              </a:extLst>
            </p:cNvPr>
            <p:cNvCxnSpPr/>
            <p:nvPr/>
          </p:nvCxnSpPr>
          <p:spPr>
            <a:xfrm>
              <a:off x="7128008" y="4917577"/>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85E7D738-E6E2-475C-B266-7EFDCD813D42}"/>
                </a:ext>
              </a:extLst>
            </p:cNvPr>
            <p:cNvCxnSpPr/>
            <p:nvPr/>
          </p:nvCxnSpPr>
          <p:spPr>
            <a:xfrm>
              <a:off x="7885113" y="4948984"/>
              <a:ext cx="398780" cy="6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49" name="标题 1">
            <a:extLst>
              <a:ext uri="{FF2B5EF4-FFF2-40B4-BE49-F238E27FC236}">
                <a16:creationId xmlns:a16="http://schemas.microsoft.com/office/drawing/2014/main" id="{07B4766C-1A8A-4ADF-9428-A8D5544E0224}"/>
              </a:ext>
            </a:extLst>
          </p:cNvPr>
          <p:cNvSpPr>
            <a:spLocks noGrp="1"/>
          </p:cNvSpPr>
          <p:nvPr>
            <p:ph type="title"/>
          </p:nvPr>
        </p:nvSpPr>
        <p:spPr>
          <a:xfrm>
            <a:off x="942712" y="322426"/>
            <a:ext cx="3894137" cy="774700"/>
          </a:xfrm>
        </p:spPr>
        <p:txBody>
          <a:bodyPr vert="horz" wrap="square" lIns="91440" tIns="45720" rIns="91440" bIns="45720" anchor="ctr" anchorCtr="0"/>
          <a:lstStyle/>
          <a:p>
            <a:pPr algn="l" eaLnBrk="1" hangingPunct="1"/>
            <a:r>
              <a:rPr lang="zh-CN" altLang="en-US" sz="2800" dirty="0"/>
              <a:t>原始记录中预置测区图</a:t>
            </a:r>
          </a:p>
        </p:txBody>
      </p:sp>
    </p:spTree>
    <p:extLst>
      <p:ext uri="{BB962C8B-B14F-4D97-AF65-F5344CB8AC3E}">
        <p14:creationId xmlns:p14="http://schemas.microsoft.com/office/powerpoint/2010/main" val="578666229"/>
      </p:ext>
    </p:extLst>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2201864" y="620713"/>
            <a:ext cx="3524346" cy="774700"/>
          </a:xfrm>
        </p:spPr>
        <p:txBody>
          <a:bodyPr vert="horz" wrap="square" lIns="91440" tIns="45720" rIns="91440" bIns="45720" anchor="ctr" anchorCtr="0"/>
          <a:lstStyle/>
          <a:p>
            <a:pPr algn="l" eaLnBrk="1" hangingPunct="1"/>
            <a:r>
              <a:rPr lang="zh-CN" altLang="en-US" sz="2800" dirty="0"/>
              <a:t>梁类构件预置测区图</a:t>
            </a:r>
          </a:p>
        </p:txBody>
      </p:sp>
      <p:sp>
        <p:nvSpPr>
          <p:cNvPr id="2" name="矩形 1"/>
          <p:cNvSpPr/>
          <p:nvPr/>
        </p:nvSpPr>
        <p:spPr>
          <a:xfrm>
            <a:off x="1151890" y="2358390"/>
            <a:ext cx="6816317" cy="11017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矩形 2"/>
          <p:cNvSpPr/>
          <p:nvPr/>
        </p:nvSpPr>
        <p:spPr>
          <a:xfrm>
            <a:off x="2358524" y="2786221"/>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3618071" y="279161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4795996" y="2804477"/>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1651848" y="277907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3009963" y="277907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4225767" y="2783047"/>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5412740" y="2797809"/>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211" name="TextBox 4"/>
          <p:cNvSpPr txBox="1"/>
          <p:nvPr/>
        </p:nvSpPr>
        <p:spPr>
          <a:xfrm>
            <a:off x="1993265" y="2355215"/>
            <a:ext cx="144463" cy="368300"/>
          </a:xfrm>
          <a:prstGeom prst="rect">
            <a:avLst/>
          </a:prstGeom>
          <a:noFill/>
          <a:ln w="9525">
            <a:noFill/>
          </a:ln>
        </p:spPr>
        <p:txBody>
          <a:bodyPr>
            <a:spAutoFit/>
          </a:bodyPr>
          <a:lstStyle/>
          <a:p>
            <a:r>
              <a:rPr lang="en-US" altLang="zh-CN" dirty="0">
                <a:latin typeface="Calibri" panose="020F0502020204030204" pitchFamily="34" charset="0"/>
              </a:rPr>
              <a:t>1</a:t>
            </a:r>
            <a:endParaRPr lang="zh-CN" altLang="en-US" dirty="0">
              <a:latin typeface="Calibri" panose="020F0502020204030204" pitchFamily="34" charset="0"/>
            </a:endParaRPr>
          </a:p>
        </p:txBody>
      </p:sp>
      <p:sp>
        <p:nvSpPr>
          <p:cNvPr id="51212" name="TextBox 16"/>
          <p:cNvSpPr txBox="1"/>
          <p:nvPr/>
        </p:nvSpPr>
        <p:spPr>
          <a:xfrm>
            <a:off x="2545715" y="2339340"/>
            <a:ext cx="144463" cy="368300"/>
          </a:xfrm>
          <a:prstGeom prst="rect">
            <a:avLst/>
          </a:prstGeom>
          <a:noFill/>
          <a:ln w="9525">
            <a:noFill/>
          </a:ln>
        </p:spPr>
        <p:txBody>
          <a:bodyPr>
            <a:spAutoFit/>
          </a:bodyPr>
          <a:lstStyle/>
          <a:p>
            <a:r>
              <a:rPr lang="en-US" altLang="zh-CN" dirty="0">
                <a:latin typeface="Calibri" panose="020F0502020204030204" pitchFamily="34" charset="0"/>
              </a:rPr>
              <a:t>2</a:t>
            </a:r>
            <a:endParaRPr lang="zh-CN" altLang="en-US" dirty="0">
              <a:latin typeface="Calibri" panose="020F0502020204030204" pitchFamily="34" charset="0"/>
            </a:endParaRPr>
          </a:p>
        </p:txBody>
      </p:sp>
      <p:sp>
        <p:nvSpPr>
          <p:cNvPr id="51213" name="TextBox 18"/>
          <p:cNvSpPr txBox="1"/>
          <p:nvPr/>
        </p:nvSpPr>
        <p:spPr>
          <a:xfrm>
            <a:off x="2960053" y="2350453"/>
            <a:ext cx="142875" cy="368300"/>
          </a:xfrm>
          <a:prstGeom prst="rect">
            <a:avLst/>
          </a:prstGeom>
          <a:noFill/>
          <a:ln w="9525">
            <a:noFill/>
          </a:ln>
        </p:spPr>
        <p:txBody>
          <a:bodyPr>
            <a:spAutoFit/>
          </a:bodyPr>
          <a:lstStyle/>
          <a:p>
            <a:r>
              <a:rPr lang="en-US" altLang="zh-CN" dirty="0">
                <a:latin typeface="Calibri" panose="020F0502020204030204" pitchFamily="34" charset="0"/>
              </a:rPr>
              <a:t>3</a:t>
            </a:r>
            <a:endParaRPr lang="zh-CN" altLang="en-US" dirty="0">
              <a:latin typeface="Calibri" panose="020F0502020204030204" pitchFamily="34" charset="0"/>
            </a:endParaRPr>
          </a:p>
        </p:txBody>
      </p:sp>
      <p:sp>
        <p:nvSpPr>
          <p:cNvPr id="51214" name="TextBox 19"/>
          <p:cNvSpPr txBox="1"/>
          <p:nvPr/>
        </p:nvSpPr>
        <p:spPr>
          <a:xfrm>
            <a:off x="3450590" y="2386965"/>
            <a:ext cx="142875" cy="368300"/>
          </a:xfrm>
          <a:prstGeom prst="rect">
            <a:avLst/>
          </a:prstGeom>
          <a:noFill/>
          <a:ln w="9525">
            <a:noFill/>
          </a:ln>
        </p:spPr>
        <p:txBody>
          <a:bodyPr>
            <a:spAutoFit/>
          </a:bodyPr>
          <a:lstStyle/>
          <a:p>
            <a:r>
              <a:rPr lang="en-US" altLang="zh-CN" dirty="0">
                <a:latin typeface="Calibri" panose="020F0502020204030204" pitchFamily="34" charset="0"/>
              </a:rPr>
              <a:t>4</a:t>
            </a:r>
            <a:endParaRPr lang="zh-CN" altLang="en-US" dirty="0">
              <a:latin typeface="Calibri" panose="020F0502020204030204" pitchFamily="34" charset="0"/>
            </a:endParaRPr>
          </a:p>
        </p:txBody>
      </p:sp>
      <p:sp>
        <p:nvSpPr>
          <p:cNvPr id="51215" name="TextBox 20"/>
          <p:cNvSpPr txBox="1"/>
          <p:nvPr/>
        </p:nvSpPr>
        <p:spPr>
          <a:xfrm>
            <a:off x="3876040" y="2369503"/>
            <a:ext cx="144463" cy="368300"/>
          </a:xfrm>
          <a:prstGeom prst="rect">
            <a:avLst/>
          </a:prstGeom>
          <a:noFill/>
          <a:ln w="9525">
            <a:noFill/>
          </a:ln>
        </p:spPr>
        <p:txBody>
          <a:bodyPr>
            <a:spAutoFit/>
          </a:bodyPr>
          <a:lstStyle/>
          <a:p>
            <a:r>
              <a:rPr lang="en-US" altLang="zh-CN" dirty="0">
                <a:latin typeface="Calibri" panose="020F0502020204030204" pitchFamily="34" charset="0"/>
              </a:rPr>
              <a:t>5</a:t>
            </a:r>
            <a:endParaRPr lang="zh-CN" altLang="en-US" dirty="0">
              <a:latin typeface="Calibri" panose="020F0502020204030204" pitchFamily="34" charset="0"/>
            </a:endParaRPr>
          </a:p>
        </p:txBody>
      </p:sp>
      <p:sp>
        <p:nvSpPr>
          <p:cNvPr id="51216" name="TextBox 21"/>
          <p:cNvSpPr txBox="1"/>
          <p:nvPr/>
        </p:nvSpPr>
        <p:spPr>
          <a:xfrm>
            <a:off x="4277678" y="2358390"/>
            <a:ext cx="142875" cy="368300"/>
          </a:xfrm>
          <a:prstGeom prst="rect">
            <a:avLst/>
          </a:prstGeom>
          <a:noFill/>
          <a:ln w="9525">
            <a:noFill/>
          </a:ln>
        </p:spPr>
        <p:txBody>
          <a:bodyPr>
            <a:spAutoFit/>
          </a:bodyPr>
          <a:lstStyle/>
          <a:p>
            <a:r>
              <a:rPr lang="en-US" altLang="zh-CN" dirty="0">
                <a:latin typeface="Calibri" panose="020F0502020204030204" pitchFamily="34" charset="0"/>
              </a:rPr>
              <a:t>6</a:t>
            </a:r>
            <a:endParaRPr lang="zh-CN" altLang="en-US" dirty="0">
              <a:latin typeface="Calibri" panose="020F0502020204030204" pitchFamily="34" charset="0"/>
            </a:endParaRPr>
          </a:p>
        </p:txBody>
      </p:sp>
      <p:sp>
        <p:nvSpPr>
          <p:cNvPr id="51217" name="TextBox 22"/>
          <p:cNvSpPr txBox="1"/>
          <p:nvPr/>
        </p:nvSpPr>
        <p:spPr>
          <a:xfrm>
            <a:off x="4795203" y="2355215"/>
            <a:ext cx="144462" cy="368300"/>
          </a:xfrm>
          <a:prstGeom prst="rect">
            <a:avLst/>
          </a:prstGeom>
          <a:noFill/>
          <a:ln w="9525">
            <a:noFill/>
          </a:ln>
        </p:spPr>
        <p:txBody>
          <a:bodyPr>
            <a:spAutoFit/>
          </a:bodyPr>
          <a:lstStyle/>
          <a:p>
            <a:r>
              <a:rPr lang="en-US" altLang="zh-CN" dirty="0">
                <a:latin typeface="Calibri" panose="020F0502020204030204" pitchFamily="34" charset="0"/>
              </a:rPr>
              <a:t>7</a:t>
            </a:r>
            <a:endParaRPr lang="zh-CN" altLang="en-US" dirty="0">
              <a:latin typeface="Calibri" panose="020F0502020204030204" pitchFamily="34" charset="0"/>
            </a:endParaRPr>
          </a:p>
        </p:txBody>
      </p:sp>
      <p:sp>
        <p:nvSpPr>
          <p:cNvPr id="51218" name="TextBox 49"/>
          <p:cNvSpPr txBox="1"/>
          <p:nvPr/>
        </p:nvSpPr>
        <p:spPr>
          <a:xfrm>
            <a:off x="6436678" y="276320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51219" name="TextBox 53"/>
          <p:cNvSpPr txBox="1"/>
          <p:nvPr/>
        </p:nvSpPr>
        <p:spPr>
          <a:xfrm>
            <a:off x="6427153" y="280765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28" name="矩形 27"/>
          <p:cNvSpPr/>
          <p:nvPr/>
        </p:nvSpPr>
        <p:spPr>
          <a:xfrm>
            <a:off x="6024945" y="2806257"/>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矩形 28"/>
          <p:cNvSpPr/>
          <p:nvPr/>
        </p:nvSpPr>
        <p:spPr>
          <a:xfrm>
            <a:off x="7230318" y="279780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 name="矩形 29"/>
          <p:cNvSpPr/>
          <p:nvPr/>
        </p:nvSpPr>
        <p:spPr>
          <a:xfrm>
            <a:off x="6653277" y="279780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224" name="TextBox 19"/>
          <p:cNvSpPr txBox="1"/>
          <p:nvPr/>
        </p:nvSpPr>
        <p:spPr>
          <a:xfrm>
            <a:off x="5412740" y="2386965"/>
            <a:ext cx="142875" cy="368300"/>
          </a:xfrm>
          <a:prstGeom prst="rect">
            <a:avLst/>
          </a:prstGeom>
          <a:noFill/>
          <a:ln w="9525">
            <a:noFill/>
          </a:ln>
        </p:spPr>
        <p:txBody>
          <a:bodyPr>
            <a:spAutoFit/>
          </a:bodyPr>
          <a:lstStyle/>
          <a:p>
            <a:r>
              <a:rPr lang="en-US" altLang="zh-CN" dirty="0">
                <a:latin typeface="Calibri" panose="020F0502020204030204" pitchFamily="34" charset="0"/>
              </a:rPr>
              <a:t>8</a:t>
            </a:r>
            <a:endParaRPr lang="zh-CN" altLang="en-US" dirty="0">
              <a:latin typeface="Calibri" panose="020F0502020204030204" pitchFamily="34" charset="0"/>
            </a:endParaRPr>
          </a:p>
        </p:txBody>
      </p:sp>
      <p:sp>
        <p:nvSpPr>
          <p:cNvPr id="51225" name="TextBox 20"/>
          <p:cNvSpPr txBox="1"/>
          <p:nvPr/>
        </p:nvSpPr>
        <p:spPr>
          <a:xfrm>
            <a:off x="5838190" y="2369503"/>
            <a:ext cx="144463" cy="368300"/>
          </a:xfrm>
          <a:prstGeom prst="rect">
            <a:avLst/>
          </a:prstGeom>
          <a:noFill/>
          <a:ln w="9525">
            <a:noFill/>
          </a:ln>
        </p:spPr>
        <p:txBody>
          <a:bodyPr>
            <a:spAutoFit/>
          </a:bodyPr>
          <a:lstStyle/>
          <a:p>
            <a:r>
              <a:rPr lang="en-US" altLang="zh-CN" dirty="0">
                <a:latin typeface="Calibri" panose="020F0502020204030204" pitchFamily="34" charset="0"/>
              </a:rPr>
              <a:t>9</a:t>
            </a:r>
            <a:endParaRPr lang="zh-CN" altLang="en-US" dirty="0">
              <a:latin typeface="Calibri" panose="020F0502020204030204" pitchFamily="34" charset="0"/>
            </a:endParaRPr>
          </a:p>
        </p:txBody>
      </p:sp>
      <p:sp>
        <p:nvSpPr>
          <p:cNvPr id="51226" name="TextBox 21"/>
          <p:cNvSpPr txBox="1"/>
          <p:nvPr/>
        </p:nvSpPr>
        <p:spPr>
          <a:xfrm>
            <a:off x="6493828" y="2369820"/>
            <a:ext cx="519112" cy="368300"/>
          </a:xfrm>
          <a:prstGeom prst="rect">
            <a:avLst/>
          </a:prstGeom>
          <a:noFill/>
          <a:ln w="9525">
            <a:noFill/>
          </a:ln>
        </p:spPr>
        <p:txBody>
          <a:bodyPr>
            <a:spAutoFit/>
          </a:bodyPr>
          <a:lstStyle/>
          <a:p>
            <a:r>
              <a:rPr lang="en-US" altLang="zh-CN" dirty="0">
                <a:latin typeface="Calibri" panose="020F0502020204030204" pitchFamily="34" charset="0"/>
              </a:rPr>
              <a:t>10</a:t>
            </a:r>
            <a:endParaRPr lang="zh-CN" altLang="en-US" dirty="0">
              <a:latin typeface="Calibri" panose="020F0502020204030204" pitchFamily="34" charset="0"/>
            </a:endParaRPr>
          </a:p>
        </p:txBody>
      </p:sp>
      <p:cxnSp>
        <p:nvCxnSpPr>
          <p:cNvPr id="16" name="直接箭头连接符 15"/>
          <p:cNvCxnSpPr>
            <a:cxnSpLocks/>
          </p:cNvCxnSpPr>
          <p:nvPr/>
        </p:nvCxnSpPr>
        <p:spPr>
          <a:xfrm>
            <a:off x="1151890" y="2912428"/>
            <a:ext cx="473235"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cxnSpLocks/>
          </p:cNvCxnSpPr>
          <p:nvPr/>
        </p:nvCxnSpPr>
        <p:spPr>
          <a:xfrm>
            <a:off x="7517656" y="2947233"/>
            <a:ext cx="397018"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a:cxnSpLocks/>
          </p:cNvCxnSpPr>
          <p:nvPr/>
        </p:nvCxnSpPr>
        <p:spPr>
          <a:xfrm>
            <a:off x="1970551" y="2912428"/>
            <a:ext cx="351856" cy="8572"/>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5" name="TextBox 21"/>
          <p:cNvSpPr txBox="1"/>
          <p:nvPr/>
        </p:nvSpPr>
        <p:spPr>
          <a:xfrm>
            <a:off x="1055440" y="3800452"/>
            <a:ext cx="6082367" cy="338554"/>
          </a:xfrm>
          <a:prstGeom prst="rect">
            <a:avLst/>
          </a:prstGeom>
          <a:noFill/>
          <a:ln w="9525">
            <a:noFill/>
          </a:ln>
        </p:spPr>
        <p:txBody>
          <a:bodyPr wrap="square">
            <a:spAutoFit/>
          </a:bodyPr>
          <a:lstStyle/>
          <a:p>
            <a:r>
              <a:rPr lang="zh-CN" altLang="en-US" sz="1600" dirty="0">
                <a:latin typeface="宋体" panose="02010600030101010101" pitchFamily="2" charset="-122"/>
                <a:ea typeface="宋体" panose="02010600030101010101" pitchFamily="2" charset="-122"/>
                <a:cs typeface="宋体" panose="02010600030101010101" pitchFamily="2" charset="-122"/>
              </a:rPr>
              <a:t>测区间距小于</a:t>
            </a:r>
            <a:r>
              <a:rPr lang="en-US" altLang="zh-CN" sz="1600" dirty="0">
                <a:latin typeface="宋体" panose="02010600030101010101" pitchFamily="2" charset="-122"/>
                <a:ea typeface="宋体" panose="02010600030101010101" pitchFamily="2" charset="-122"/>
                <a:cs typeface="宋体" panose="02010600030101010101" pitchFamily="2" charset="-122"/>
              </a:rPr>
              <a:t>2m</a:t>
            </a:r>
            <a:r>
              <a:rPr lang="zh-CN" altLang="en-US" sz="1600" dirty="0">
                <a:latin typeface="宋体" panose="02010600030101010101" pitchFamily="2" charset="-122"/>
                <a:ea typeface="宋体" panose="02010600030101010101" pitchFamily="2" charset="-122"/>
                <a:cs typeface="宋体" panose="02010600030101010101" pitchFamily="2" charset="-122"/>
              </a:rPr>
              <a:t>，建议标准化，方便溯源：</a:t>
            </a:r>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1.0</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2.0m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cxnSp>
        <p:nvCxnSpPr>
          <p:cNvPr id="17" name="直接箭头连接符 16"/>
          <p:cNvCxnSpPr>
            <a:cxnSpLocks/>
          </p:cNvCxnSpPr>
          <p:nvPr/>
        </p:nvCxnSpPr>
        <p:spPr>
          <a:xfrm>
            <a:off x="1182227" y="3699193"/>
            <a:ext cx="6789454" cy="2767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906145" y="2350770"/>
            <a:ext cx="0" cy="108013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7824470" y="5373370"/>
            <a:ext cx="4211320" cy="521970"/>
          </a:xfrm>
          <a:prstGeom prst="rect">
            <a:avLst/>
          </a:prstGeom>
          <a:noFill/>
        </p:spPr>
        <p:txBody>
          <a:bodyPr wrap="square" rtlCol="0" anchor="t">
            <a:spAutoFit/>
          </a:bodyPr>
          <a:lstStyle/>
          <a:p>
            <a:pPr algn="l" eaLnBrk="1" hangingPunct="1"/>
            <a:r>
              <a:rPr lang="zh-CN" altLang="en-US" sz="2800" dirty="0">
                <a:sym typeface="+mn-ea"/>
              </a:rPr>
              <a:t>柱类构件测区分布示意图</a:t>
            </a:r>
            <a:endParaRPr lang="zh-CN" altLang="en-US" sz="2800" dirty="0">
              <a:latin typeface="Arial" panose="020B0604020202020204" pitchFamily="34" charset="0"/>
              <a:ea typeface="微软雅黑" panose="020B0503020204020204" pitchFamily="34" charset="-122"/>
              <a:sym typeface="+mn-ea"/>
            </a:endParaRPr>
          </a:p>
        </p:txBody>
      </p:sp>
      <p:sp>
        <p:nvSpPr>
          <p:cNvPr id="44" name="矩形 43">
            <a:extLst>
              <a:ext uri="{FF2B5EF4-FFF2-40B4-BE49-F238E27FC236}">
                <a16:creationId xmlns:a16="http://schemas.microsoft.com/office/drawing/2014/main" id="{5C132E65-55FE-4F47-990F-CC07D5D5A580}"/>
              </a:ext>
            </a:extLst>
          </p:cNvPr>
          <p:cNvSpPr/>
          <p:nvPr/>
        </p:nvSpPr>
        <p:spPr>
          <a:xfrm rot="5400000">
            <a:off x="7585600" y="2230121"/>
            <a:ext cx="4320541" cy="11017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5" name="矩形 44">
            <a:extLst>
              <a:ext uri="{FF2B5EF4-FFF2-40B4-BE49-F238E27FC236}">
                <a16:creationId xmlns:a16="http://schemas.microsoft.com/office/drawing/2014/main" id="{A53764D8-AF61-417B-AD61-0B918EAB9F1C}"/>
              </a:ext>
            </a:extLst>
          </p:cNvPr>
          <p:cNvSpPr/>
          <p:nvPr/>
        </p:nvSpPr>
        <p:spPr>
          <a:xfrm>
            <a:off x="9632681" y="3471914"/>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6" name="矩形 45">
            <a:extLst>
              <a:ext uri="{FF2B5EF4-FFF2-40B4-BE49-F238E27FC236}">
                <a16:creationId xmlns:a16="http://schemas.microsoft.com/office/drawing/2014/main" id="{C1AB6F03-7B3B-47F0-9C3D-234B6FD98F2D}"/>
              </a:ext>
            </a:extLst>
          </p:cNvPr>
          <p:cNvSpPr/>
          <p:nvPr/>
        </p:nvSpPr>
        <p:spPr>
          <a:xfrm>
            <a:off x="9632681" y="183292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7" name="矩形 46">
            <a:extLst>
              <a:ext uri="{FF2B5EF4-FFF2-40B4-BE49-F238E27FC236}">
                <a16:creationId xmlns:a16="http://schemas.microsoft.com/office/drawing/2014/main" id="{E4D22AF8-B418-453B-BDA5-2B5C966C89B0}"/>
              </a:ext>
            </a:extLst>
          </p:cNvPr>
          <p:cNvSpPr/>
          <p:nvPr/>
        </p:nvSpPr>
        <p:spPr>
          <a:xfrm>
            <a:off x="9609028" y="4160682"/>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0" name="矩形 49">
            <a:extLst>
              <a:ext uri="{FF2B5EF4-FFF2-40B4-BE49-F238E27FC236}">
                <a16:creationId xmlns:a16="http://schemas.microsoft.com/office/drawing/2014/main" id="{22EE3990-B3C8-4A88-A523-A1C6DDBF7BB1}"/>
              </a:ext>
            </a:extLst>
          </p:cNvPr>
          <p:cNvSpPr/>
          <p:nvPr/>
        </p:nvSpPr>
        <p:spPr>
          <a:xfrm>
            <a:off x="9641730" y="266112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 name="矩形 50">
            <a:extLst>
              <a:ext uri="{FF2B5EF4-FFF2-40B4-BE49-F238E27FC236}">
                <a16:creationId xmlns:a16="http://schemas.microsoft.com/office/drawing/2014/main" id="{DAD2304F-841D-4BC9-A0B5-B6F891C69694}"/>
              </a:ext>
            </a:extLst>
          </p:cNvPr>
          <p:cNvSpPr/>
          <p:nvPr/>
        </p:nvSpPr>
        <p:spPr>
          <a:xfrm>
            <a:off x="9608076" y="100046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52" name="直接箭头连接符 51">
            <a:extLst>
              <a:ext uri="{FF2B5EF4-FFF2-40B4-BE49-F238E27FC236}">
                <a16:creationId xmlns:a16="http://schemas.microsoft.com/office/drawing/2014/main" id="{268EBD9D-0CC6-4C2F-8305-A8E2E0B65757}"/>
              </a:ext>
            </a:extLst>
          </p:cNvPr>
          <p:cNvCxnSpPr>
            <a:cxnSpLocks/>
          </p:cNvCxnSpPr>
          <p:nvPr/>
        </p:nvCxnSpPr>
        <p:spPr>
          <a:xfrm>
            <a:off x="9245510" y="4343109"/>
            <a:ext cx="362566"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CFB907A6-DA7F-4C3E-BE5D-E09F8FD9A2B8}"/>
              </a:ext>
            </a:extLst>
          </p:cNvPr>
          <p:cNvCxnSpPr>
            <a:cxnSpLocks/>
          </p:cNvCxnSpPr>
          <p:nvPr/>
        </p:nvCxnSpPr>
        <p:spPr>
          <a:xfrm flipH="1" flipV="1">
            <a:off x="11080958" y="4612001"/>
            <a:ext cx="1" cy="33637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403D6EF0-40DD-44A4-91E7-12637674FAA5}"/>
              </a:ext>
            </a:extLst>
          </p:cNvPr>
          <p:cNvCxnSpPr/>
          <p:nvPr/>
        </p:nvCxnSpPr>
        <p:spPr>
          <a:xfrm flipV="1">
            <a:off x="8813373" y="620714"/>
            <a:ext cx="0" cy="432054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19604146-84D8-483A-AD55-20ED402B3C24}"/>
              </a:ext>
            </a:extLst>
          </p:cNvPr>
          <p:cNvCxnSpPr>
            <a:cxnSpLocks/>
          </p:cNvCxnSpPr>
          <p:nvPr/>
        </p:nvCxnSpPr>
        <p:spPr>
          <a:xfrm>
            <a:off x="9245510" y="5156837"/>
            <a:ext cx="100804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66F9F951-4619-4C8F-9DF4-27EC35462D50}"/>
              </a:ext>
            </a:extLst>
          </p:cNvPr>
          <p:cNvSpPr/>
          <p:nvPr/>
        </p:nvSpPr>
        <p:spPr>
          <a:xfrm rot="5400000">
            <a:off x="8887350" y="2230122"/>
            <a:ext cx="4320541" cy="11017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9" name="矩形 58">
            <a:extLst>
              <a:ext uri="{FF2B5EF4-FFF2-40B4-BE49-F238E27FC236}">
                <a16:creationId xmlns:a16="http://schemas.microsoft.com/office/drawing/2014/main" id="{15F9FE00-22FF-49EA-8788-91A5BAC6591D}"/>
              </a:ext>
            </a:extLst>
          </p:cNvPr>
          <p:cNvSpPr/>
          <p:nvPr/>
        </p:nvSpPr>
        <p:spPr>
          <a:xfrm>
            <a:off x="10934431" y="3471915"/>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矩形 59">
            <a:extLst>
              <a:ext uri="{FF2B5EF4-FFF2-40B4-BE49-F238E27FC236}">
                <a16:creationId xmlns:a16="http://schemas.microsoft.com/office/drawing/2014/main" id="{41083BB0-8D2D-46F2-87B6-7D26BA599916}"/>
              </a:ext>
            </a:extLst>
          </p:cNvPr>
          <p:cNvSpPr/>
          <p:nvPr/>
        </p:nvSpPr>
        <p:spPr>
          <a:xfrm>
            <a:off x="10934431" y="1832930"/>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 name="矩形 60">
            <a:extLst>
              <a:ext uri="{FF2B5EF4-FFF2-40B4-BE49-F238E27FC236}">
                <a16:creationId xmlns:a16="http://schemas.microsoft.com/office/drawing/2014/main" id="{B5DF2D48-FD64-49E2-8F37-8C37AD8741E7}"/>
              </a:ext>
            </a:extLst>
          </p:cNvPr>
          <p:cNvSpPr/>
          <p:nvPr/>
        </p:nvSpPr>
        <p:spPr>
          <a:xfrm>
            <a:off x="10943480" y="4217724"/>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 name="矩形 61">
            <a:extLst>
              <a:ext uri="{FF2B5EF4-FFF2-40B4-BE49-F238E27FC236}">
                <a16:creationId xmlns:a16="http://schemas.microsoft.com/office/drawing/2014/main" id="{89627F75-E6A9-4DD6-AB08-4BCBC5708028}"/>
              </a:ext>
            </a:extLst>
          </p:cNvPr>
          <p:cNvSpPr/>
          <p:nvPr/>
        </p:nvSpPr>
        <p:spPr>
          <a:xfrm>
            <a:off x="10943480" y="2661129"/>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3" name="矩形 62">
            <a:extLst>
              <a:ext uri="{FF2B5EF4-FFF2-40B4-BE49-F238E27FC236}">
                <a16:creationId xmlns:a16="http://schemas.microsoft.com/office/drawing/2014/main" id="{1C1C4239-7261-446D-947F-3DC2EC791A4D}"/>
              </a:ext>
            </a:extLst>
          </p:cNvPr>
          <p:cNvSpPr/>
          <p:nvPr/>
        </p:nvSpPr>
        <p:spPr>
          <a:xfrm>
            <a:off x="10909826" y="1000469"/>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64" name="直接箭头连接符 63">
            <a:extLst>
              <a:ext uri="{FF2B5EF4-FFF2-40B4-BE49-F238E27FC236}">
                <a16:creationId xmlns:a16="http://schemas.microsoft.com/office/drawing/2014/main" id="{205501E5-B1A9-42BE-A7B3-B79B4B6E20EA}"/>
              </a:ext>
            </a:extLst>
          </p:cNvPr>
          <p:cNvCxnSpPr>
            <a:cxnSpLocks/>
          </p:cNvCxnSpPr>
          <p:nvPr/>
        </p:nvCxnSpPr>
        <p:spPr>
          <a:xfrm flipH="1" flipV="1">
            <a:off x="9795626" y="3759252"/>
            <a:ext cx="5874" cy="37975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8F2CF895-92B6-4D89-9000-2D868B0FFD84}"/>
              </a:ext>
            </a:extLst>
          </p:cNvPr>
          <p:cNvCxnSpPr>
            <a:cxnSpLocks/>
          </p:cNvCxnSpPr>
          <p:nvPr/>
        </p:nvCxnSpPr>
        <p:spPr>
          <a:xfrm flipV="1">
            <a:off x="9812069" y="2994345"/>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A42B210-D3B6-439E-8D48-BF55D21DB319}"/>
              </a:ext>
            </a:extLst>
          </p:cNvPr>
          <p:cNvCxnSpPr>
            <a:cxnSpLocks/>
          </p:cNvCxnSpPr>
          <p:nvPr/>
        </p:nvCxnSpPr>
        <p:spPr>
          <a:xfrm flipV="1">
            <a:off x="9812069" y="2116457"/>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4980405F-2243-4692-825E-70783EC2F91F}"/>
              </a:ext>
            </a:extLst>
          </p:cNvPr>
          <p:cNvCxnSpPr>
            <a:cxnSpLocks/>
          </p:cNvCxnSpPr>
          <p:nvPr/>
        </p:nvCxnSpPr>
        <p:spPr>
          <a:xfrm flipV="1">
            <a:off x="9776350" y="1378587"/>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960C9842-59E3-443E-985C-4FB30D022401}"/>
              </a:ext>
            </a:extLst>
          </p:cNvPr>
          <p:cNvCxnSpPr>
            <a:cxnSpLocks/>
          </p:cNvCxnSpPr>
          <p:nvPr/>
        </p:nvCxnSpPr>
        <p:spPr>
          <a:xfrm flipV="1">
            <a:off x="11087942" y="1350772"/>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1745BDC8-F3D9-4EE1-A22C-5AF48CBD9355}"/>
              </a:ext>
            </a:extLst>
          </p:cNvPr>
          <p:cNvCxnSpPr>
            <a:cxnSpLocks/>
          </p:cNvCxnSpPr>
          <p:nvPr/>
        </p:nvCxnSpPr>
        <p:spPr>
          <a:xfrm flipV="1">
            <a:off x="11087942" y="2168335"/>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E54F22F3-DDAD-4E4F-8AC1-145F93E1019A}"/>
              </a:ext>
            </a:extLst>
          </p:cNvPr>
          <p:cNvCxnSpPr>
            <a:cxnSpLocks/>
          </p:cNvCxnSpPr>
          <p:nvPr/>
        </p:nvCxnSpPr>
        <p:spPr>
          <a:xfrm flipV="1">
            <a:off x="11078100" y="2994345"/>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8EF89BA7-B5B4-4931-8115-45A8032E7F51}"/>
              </a:ext>
            </a:extLst>
          </p:cNvPr>
          <p:cNvCxnSpPr>
            <a:cxnSpLocks/>
          </p:cNvCxnSpPr>
          <p:nvPr/>
        </p:nvCxnSpPr>
        <p:spPr>
          <a:xfrm flipV="1">
            <a:off x="11089456" y="3759252"/>
            <a:ext cx="0" cy="436494"/>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EF59CE5A-738D-4DCF-9DAC-D3C23323EA68}"/>
              </a:ext>
            </a:extLst>
          </p:cNvPr>
          <p:cNvCxnSpPr>
            <a:cxnSpLocks/>
          </p:cNvCxnSpPr>
          <p:nvPr/>
        </p:nvCxnSpPr>
        <p:spPr>
          <a:xfrm>
            <a:off x="10541654" y="4508711"/>
            <a:ext cx="362566"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7ED0CE2C-0167-43F6-B7FF-00400AD3A456}"/>
              </a:ext>
            </a:extLst>
          </p:cNvPr>
          <p:cNvCxnSpPr>
            <a:cxnSpLocks/>
          </p:cNvCxnSpPr>
          <p:nvPr/>
        </p:nvCxnSpPr>
        <p:spPr>
          <a:xfrm flipH="1" flipV="1">
            <a:off x="9776350" y="4469696"/>
            <a:ext cx="1" cy="47155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3FBCF6AF-18BF-4009-994F-86A9B144EC9B}"/>
              </a:ext>
            </a:extLst>
          </p:cNvPr>
          <p:cNvCxnSpPr>
            <a:cxnSpLocks/>
          </p:cNvCxnSpPr>
          <p:nvPr/>
        </p:nvCxnSpPr>
        <p:spPr>
          <a:xfrm>
            <a:off x="10543598" y="5156837"/>
            <a:ext cx="100804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831600B3-1041-403B-BA33-E38DA5511787}"/>
              </a:ext>
            </a:extLst>
          </p:cNvPr>
          <p:cNvCxnSpPr>
            <a:cxnSpLocks/>
          </p:cNvCxnSpPr>
          <p:nvPr/>
        </p:nvCxnSpPr>
        <p:spPr>
          <a:xfrm flipH="1" flipV="1">
            <a:off x="1805750" y="3081149"/>
            <a:ext cx="3788" cy="3683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76" name="TextBox 4">
            <a:extLst>
              <a:ext uri="{FF2B5EF4-FFF2-40B4-BE49-F238E27FC236}">
                <a16:creationId xmlns:a16="http://schemas.microsoft.com/office/drawing/2014/main" id="{88A5CA65-6009-4784-A076-194AB25C5E83}"/>
              </a:ext>
            </a:extLst>
          </p:cNvPr>
          <p:cNvSpPr txBox="1"/>
          <p:nvPr/>
        </p:nvSpPr>
        <p:spPr>
          <a:xfrm>
            <a:off x="9976885" y="4092382"/>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1</a:t>
            </a:r>
            <a:endParaRPr lang="zh-CN" altLang="en-US" sz="2000" dirty="0">
              <a:latin typeface="Calibri" panose="020F0502020204030204" pitchFamily="34" charset="0"/>
            </a:endParaRPr>
          </a:p>
        </p:txBody>
      </p:sp>
      <p:sp>
        <p:nvSpPr>
          <p:cNvPr id="77" name="TextBox 4">
            <a:extLst>
              <a:ext uri="{FF2B5EF4-FFF2-40B4-BE49-F238E27FC236}">
                <a16:creationId xmlns:a16="http://schemas.microsoft.com/office/drawing/2014/main" id="{F41ED177-D1F5-4283-86D0-CBD6E96A17CD}"/>
              </a:ext>
            </a:extLst>
          </p:cNvPr>
          <p:cNvSpPr txBox="1"/>
          <p:nvPr/>
        </p:nvSpPr>
        <p:spPr>
          <a:xfrm>
            <a:off x="9996830" y="3429000"/>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2</a:t>
            </a:r>
            <a:endParaRPr lang="zh-CN" altLang="en-US" sz="2000" dirty="0">
              <a:latin typeface="Calibri" panose="020F0502020204030204" pitchFamily="34" charset="0"/>
            </a:endParaRPr>
          </a:p>
        </p:txBody>
      </p:sp>
      <p:sp>
        <p:nvSpPr>
          <p:cNvPr id="78" name="TextBox 4">
            <a:extLst>
              <a:ext uri="{FF2B5EF4-FFF2-40B4-BE49-F238E27FC236}">
                <a16:creationId xmlns:a16="http://schemas.microsoft.com/office/drawing/2014/main" id="{83D0AE91-F50F-438F-B377-AD0A34EF3ECC}"/>
              </a:ext>
            </a:extLst>
          </p:cNvPr>
          <p:cNvSpPr txBox="1"/>
          <p:nvPr/>
        </p:nvSpPr>
        <p:spPr>
          <a:xfrm>
            <a:off x="9958386" y="2638967"/>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3</a:t>
            </a:r>
            <a:endParaRPr lang="zh-CN" altLang="en-US" sz="2000" dirty="0">
              <a:latin typeface="Calibri" panose="020F0502020204030204" pitchFamily="34" charset="0"/>
            </a:endParaRPr>
          </a:p>
        </p:txBody>
      </p:sp>
      <p:sp>
        <p:nvSpPr>
          <p:cNvPr id="79" name="TextBox 4">
            <a:extLst>
              <a:ext uri="{FF2B5EF4-FFF2-40B4-BE49-F238E27FC236}">
                <a16:creationId xmlns:a16="http://schemas.microsoft.com/office/drawing/2014/main" id="{BC8B5BFD-F70F-4DB0-9D73-104289CD4A68}"/>
              </a:ext>
            </a:extLst>
          </p:cNvPr>
          <p:cNvSpPr txBox="1"/>
          <p:nvPr/>
        </p:nvSpPr>
        <p:spPr>
          <a:xfrm>
            <a:off x="9958385" y="1840635"/>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4</a:t>
            </a:r>
            <a:endParaRPr lang="zh-CN" altLang="en-US" sz="2000" dirty="0">
              <a:latin typeface="Calibri" panose="020F0502020204030204" pitchFamily="34" charset="0"/>
            </a:endParaRPr>
          </a:p>
        </p:txBody>
      </p:sp>
      <p:sp>
        <p:nvSpPr>
          <p:cNvPr id="80" name="TextBox 4">
            <a:extLst>
              <a:ext uri="{FF2B5EF4-FFF2-40B4-BE49-F238E27FC236}">
                <a16:creationId xmlns:a16="http://schemas.microsoft.com/office/drawing/2014/main" id="{CC0E0563-7081-4031-A18E-E00284400296}"/>
              </a:ext>
            </a:extLst>
          </p:cNvPr>
          <p:cNvSpPr txBox="1"/>
          <p:nvPr/>
        </p:nvSpPr>
        <p:spPr>
          <a:xfrm>
            <a:off x="9958385" y="927325"/>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5</a:t>
            </a:r>
            <a:endParaRPr lang="zh-CN" altLang="en-US" sz="2000" dirty="0">
              <a:latin typeface="Calibri" panose="020F0502020204030204" pitchFamily="34" charset="0"/>
            </a:endParaRPr>
          </a:p>
        </p:txBody>
      </p:sp>
      <p:sp>
        <p:nvSpPr>
          <p:cNvPr id="81" name="TextBox 4">
            <a:extLst>
              <a:ext uri="{FF2B5EF4-FFF2-40B4-BE49-F238E27FC236}">
                <a16:creationId xmlns:a16="http://schemas.microsoft.com/office/drawing/2014/main" id="{A034B39E-6A76-467B-976B-0918B07EBC44}"/>
              </a:ext>
            </a:extLst>
          </p:cNvPr>
          <p:cNvSpPr txBox="1"/>
          <p:nvPr/>
        </p:nvSpPr>
        <p:spPr>
          <a:xfrm>
            <a:off x="11266445" y="4155053"/>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6</a:t>
            </a:r>
            <a:endParaRPr lang="zh-CN" altLang="en-US" sz="2000" dirty="0">
              <a:latin typeface="Calibri" panose="020F0502020204030204" pitchFamily="34" charset="0"/>
            </a:endParaRPr>
          </a:p>
        </p:txBody>
      </p:sp>
      <p:sp>
        <p:nvSpPr>
          <p:cNvPr id="82" name="TextBox 4">
            <a:extLst>
              <a:ext uri="{FF2B5EF4-FFF2-40B4-BE49-F238E27FC236}">
                <a16:creationId xmlns:a16="http://schemas.microsoft.com/office/drawing/2014/main" id="{E02A9796-258C-4420-BDC9-01E80AA89E36}"/>
              </a:ext>
            </a:extLst>
          </p:cNvPr>
          <p:cNvSpPr txBox="1"/>
          <p:nvPr/>
        </p:nvSpPr>
        <p:spPr>
          <a:xfrm>
            <a:off x="11286178" y="3493519"/>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7</a:t>
            </a:r>
            <a:endParaRPr lang="zh-CN" altLang="en-US" sz="2000" dirty="0">
              <a:latin typeface="Calibri" panose="020F0502020204030204" pitchFamily="34" charset="0"/>
            </a:endParaRPr>
          </a:p>
        </p:txBody>
      </p:sp>
      <p:sp>
        <p:nvSpPr>
          <p:cNvPr id="83" name="TextBox 4">
            <a:extLst>
              <a:ext uri="{FF2B5EF4-FFF2-40B4-BE49-F238E27FC236}">
                <a16:creationId xmlns:a16="http://schemas.microsoft.com/office/drawing/2014/main" id="{4361FB23-4DF4-4983-A348-21C5D64FC89B}"/>
              </a:ext>
            </a:extLst>
          </p:cNvPr>
          <p:cNvSpPr txBox="1"/>
          <p:nvPr/>
        </p:nvSpPr>
        <p:spPr>
          <a:xfrm>
            <a:off x="11278126" y="2621320"/>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8</a:t>
            </a:r>
            <a:endParaRPr lang="zh-CN" altLang="en-US" sz="2000" dirty="0">
              <a:latin typeface="Calibri" panose="020F0502020204030204" pitchFamily="34" charset="0"/>
            </a:endParaRPr>
          </a:p>
        </p:txBody>
      </p:sp>
      <p:sp>
        <p:nvSpPr>
          <p:cNvPr id="84" name="TextBox 4">
            <a:extLst>
              <a:ext uri="{FF2B5EF4-FFF2-40B4-BE49-F238E27FC236}">
                <a16:creationId xmlns:a16="http://schemas.microsoft.com/office/drawing/2014/main" id="{8469C662-BE1B-4919-AC86-FA1145D9A3E4}"/>
              </a:ext>
            </a:extLst>
          </p:cNvPr>
          <p:cNvSpPr txBox="1"/>
          <p:nvPr/>
        </p:nvSpPr>
        <p:spPr>
          <a:xfrm>
            <a:off x="11258715" y="1768865"/>
            <a:ext cx="265463" cy="412679"/>
          </a:xfrm>
          <a:prstGeom prst="rect">
            <a:avLst/>
          </a:prstGeom>
          <a:noFill/>
          <a:ln w="9525">
            <a:noFill/>
          </a:ln>
        </p:spPr>
        <p:txBody>
          <a:bodyPr wrap="square">
            <a:spAutoFit/>
          </a:bodyPr>
          <a:lstStyle/>
          <a:p>
            <a:r>
              <a:rPr lang="en-US" altLang="zh-CN" sz="2000" dirty="0">
                <a:latin typeface="Calibri" panose="020F0502020204030204" pitchFamily="34" charset="0"/>
              </a:rPr>
              <a:t>9</a:t>
            </a:r>
            <a:endParaRPr lang="zh-CN" altLang="en-US" sz="2000" dirty="0">
              <a:latin typeface="Calibri" panose="020F0502020204030204" pitchFamily="34" charset="0"/>
            </a:endParaRPr>
          </a:p>
        </p:txBody>
      </p:sp>
      <p:sp>
        <p:nvSpPr>
          <p:cNvPr id="85" name="TextBox 4">
            <a:extLst>
              <a:ext uri="{FF2B5EF4-FFF2-40B4-BE49-F238E27FC236}">
                <a16:creationId xmlns:a16="http://schemas.microsoft.com/office/drawing/2014/main" id="{0E20403B-A967-466E-B090-862F5A92CDE7}"/>
              </a:ext>
            </a:extLst>
          </p:cNvPr>
          <p:cNvSpPr txBox="1"/>
          <p:nvPr/>
        </p:nvSpPr>
        <p:spPr>
          <a:xfrm>
            <a:off x="11264457" y="965908"/>
            <a:ext cx="547177" cy="400110"/>
          </a:xfrm>
          <a:prstGeom prst="rect">
            <a:avLst/>
          </a:prstGeom>
          <a:noFill/>
          <a:ln w="9525">
            <a:noFill/>
          </a:ln>
        </p:spPr>
        <p:txBody>
          <a:bodyPr wrap="square">
            <a:spAutoFit/>
          </a:bodyPr>
          <a:lstStyle/>
          <a:p>
            <a:r>
              <a:rPr lang="en-US" altLang="zh-CN" sz="2000" dirty="0">
                <a:latin typeface="Calibri" panose="020F0502020204030204" pitchFamily="34" charset="0"/>
              </a:rPr>
              <a:t>10</a:t>
            </a:r>
            <a:endParaRPr lang="zh-CN" altLang="en-US" sz="2000" dirty="0">
              <a:latin typeface="Calibri" panose="020F0502020204030204" pitchFamily="34" charset="0"/>
            </a:endParaRPr>
          </a:p>
        </p:txBody>
      </p:sp>
      <p:cxnSp>
        <p:nvCxnSpPr>
          <p:cNvPr id="86" name="直接箭头连接符 85">
            <a:extLst>
              <a:ext uri="{FF2B5EF4-FFF2-40B4-BE49-F238E27FC236}">
                <a16:creationId xmlns:a16="http://schemas.microsoft.com/office/drawing/2014/main" id="{9FDA8660-007A-4864-A3DB-89BDE22ECE2E}"/>
              </a:ext>
            </a:extLst>
          </p:cNvPr>
          <p:cNvCxnSpPr>
            <a:cxnSpLocks/>
            <a:endCxn id="12" idx="1"/>
          </p:cNvCxnSpPr>
          <p:nvPr/>
        </p:nvCxnSpPr>
        <p:spPr>
          <a:xfrm>
            <a:off x="2667882" y="2921000"/>
            <a:ext cx="342081" cy="1747"/>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EB5794B4-E2A3-42A8-9BE4-F4540D7A8B34}"/>
              </a:ext>
            </a:extLst>
          </p:cNvPr>
          <p:cNvCxnSpPr>
            <a:cxnSpLocks/>
          </p:cNvCxnSpPr>
          <p:nvPr/>
        </p:nvCxnSpPr>
        <p:spPr>
          <a:xfrm>
            <a:off x="3315331" y="2926716"/>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A5C636D4-7B35-46D8-9A2F-A0A921B9397C}"/>
              </a:ext>
            </a:extLst>
          </p:cNvPr>
          <p:cNvCxnSpPr>
            <a:cxnSpLocks/>
          </p:cNvCxnSpPr>
          <p:nvPr/>
        </p:nvCxnSpPr>
        <p:spPr>
          <a:xfrm>
            <a:off x="3932473" y="2944336"/>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18870577-B30C-47AE-8C75-964A7F02B9A5}"/>
              </a:ext>
            </a:extLst>
          </p:cNvPr>
          <p:cNvCxnSpPr>
            <a:cxnSpLocks/>
          </p:cNvCxnSpPr>
          <p:nvPr/>
        </p:nvCxnSpPr>
        <p:spPr>
          <a:xfrm>
            <a:off x="4517548" y="2938588"/>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A721ED46-B109-4CB3-AC58-825FFBBABDD5}"/>
              </a:ext>
            </a:extLst>
          </p:cNvPr>
          <p:cNvCxnSpPr>
            <a:cxnSpLocks/>
          </p:cNvCxnSpPr>
          <p:nvPr/>
        </p:nvCxnSpPr>
        <p:spPr>
          <a:xfrm>
            <a:off x="5114766" y="2958338"/>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F3600DCA-CF96-4785-A168-3BB8AD9BB94C}"/>
              </a:ext>
            </a:extLst>
          </p:cNvPr>
          <p:cNvCxnSpPr>
            <a:cxnSpLocks/>
          </p:cNvCxnSpPr>
          <p:nvPr/>
        </p:nvCxnSpPr>
        <p:spPr>
          <a:xfrm>
            <a:off x="5726209" y="2926080"/>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793B59B2-9F38-4422-AADA-677D0C477197}"/>
              </a:ext>
            </a:extLst>
          </p:cNvPr>
          <p:cNvCxnSpPr>
            <a:cxnSpLocks/>
          </p:cNvCxnSpPr>
          <p:nvPr/>
        </p:nvCxnSpPr>
        <p:spPr>
          <a:xfrm>
            <a:off x="6323321" y="2926716"/>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D940AB16-8E08-4CC2-811C-91CA8989AEB7}"/>
              </a:ext>
            </a:extLst>
          </p:cNvPr>
          <p:cNvCxnSpPr>
            <a:cxnSpLocks/>
          </p:cNvCxnSpPr>
          <p:nvPr/>
        </p:nvCxnSpPr>
        <p:spPr>
          <a:xfrm>
            <a:off x="6956447" y="2921000"/>
            <a:ext cx="268923" cy="762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1F3A7123-CD08-457D-A84F-F5CCEA146B33}"/>
              </a:ext>
            </a:extLst>
          </p:cNvPr>
          <p:cNvCxnSpPr>
            <a:cxnSpLocks/>
          </p:cNvCxnSpPr>
          <p:nvPr/>
        </p:nvCxnSpPr>
        <p:spPr>
          <a:xfrm flipH="1" flipV="1">
            <a:off x="7421841" y="3073559"/>
            <a:ext cx="3788" cy="3683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4557148"/>
      </p:ext>
    </p:extLst>
  </p:cSld>
  <p:clrMapOvr>
    <a:masterClrMapping/>
  </p:clrMapOvr>
  <p:transition spd="slow">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609600" y="551180"/>
            <a:ext cx="9192260" cy="954405"/>
          </a:xfrm>
        </p:spPr>
        <p:txBody>
          <a:bodyPr vert="horz" wrap="square" lIns="91440" tIns="45720" rIns="91440" bIns="45720" anchor="ctr" anchorCtr="0">
            <a:normAutofit/>
          </a:bodyPr>
          <a:lstStyle/>
          <a:p>
            <a:pPr algn="l" eaLnBrk="1" hangingPunct="1"/>
            <a:r>
              <a:rPr lang="zh-CN" altLang="en-US" sz="3200" dirty="0"/>
              <a:t>测点分布图</a:t>
            </a:r>
            <a:r>
              <a:rPr lang="en-US" altLang="zh-CN" sz="3200" dirty="0"/>
              <a:t>——</a:t>
            </a:r>
            <a:r>
              <a:rPr lang="zh-CN" altLang="en-US" sz="2000" dirty="0"/>
              <a:t>测点均匀分布，一个点不能弹击两次</a:t>
            </a:r>
          </a:p>
        </p:txBody>
      </p:sp>
      <p:pic>
        <p:nvPicPr>
          <p:cNvPr id="53251" name="Picture 2"/>
          <p:cNvPicPr>
            <a:picLocks noChangeAspect="1"/>
          </p:cNvPicPr>
          <p:nvPr/>
        </p:nvPicPr>
        <p:blipFill>
          <a:blip r:embed="rId2"/>
          <a:stretch>
            <a:fillRect/>
          </a:stretch>
        </p:blipFill>
        <p:spPr>
          <a:xfrm>
            <a:off x="6456363" y="1693863"/>
            <a:ext cx="1152525" cy="981075"/>
          </a:xfrm>
          <a:prstGeom prst="rect">
            <a:avLst/>
          </a:prstGeom>
          <a:noFill/>
          <a:ln w="9525">
            <a:noFill/>
          </a:ln>
        </p:spPr>
      </p:pic>
      <p:pic>
        <p:nvPicPr>
          <p:cNvPr id="53252" name="Picture 2"/>
          <p:cNvPicPr>
            <a:picLocks noChangeAspect="1"/>
          </p:cNvPicPr>
          <p:nvPr/>
        </p:nvPicPr>
        <p:blipFill>
          <a:blip r:embed="rId2"/>
          <a:stretch>
            <a:fillRect/>
          </a:stretch>
        </p:blipFill>
        <p:spPr>
          <a:xfrm>
            <a:off x="2424113" y="1693863"/>
            <a:ext cx="1152525" cy="981075"/>
          </a:xfrm>
          <a:prstGeom prst="rect">
            <a:avLst/>
          </a:prstGeom>
          <a:noFill/>
          <a:ln w="9525">
            <a:noFill/>
          </a:ln>
        </p:spPr>
      </p:pic>
      <p:pic>
        <p:nvPicPr>
          <p:cNvPr id="53253" name="Picture 2"/>
          <p:cNvPicPr>
            <a:picLocks noChangeAspect="1"/>
          </p:cNvPicPr>
          <p:nvPr/>
        </p:nvPicPr>
        <p:blipFill>
          <a:blip r:embed="rId2"/>
          <a:stretch>
            <a:fillRect/>
          </a:stretch>
        </p:blipFill>
        <p:spPr>
          <a:xfrm>
            <a:off x="3792538" y="1693863"/>
            <a:ext cx="1152525" cy="981075"/>
          </a:xfrm>
          <a:prstGeom prst="rect">
            <a:avLst/>
          </a:prstGeom>
          <a:noFill/>
          <a:ln w="9525">
            <a:noFill/>
          </a:ln>
        </p:spPr>
      </p:pic>
      <p:pic>
        <p:nvPicPr>
          <p:cNvPr id="53254" name="Picture 2"/>
          <p:cNvPicPr>
            <a:picLocks noChangeAspect="1"/>
          </p:cNvPicPr>
          <p:nvPr/>
        </p:nvPicPr>
        <p:blipFill>
          <a:blip r:embed="rId2"/>
          <a:stretch>
            <a:fillRect/>
          </a:stretch>
        </p:blipFill>
        <p:spPr>
          <a:xfrm>
            <a:off x="5159375" y="1693863"/>
            <a:ext cx="1152525" cy="981075"/>
          </a:xfrm>
          <a:prstGeom prst="rect">
            <a:avLst/>
          </a:prstGeom>
          <a:noFill/>
          <a:ln w="9525">
            <a:noFill/>
          </a:ln>
        </p:spPr>
      </p:pic>
      <p:pic>
        <p:nvPicPr>
          <p:cNvPr id="53255" name="Picture 2"/>
          <p:cNvPicPr>
            <a:picLocks noChangeAspect="1"/>
          </p:cNvPicPr>
          <p:nvPr/>
        </p:nvPicPr>
        <p:blipFill>
          <a:blip r:embed="rId2"/>
          <a:stretch>
            <a:fillRect/>
          </a:stretch>
        </p:blipFill>
        <p:spPr>
          <a:xfrm>
            <a:off x="7824788" y="1693863"/>
            <a:ext cx="1152525" cy="981075"/>
          </a:xfrm>
          <a:prstGeom prst="rect">
            <a:avLst/>
          </a:prstGeom>
          <a:noFill/>
          <a:ln w="9525">
            <a:noFill/>
          </a:ln>
        </p:spPr>
      </p:pic>
      <p:pic>
        <p:nvPicPr>
          <p:cNvPr id="53256" name="Picture 2"/>
          <p:cNvPicPr>
            <a:picLocks noChangeAspect="1"/>
          </p:cNvPicPr>
          <p:nvPr/>
        </p:nvPicPr>
        <p:blipFill>
          <a:blip r:embed="rId2"/>
          <a:stretch>
            <a:fillRect/>
          </a:stretch>
        </p:blipFill>
        <p:spPr>
          <a:xfrm>
            <a:off x="5159375" y="2860359"/>
            <a:ext cx="1152525" cy="981075"/>
          </a:xfrm>
          <a:prstGeom prst="rect">
            <a:avLst/>
          </a:prstGeom>
          <a:noFill/>
          <a:ln w="9525">
            <a:noFill/>
          </a:ln>
        </p:spPr>
      </p:pic>
      <p:pic>
        <p:nvPicPr>
          <p:cNvPr id="53257" name="Picture 2"/>
          <p:cNvPicPr>
            <a:picLocks noChangeAspect="1"/>
          </p:cNvPicPr>
          <p:nvPr/>
        </p:nvPicPr>
        <p:blipFill>
          <a:blip r:embed="rId2"/>
          <a:stretch>
            <a:fillRect/>
          </a:stretch>
        </p:blipFill>
        <p:spPr>
          <a:xfrm>
            <a:off x="6672263" y="2860359"/>
            <a:ext cx="1152525" cy="981075"/>
          </a:xfrm>
          <a:prstGeom prst="rect">
            <a:avLst/>
          </a:prstGeom>
          <a:noFill/>
          <a:ln w="9525">
            <a:noFill/>
          </a:ln>
        </p:spPr>
      </p:pic>
      <p:pic>
        <p:nvPicPr>
          <p:cNvPr id="53258" name="Picture 2"/>
          <p:cNvPicPr>
            <a:picLocks noChangeAspect="1"/>
          </p:cNvPicPr>
          <p:nvPr/>
        </p:nvPicPr>
        <p:blipFill>
          <a:blip r:embed="rId2"/>
          <a:stretch>
            <a:fillRect/>
          </a:stretch>
        </p:blipFill>
        <p:spPr>
          <a:xfrm>
            <a:off x="2422525" y="2860359"/>
            <a:ext cx="1152525" cy="981075"/>
          </a:xfrm>
          <a:prstGeom prst="rect">
            <a:avLst/>
          </a:prstGeom>
          <a:noFill/>
          <a:ln w="9525">
            <a:noFill/>
          </a:ln>
        </p:spPr>
      </p:pic>
      <p:pic>
        <p:nvPicPr>
          <p:cNvPr id="53259" name="Picture 2"/>
          <p:cNvPicPr>
            <a:picLocks noChangeAspect="1"/>
          </p:cNvPicPr>
          <p:nvPr/>
        </p:nvPicPr>
        <p:blipFill>
          <a:blip r:embed="rId2"/>
          <a:stretch>
            <a:fillRect/>
          </a:stretch>
        </p:blipFill>
        <p:spPr>
          <a:xfrm>
            <a:off x="3790950" y="2860359"/>
            <a:ext cx="1152525" cy="981075"/>
          </a:xfrm>
          <a:prstGeom prst="rect">
            <a:avLst/>
          </a:prstGeom>
          <a:noFill/>
          <a:ln w="9525">
            <a:noFill/>
          </a:ln>
        </p:spPr>
      </p:pic>
      <p:pic>
        <p:nvPicPr>
          <p:cNvPr id="53260" name="Picture 2"/>
          <p:cNvPicPr>
            <a:picLocks noChangeAspect="1"/>
          </p:cNvPicPr>
          <p:nvPr/>
        </p:nvPicPr>
        <p:blipFill>
          <a:blip r:embed="rId2"/>
          <a:stretch>
            <a:fillRect/>
          </a:stretch>
        </p:blipFill>
        <p:spPr>
          <a:xfrm>
            <a:off x="1111250" y="2860359"/>
            <a:ext cx="1152525" cy="981075"/>
          </a:xfrm>
          <a:prstGeom prst="rect">
            <a:avLst/>
          </a:prstGeom>
          <a:noFill/>
          <a:ln w="9525">
            <a:noFill/>
          </a:ln>
        </p:spPr>
      </p:pic>
      <p:sp>
        <p:nvSpPr>
          <p:cNvPr id="13" name="文本框 12"/>
          <p:cNvSpPr txBox="1"/>
          <p:nvPr/>
        </p:nvSpPr>
        <p:spPr>
          <a:xfrm>
            <a:off x="1044848" y="4214287"/>
            <a:ext cx="8229054" cy="1569660"/>
          </a:xfrm>
          <a:prstGeom prst="rect">
            <a:avLst/>
          </a:prstGeom>
          <a:noFill/>
        </p:spPr>
        <p:txBody>
          <a:bodyPr wrap="square">
            <a:spAutoFit/>
          </a:bodyPr>
          <a:lstStyle/>
          <a:p>
            <a:r>
              <a:rPr lang="zh-CN" altLang="en-US" dirty="0"/>
              <a:t>回弹测区原始记录中，测区之间的距离要标上。</a:t>
            </a:r>
            <a:endParaRPr lang="en-US" altLang="zh-CN" dirty="0"/>
          </a:p>
          <a:p>
            <a:r>
              <a:rPr lang="zh-CN" altLang="en-US" dirty="0"/>
              <a:t>我们可以考虑几种标准距离</a:t>
            </a:r>
            <a:endParaRPr lang="en-US" altLang="zh-CN" dirty="0"/>
          </a:p>
          <a:p>
            <a:r>
              <a:rPr lang="zh-CN" altLang="en-US" dirty="0"/>
              <a:t>比如：大构件间距1m或2m，中小型构件0.5m或0.2m，</a:t>
            </a:r>
            <a:endParaRPr lang="en-US" altLang="zh-CN" dirty="0"/>
          </a:p>
          <a:p>
            <a:r>
              <a:rPr lang="zh-CN" altLang="en-US" dirty="0"/>
              <a:t>现场也按这个思路去布置，方便进行溯源。</a:t>
            </a:r>
          </a:p>
        </p:txBody>
      </p:sp>
    </p:spTree>
  </p:cSld>
  <p:clrMapOvr>
    <a:masterClrMapping/>
  </p:clrMapOvr>
  <p:transition spd="slow">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2201863" y="620713"/>
            <a:ext cx="7926387" cy="774700"/>
          </a:xfrm>
        </p:spPr>
        <p:txBody>
          <a:bodyPr vert="horz" wrap="square" lIns="91440" tIns="45720" rIns="91440" bIns="45720" anchor="ctr" anchorCtr="0">
            <a:normAutofit fontScale="90000"/>
          </a:bodyPr>
          <a:lstStyle/>
          <a:p>
            <a:pPr algn="l" eaLnBrk="1" hangingPunct="1"/>
            <a:r>
              <a:rPr lang="zh-CN" altLang="en-US" sz="2800" dirty="0"/>
              <a:t>墙板类构件测区分布示意图</a:t>
            </a:r>
            <a:br>
              <a:rPr lang="zh-CN" altLang="en-US" sz="2800" dirty="0"/>
            </a:br>
            <a:r>
              <a:rPr lang="en-US" altLang="zh-CN" sz="2220" dirty="0"/>
              <a:t>——</a:t>
            </a:r>
            <a:r>
              <a:rPr lang="zh-CN" altLang="en-US" sz="2220" dirty="0"/>
              <a:t>首末测区距边缘距离不符合标准要求</a:t>
            </a:r>
          </a:p>
        </p:txBody>
      </p:sp>
      <p:sp>
        <p:nvSpPr>
          <p:cNvPr id="54275" name="文本占位符 2"/>
          <p:cNvSpPr>
            <a:spLocks noGrp="1"/>
          </p:cNvSpPr>
          <p:nvPr>
            <p:ph type="body" sz="half" idx="1"/>
          </p:nvPr>
        </p:nvSpPr>
        <p:spPr>
          <a:xfrm>
            <a:off x="1897063" y="1579563"/>
            <a:ext cx="4630737" cy="4637087"/>
          </a:xfrm>
        </p:spPr>
        <p:txBody>
          <a:bodyPr vert="horz" wrap="square" lIns="91440" tIns="45720" rIns="91440" bIns="45720" anchor="t" anchorCtr="0"/>
          <a:lstStyle/>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p:txBody>
      </p:sp>
      <p:sp>
        <p:nvSpPr>
          <p:cNvPr id="2" name="矩形 1"/>
          <p:cNvSpPr/>
          <p:nvPr/>
        </p:nvSpPr>
        <p:spPr>
          <a:xfrm>
            <a:off x="2640013" y="1989138"/>
            <a:ext cx="3455988" cy="28797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矩形 2"/>
          <p:cNvSpPr/>
          <p:nvPr/>
        </p:nvSpPr>
        <p:spPr>
          <a:xfrm>
            <a:off x="3306763" y="319881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224338" y="319881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5141913" y="319881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2803525" y="3656013"/>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3314700" y="365601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3792538" y="3692525"/>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2782888" y="3198813"/>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3719513" y="3198813"/>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4656138" y="319881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5610225" y="317658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4287" name="TextBox 4"/>
          <p:cNvSpPr txBox="1"/>
          <p:nvPr/>
        </p:nvSpPr>
        <p:spPr>
          <a:xfrm>
            <a:off x="2825750" y="2774950"/>
            <a:ext cx="144463" cy="368300"/>
          </a:xfrm>
          <a:prstGeom prst="rect">
            <a:avLst/>
          </a:prstGeom>
          <a:noFill/>
          <a:ln w="9525">
            <a:noFill/>
          </a:ln>
        </p:spPr>
        <p:txBody>
          <a:bodyPr>
            <a:spAutoFit/>
          </a:bodyPr>
          <a:lstStyle/>
          <a:p>
            <a:r>
              <a:rPr lang="en-US" altLang="zh-CN" dirty="0">
                <a:latin typeface="Calibri" panose="020F0502020204030204" pitchFamily="34" charset="0"/>
              </a:rPr>
              <a:t>1</a:t>
            </a:r>
            <a:endParaRPr lang="zh-CN" altLang="en-US" dirty="0">
              <a:latin typeface="Calibri" panose="020F0502020204030204" pitchFamily="34" charset="0"/>
            </a:endParaRPr>
          </a:p>
        </p:txBody>
      </p:sp>
      <p:sp>
        <p:nvSpPr>
          <p:cNvPr id="54288" name="TextBox 16"/>
          <p:cNvSpPr txBox="1"/>
          <p:nvPr/>
        </p:nvSpPr>
        <p:spPr>
          <a:xfrm>
            <a:off x="3378200" y="2759075"/>
            <a:ext cx="144463" cy="368300"/>
          </a:xfrm>
          <a:prstGeom prst="rect">
            <a:avLst/>
          </a:prstGeom>
          <a:noFill/>
          <a:ln w="9525">
            <a:noFill/>
          </a:ln>
        </p:spPr>
        <p:txBody>
          <a:bodyPr>
            <a:spAutoFit/>
          </a:bodyPr>
          <a:lstStyle/>
          <a:p>
            <a:r>
              <a:rPr lang="en-US" altLang="zh-CN" dirty="0">
                <a:latin typeface="Calibri" panose="020F0502020204030204" pitchFamily="34" charset="0"/>
              </a:rPr>
              <a:t>2</a:t>
            </a:r>
            <a:endParaRPr lang="zh-CN" altLang="en-US" dirty="0">
              <a:latin typeface="Calibri" panose="020F0502020204030204" pitchFamily="34" charset="0"/>
            </a:endParaRPr>
          </a:p>
        </p:txBody>
      </p:sp>
      <p:sp>
        <p:nvSpPr>
          <p:cNvPr id="54289" name="TextBox 18"/>
          <p:cNvSpPr txBox="1"/>
          <p:nvPr/>
        </p:nvSpPr>
        <p:spPr>
          <a:xfrm>
            <a:off x="3792538" y="2770188"/>
            <a:ext cx="142875" cy="368300"/>
          </a:xfrm>
          <a:prstGeom prst="rect">
            <a:avLst/>
          </a:prstGeom>
          <a:noFill/>
          <a:ln w="9525">
            <a:noFill/>
          </a:ln>
        </p:spPr>
        <p:txBody>
          <a:bodyPr>
            <a:spAutoFit/>
          </a:bodyPr>
          <a:lstStyle/>
          <a:p>
            <a:r>
              <a:rPr lang="en-US" altLang="zh-CN" dirty="0">
                <a:latin typeface="Calibri" panose="020F0502020204030204" pitchFamily="34" charset="0"/>
              </a:rPr>
              <a:t>3</a:t>
            </a:r>
            <a:endParaRPr lang="zh-CN" altLang="en-US" dirty="0">
              <a:latin typeface="Calibri" panose="020F0502020204030204" pitchFamily="34" charset="0"/>
            </a:endParaRPr>
          </a:p>
        </p:txBody>
      </p:sp>
      <p:sp>
        <p:nvSpPr>
          <p:cNvPr id="54290" name="TextBox 19"/>
          <p:cNvSpPr txBox="1"/>
          <p:nvPr/>
        </p:nvSpPr>
        <p:spPr>
          <a:xfrm>
            <a:off x="4283075" y="2806700"/>
            <a:ext cx="142875" cy="368300"/>
          </a:xfrm>
          <a:prstGeom prst="rect">
            <a:avLst/>
          </a:prstGeom>
          <a:noFill/>
          <a:ln w="9525">
            <a:noFill/>
          </a:ln>
        </p:spPr>
        <p:txBody>
          <a:bodyPr>
            <a:spAutoFit/>
          </a:bodyPr>
          <a:lstStyle/>
          <a:p>
            <a:r>
              <a:rPr lang="en-US" altLang="zh-CN" dirty="0">
                <a:latin typeface="Calibri" panose="020F0502020204030204" pitchFamily="34" charset="0"/>
              </a:rPr>
              <a:t>4</a:t>
            </a:r>
            <a:endParaRPr lang="zh-CN" altLang="en-US" dirty="0">
              <a:latin typeface="Calibri" panose="020F0502020204030204" pitchFamily="34" charset="0"/>
            </a:endParaRPr>
          </a:p>
        </p:txBody>
      </p:sp>
      <p:sp>
        <p:nvSpPr>
          <p:cNvPr id="54291" name="TextBox 20"/>
          <p:cNvSpPr txBox="1"/>
          <p:nvPr/>
        </p:nvSpPr>
        <p:spPr>
          <a:xfrm>
            <a:off x="4708525" y="2789238"/>
            <a:ext cx="144463" cy="368300"/>
          </a:xfrm>
          <a:prstGeom prst="rect">
            <a:avLst/>
          </a:prstGeom>
          <a:noFill/>
          <a:ln w="9525">
            <a:noFill/>
          </a:ln>
        </p:spPr>
        <p:txBody>
          <a:bodyPr>
            <a:spAutoFit/>
          </a:bodyPr>
          <a:lstStyle/>
          <a:p>
            <a:r>
              <a:rPr lang="en-US" altLang="zh-CN" dirty="0">
                <a:latin typeface="Calibri" panose="020F0502020204030204" pitchFamily="34" charset="0"/>
              </a:rPr>
              <a:t>5</a:t>
            </a:r>
            <a:endParaRPr lang="zh-CN" altLang="en-US" dirty="0">
              <a:latin typeface="Calibri" panose="020F0502020204030204" pitchFamily="34" charset="0"/>
            </a:endParaRPr>
          </a:p>
        </p:txBody>
      </p:sp>
      <p:sp>
        <p:nvSpPr>
          <p:cNvPr id="54292" name="TextBox 21"/>
          <p:cNvSpPr txBox="1"/>
          <p:nvPr/>
        </p:nvSpPr>
        <p:spPr>
          <a:xfrm>
            <a:off x="5110163" y="2778125"/>
            <a:ext cx="142875" cy="368300"/>
          </a:xfrm>
          <a:prstGeom prst="rect">
            <a:avLst/>
          </a:prstGeom>
          <a:noFill/>
          <a:ln w="9525">
            <a:noFill/>
          </a:ln>
        </p:spPr>
        <p:txBody>
          <a:bodyPr>
            <a:spAutoFit/>
          </a:bodyPr>
          <a:lstStyle/>
          <a:p>
            <a:r>
              <a:rPr lang="en-US" altLang="zh-CN" dirty="0">
                <a:latin typeface="Calibri" panose="020F0502020204030204" pitchFamily="34" charset="0"/>
              </a:rPr>
              <a:t>6</a:t>
            </a:r>
            <a:endParaRPr lang="zh-CN" altLang="en-US" dirty="0">
              <a:latin typeface="Calibri" panose="020F0502020204030204" pitchFamily="34" charset="0"/>
            </a:endParaRPr>
          </a:p>
        </p:txBody>
      </p:sp>
      <p:sp>
        <p:nvSpPr>
          <p:cNvPr id="54293" name="TextBox 22"/>
          <p:cNvSpPr txBox="1"/>
          <p:nvPr/>
        </p:nvSpPr>
        <p:spPr>
          <a:xfrm>
            <a:off x="5465763" y="2774950"/>
            <a:ext cx="144462" cy="368300"/>
          </a:xfrm>
          <a:prstGeom prst="rect">
            <a:avLst/>
          </a:prstGeom>
          <a:noFill/>
          <a:ln w="9525">
            <a:noFill/>
          </a:ln>
        </p:spPr>
        <p:txBody>
          <a:bodyPr>
            <a:spAutoFit/>
          </a:bodyPr>
          <a:lstStyle/>
          <a:p>
            <a:r>
              <a:rPr lang="en-US" altLang="zh-CN" dirty="0">
                <a:latin typeface="Calibri" panose="020F0502020204030204" pitchFamily="34" charset="0"/>
              </a:rPr>
              <a:t>7</a:t>
            </a:r>
            <a:endParaRPr lang="zh-CN" altLang="en-US" dirty="0">
              <a:latin typeface="Calibri" panose="020F0502020204030204" pitchFamily="34" charset="0"/>
            </a:endParaRPr>
          </a:p>
        </p:txBody>
      </p:sp>
      <p:sp>
        <p:nvSpPr>
          <p:cNvPr id="54294" name="TextBox 23"/>
          <p:cNvSpPr txBox="1"/>
          <p:nvPr/>
        </p:nvSpPr>
        <p:spPr>
          <a:xfrm>
            <a:off x="2876550" y="4019550"/>
            <a:ext cx="142875" cy="368300"/>
          </a:xfrm>
          <a:prstGeom prst="rect">
            <a:avLst/>
          </a:prstGeom>
          <a:noFill/>
          <a:ln w="9525">
            <a:noFill/>
          </a:ln>
        </p:spPr>
        <p:txBody>
          <a:bodyPr>
            <a:spAutoFit/>
          </a:bodyPr>
          <a:lstStyle/>
          <a:p>
            <a:r>
              <a:rPr lang="en-US" altLang="zh-CN" dirty="0">
                <a:latin typeface="Calibri" panose="020F0502020204030204" pitchFamily="34" charset="0"/>
              </a:rPr>
              <a:t>8</a:t>
            </a:r>
            <a:endParaRPr lang="zh-CN" altLang="en-US" dirty="0">
              <a:latin typeface="Calibri" panose="020F0502020204030204" pitchFamily="34" charset="0"/>
            </a:endParaRPr>
          </a:p>
        </p:txBody>
      </p:sp>
      <p:sp>
        <p:nvSpPr>
          <p:cNvPr id="54295" name="TextBox 24"/>
          <p:cNvSpPr txBox="1"/>
          <p:nvPr/>
        </p:nvSpPr>
        <p:spPr>
          <a:xfrm>
            <a:off x="3351213" y="4006850"/>
            <a:ext cx="144462" cy="368300"/>
          </a:xfrm>
          <a:prstGeom prst="rect">
            <a:avLst/>
          </a:prstGeom>
          <a:noFill/>
          <a:ln w="9525">
            <a:noFill/>
          </a:ln>
        </p:spPr>
        <p:txBody>
          <a:bodyPr>
            <a:spAutoFit/>
          </a:bodyPr>
          <a:lstStyle/>
          <a:p>
            <a:r>
              <a:rPr lang="en-US" altLang="zh-CN" dirty="0">
                <a:latin typeface="Calibri" panose="020F0502020204030204" pitchFamily="34" charset="0"/>
              </a:rPr>
              <a:t>9</a:t>
            </a:r>
            <a:endParaRPr lang="zh-CN" altLang="en-US" dirty="0">
              <a:latin typeface="Calibri" panose="020F0502020204030204" pitchFamily="34" charset="0"/>
            </a:endParaRPr>
          </a:p>
        </p:txBody>
      </p:sp>
      <p:sp>
        <p:nvSpPr>
          <p:cNvPr id="54296" name="TextBox 25"/>
          <p:cNvSpPr txBox="1"/>
          <p:nvPr/>
        </p:nvSpPr>
        <p:spPr>
          <a:xfrm>
            <a:off x="3681730" y="4015105"/>
            <a:ext cx="542925" cy="460375"/>
          </a:xfrm>
          <a:prstGeom prst="rect">
            <a:avLst/>
          </a:prstGeom>
          <a:noFill/>
          <a:ln w="9525">
            <a:noFill/>
          </a:ln>
        </p:spPr>
        <p:txBody>
          <a:bodyPr wrap="square">
            <a:spAutoFit/>
          </a:bodyPr>
          <a:lstStyle/>
          <a:p>
            <a:r>
              <a:rPr lang="en-US" altLang="zh-CN" dirty="0">
                <a:latin typeface="Calibri" panose="020F0502020204030204" pitchFamily="34" charset="0"/>
              </a:rPr>
              <a:t>10</a:t>
            </a:r>
            <a:endParaRPr lang="zh-CN" altLang="en-US" dirty="0">
              <a:latin typeface="Calibri" panose="020F0502020204030204" pitchFamily="34" charset="0"/>
            </a:endParaRPr>
          </a:p>
        </p:txBody>
      </p:sp>
      <p:sp>
        <p:nvSpPr>
          <p:cNvPr id="54297" name="TextBox 49"/>
          <p:cNvSpPr txBox="1"/>
          <p:nvPr/>
        </p:nvSpPr>
        <p:spPr>
          <a:xfrm>
            <a:off x="7104063" y="206216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54298" name="TextBox 53"/>
          <p:cNvSpPr txBox="1"/>
          <p:nvPr/>
        </p:nvSpPr>
        <p:spPr>
          <a:xfrm>
            <a:off x="7094538" y="210661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4" name="乘号 3"/>
          <p:cNvSpPr/>
          <p:nvPr/>
        </p:nvSpPr>
        <p:spPr>
          <a:xfrm>
            <a:off x="6311900" y="2195513"/>
            <a:ext cx="1296988" cy="273685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2201863" y="620713"/>
            <a:ext cx="7926387" cy="774700"/>
          </a:xfrm>
        </p:spPr>
        <p:txBody>
          <a:bodyPr vert="horz" wrap="square" lIns="91440" tIns="45720" rIns="91440" bIns="45720" anchor="ctr" anchorCtr="0"/>
          <a:lstStyle/>
          <a:p>
            <a:pPr algn="l" eaLnBrk="1" hangingPunct="1"/>
            <a:r>
              <a:rPr lang="zh-CN" altLang="en-US" sz="2800" dirty="0"/>
              <a:t>墙板类构件测区分布示意图</a:t>
            </a:r>
          </a:p>
        </p:txBody>
      </p:sp>
      <p:sp>
        <p:nvSpPr>
          <p:cNvPr id="55299" name="文本占位符 2"/>
          <p:cNvSpPr>
            <a:spLocks noGrp="1"/>
          </p:cNvSpPr>
          <p:nvPr>
            <p:ph type="body" sz="half" idx="1"/>
          </p:nvPr>
        </p:nvSpPr>
        <p:spPr>
          <a:xfrm>
            <a:off x="2424113" y="1844675"/>
            <a:ext cx="3887787" cy="3262313"/>
          </a:xfrm>
        </p:spPr>
        <p:txBody>
          <a:bodyPr vert="horz" wrap="square" lIns="91440" tIns="45720" rIns="91440" bIns="45720" anchor="t" anchorCtr="0"/>
          <a:lstStyle/>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p:txBody>
      </p:sp>
      <p:sp>
        <p:nvSpPr>
          <p:cNvPr id="2" name="矩形 1"/>
          <p:cNvSpPr/>
          <p:nvPr/>
        </p:nvSpPr>
        <p:spPr>
          <a:xfrm>
            <a:off x="2640013" y="1989138"/>
            <a:ext cx="3455988" cy="28797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矩形 2"/>
          <p:cNvSpPr/>
          <p:nvPr/>
        </p:nvSpPr>
        <p:spPr>
          <a:xfrm>
            <a:off x="3341688" y="395763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259263" y="395763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5176838" y="395763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2808288" y="4373563"/>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3319463" y="437356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3797300" y="4410075"/>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2817813" y="395763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3754438" y="395763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4691063" y="395763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5645150" y="3935413"/>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5311" name="TextBox 4"/>
          <p:cNvSpPr txBox="1"/>
          <p:nvPr/>
        </p:nvSpPr>
        <p:spPr>
          <a:xfrm>
            <a:off x="2860675" y="3533775"/>
            <a:ext cx="144463" cy="368300"/>
          </a:xfrm>
          <a:prstGeom prst="rect">
            <a:avLst/>
          </a:prstGeom>
          <a:noFill/>
          <a:ln w="9525">
            <a:noFill/>
          </a:ln>
        </p:spPr>
        <p:txBody>
          <a:bodyPr>
            <a:spAutoFit/>
          </a:bodyPr>
          <a:lstStyle/>
          <a:p>
            <a:r>
              <a:rPr lang="en-US" altLang="zh-CN" dirty="0">
                <a:latin typeface="Calibri" panose="020F0502020204030204" pitchFamily="34" charset="0"/>
              </a:rPr>
              <a:t>1</a:t>
            </a:r>
            <a:endParaRPr lang="zh-CN" altLang="en-US" dirty="0">
              <a:latin typeface="Calibri" panose="020F0502020204030204" pitchFamily="34" charset="0"/>
            </a:endParaRPr>
          </a:p>
        </p:txBody>
      </p:sp>
      <p:sp>
        <p:nvSpPr>
          <p:cNvPr id="55312" name="TextBox 16"/>
          <p:cNvSpPr txBox="1"/>
          <p:nvPr/>
        </p:nvSpPr>
        <p:spPr>
          <a:xfrm>
            <a:off x="3413125" y="3517900"/>
            <a:ext cx="144463" cy="368300"/>
          </a:xfrm>
          <a:prstGeom prst="rect">
            <a:avLst/>
          </a:prstGeom>
          <a:noFill/>
          <a:ln w="9525">
            <a:noFill/>
          </a:ln>
        </p:spPr>
        <p:txBody>
          <a:bodyPr>
            <a:spAutoFit/>
          </a:bodyPr>
          <a:lstStyle/>
          <a:p>
            <a:r>
              <a:rPr lang="en-US" altLang="zh-CN" dirty="0">
                <a:latin typeface="Calibri" panose="020F0502020204030204" pitchFamily="34" charset="0"/>
              </a:rPr>
              <a:t>2</a:t>
            </a:r>
            <a:endParaRPr lang="zh-CN" altLang="en-US" dirty="0">
              <a:latin typeface="Calibri" panose="020F0502020204030204" pitchFamily="34" charset="0"/>
            </a:endParaRPr>
          </a:p>
        </p:txBody>
      </p:sp>
      <p:sp>
        <p:nvSpPr>
          <p:cNvPr id="55313" name="TextBox 18"/>
          <p:cNvSpPr txBox="1"/>
          <p:nvPr/>
        </p:nvSpPr>
        <p:spPr>
          <a:xfrm>
            <a:off x="3827463" y="3529013"/>
            <a:ext cx="142875" cy="368300"/>
          </a:xfrm>
          <a:prstGeom prst="rect">
            <a:avLst/>
          </a:prstGeom>
          <a:noFill/>
          <a:ln w="9525">
            <a:noFill/>
          </a:ln>
        </p:spPr>
        <p:txBody>
          <a:bodyPr>
            <a:spAutoFit/>
          </a:bodyPr>
          <a:lstStyle/>
          <a:p>
            <a:r>
              <a:rPr lang="en-US" altLang="zh-CN" dirty="0">
                <a:latin typeface="Calibri" panose="020F0502020204030204" pitchFamily="34" charset="0"/>
              </a:rPr>
              <a:t>3</a:t>
            </a:r>
            <a:endParaRPr lang="zh-CN" altLang="en-US" dirty="0">
              <a:latin typeface="Calibri" panose="020F0502020204030204" pitchFamily="34" charset="0"/>
            </a:endParaRPr>
          </a:p>
        </p:txBody>
      </p:sp>
      <p:sp>
        <p:nvSpPr>
          <p:cNvPr id="55314" name="TextBox 19"/>
          <p:cNvSpPr txBox="1"/>
          <p:nvPr/>
        </p:nvSpPr>
        <p:spPr>
          <a:xfrm>
            <a:off x="4318000" y="3565525"/>
            <a:ext cx="142875" cy="368300"/>
          </a:xfrm>
          <a:prstGeom prst="rect">
            <a:avLst/>
          </a:prstGeom>
          <a:noFill/>
          <a:ln w="9525">
            <a:noFill/>
          </a:ln>
        </p:spPr>
        <p:txBody>
          <a:bodyPr>
            <a:spAutoFit/>
          </a:bodyPr>
          <a:lstStyle/>
          <a:p>
            <a:r>
              <a:rPr lang="en-US" altLang="zh-CN" dirty="0">
                <a:latin typeface="Calibri" panose="020F0502020204030204" pitchFamily="34" charset="0"/>
              </a:rPr>
              <a:t>4</a:t>
            </a:r>
            <a:endParaRPr lang="zh-CN" altLang="en-US" dirty="0">
              <a:latin typeface="Calibri" panose="020F0502020204030204" pitchFamily="34" charset="0"/>
            </a:endParaRPr>
          </a:p>
        </p:txBody>
      </p:sp>
      <p:sp>
        <p:nvSpPr>
          <p:cNvPr id="55315" name="TextBox 20"/>
          <p:cNvSpPr txBox="1"/>
          <p:nvPr/>
        </p:nvSpPr>
        <p:spPr>
          <a:xfrm>
            <a:off x="4743450" y="3548063"/>
            <a:ext cx="144463" cy="368300"/>
          </a:xfrm>
          <a:prstGeom prst="rect">
            <a:avLst/>
          </a:prstGeom>
          <a:noFill/>
          <a:ln w="9525">
            <a:noFill/>
          </a:ln>
        </p:spPr>
        <p:txBody>
          <a:bodyPr>
            <a:spAutoFit/>
          </a:bodyPr>
          <a:lstStyle/>
          <a:p>
            <a:r>
              <a:rPr lang="en-US" altLang="zh-CN" dirty="0">
                <a:latin typeface="Calibri" panose="020F0502020204030204" pitchFamily="34" charset="0"/>
              </a:rPr>
              <a:t>5</a:t>
            </a:r>
            <a:endParaRPr lang="zh-CN" altLang="en-US" dirty="0">
              <a:latin typeface="Calibri" panose="020F0502020204030204" pitchFamily="34" charset="0"/>
            </a:endParaRPr>
          </a:p>
        </p:txBody>
      </p:sp>
      <p:sp>
        <p:nvSpPr>
          <p:cNvPr id="55316" name="TextBox 21"/>
          <p:cNvSpPr txBox="1"/>
          <p:nvPr/>
        </p:nvSpPr>
        <p:spPr>
          <a:xfrm>
            <a:off x="5145088" y="3536950"/>
            <a:ext cx="142875" cy="368300"/>
          </a:xfrm>
          <a:prstGeom prst="rect">
            <a:avLst/>
          </a:prstGeom>
          <a:noFill/>
          <a:ln w="9525">
            <a:noFill/>
          </a:ln>
        </p:spPr>
        <p:txBody>
          <a:bodyPr>
            <a:spAutoFit/>
          </a:bodyPr>
          <a:lstStyle/>
          <a:p>
            <a:r>
              <a:rPr lang="en-US" altLang="zh-CN" dirty="0">
                <a:latin typeface="Calibri" panose="020F0502020204030204" pitchFamily="34" charset="0"/>
              </a:rPr>
              <a:t>6</a:t>
            </a:r>
            <a:endParaRPr lang="zh-CN" altLang="en-US" dirty="0">
              <a:latin typeface="Calibri" panose="020F0502020204030204" pitchFamily="34" charset="0"/>
            </a:endParaRPr>
          </a:p>
        </p:txBody>
      </p:sp>
      <p:sp>
        <p:nvSpPr>
          <p:cNvPr id="55317" name="TextBox 22"/>
          <p:cNvSpPr txBox="1"/>
          <p:nvPr/>
        </p:nvSpPr>
        <p:spPr>
          <a:xfrm>
            <a:off x="5500688" y="3533775"/>
            <a:ext cx="144462" cy="368300"/>
          </a:xfrm>
          <a:prstGeom prst="rect">
            <a:avLst/>
          </a:prstGeom>
          <a:noFill/>
          <a:ln w="9525">
            <a:noFill/>
          </a:ln>
        </p:spPr>
        <p:txBody>
          <a:bodyPr>
            <a:spAutoFit/>
          </a:bodyPr>
          <a:lstStyle/>
          <a:p>
            <a:r>
              <a:rPr lang="en-US" altLang="zh-CN" dirty="0">
                <a:latin typeface="Calibri" panose="020F0502020204030204" pitchFamily="34" charset="0"/>
              </a:rPr>
              <a:t>7</a:t>
            </a:r>
            <a:endParaRPr lang="zh-CN" altLang="en-US" dirty="0">
              <a:latin typeface="Calibri" panose="020F0502020204030204" pitchFamily="34" charset="0"/>
            </a:endParaRPr>
          </a:p>
        </p:txBody>
      </p:sp>
      <p:sp>
        <p:nvSpPr>
          <p:cNvPr id="55318" name="TextBox 23"/>
          <p:cNvSpPr txBox="1"/>
          <p:nvPr/>
        </p:nvSpPr>
        <p:spPr>
          <a:xfrm>
            <a:off x="2881313" y="4737100"/>
            <a:ext cx="142875" cy="368300"/>
          </a:xfrm>
          <a:prstGeom prst="rect">
            <a:avLst/>
          </a:prstGeom>
          <a:noFill/>
          <a:ln w="9525">
            <a:noFill/>
          </a:ln>
        </p:spPr>
        <p:txBody>
          <a:bodyPr>
            <a:spAutoFit/>
          </a:bodyPr>
          <a:lstStyle/>
          <a:p>
            <a:r>
              <a:rPr lang="en-US" altLang="zh-CN" dirty="0">
                <a:latin typeface="Calibri" panose="020F0502020204030204" pitchFamily="34" charset="0"/>
              </a:rPr>
              <a:t>8</a:t>
            </a:r>
            <a:endParaRPr lang="zh-CN" altLang="en-US" dirty="0">
              <a:latin typeface="Calibri" panose="020F0502020204030204" pitchFamily="34" charset="0"/>
            </a:endParaRPr>
          </a:p>
        </p:txBody>
      </p:sp>
      <p:sp>
        <p:nvSpPr>
          <p:cNvPr id="55319" name="TextBox 24"/>
          <p:cNvSpPr txBox="1"/>
          <p:nvPr/>
        </p:nvSpPr>
        <p:spPr>
          <a:xfrm>
            <a:off x="3355975" y="4724400"/>
            <a:ext cx="144463" cy="368300"/>
          </a:xfrm>
          <a:prstGeom prst="rect">
            <a:avLst/>
          </a:prstGeom>
          <a:noFill/>
          <a:ln w="9525">
            <a:noFill/>
          </a:ln>
        </p:spPr>
        <p:txBody>
          <a:bodyPr>
            <a:spAutoFit/>
          </a:bodyPr>
          <a:lstStyle/>
          <a:p>
            <a:r>
              <a:rPr lang="en-US" altLang="zh-CN" dirty="0">
                <a:latin typeface="Calibri" panose="020F0502020204030204" pitchFamily="34" charset="0"/>
              </a:rPr>
              <a:t>9</a:t>
            </a:r>
            <a:endParaRPr lang="zh-CN" altLang="en-US" dirty="0">
              <a:latin typeface="Calibri" panose="020F0502020204030204" pitchFamily="34" charset="0"/>
            </a:endParaRPr>
          </a:p>
        </p:txBody>
      </p:sp>
      <p:sp>
        <p:nvSpPr>
          <p:cNvPr id="55320" name="TextBox 25"/>
          <p:cNvSpPr txBox="1"/>
          <p:nvPr/>
        </p:nvSpPr>
        <p:spPr>
          <a:xfrm>
            <a:off x="3751580" y="4732655"/>
            <a:ext cx="568325" cy="460375"/>
          </a:xfrm>
          <a:prstGeom prst="rect">
            <a:avLst/>
          </a:prstGeom>
          <a:noFill/>
          <a:ln w="9525">
            <a:noFill/>
          </a:ln>
        </p:spPr>
        <p:txBody>
          <a:bodyPr wrap="square">
            <a:spAutoFit/>
          </a:bodyPr>
          <a:lstStyle/>
          <a:p>
            <a:r>
              <a:rPr lang="en-US" altLang="zh-CN" dirty="0">
                <a:latin typeface="Calibri" panose="020F0502020204030204" pitchFamily="34" charset="0"/>
              </a:rPr>
              <a:t>10</a:t>
            </a:r>
            <a:endParaRPr lang="zh-CN" altLang="en-US" dirty="0">
              <a:latin typeface="Calibri" panose="020F0502020204030204" pitchFamily="34" charset="0"/>
            </a:endParaRPr>
          </a:p>
        </p:txBody>
      </p:sp>
      <p:sp>
        <p:nvSpPr>
          <p:cNvPr id="55321" name="TextBox 49"/>
          <p:cNvSpPr txBox="1"/>
          <p:nvPr/>
        </p:nvSpPr>
        <p:spPr>
          <a:xfrm>
            <a:off x="7104063" y="206216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55322" name="TextBox 53"/>
          <p:cNvSpPr txBox="1"/>
          <p:nvPr/>
        </p:nvSpPr>
        <p:spPr>
          <a:xfrm>
            <a:off x="7094538" y="210661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4" name="乘号 3"/>
          <p:cNvSpPr/>
          <p:nvPr/>
        </p:nvSpPr>
        <p:spPr>
          <a:xfrm>
            <a:off x="6311900" y="2195513"/>
            <a:ext cx="1296988" cy="273685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文本框 15"/>
          <p:cNvSpPr txBox="1"/>
          <p:nvPr/>
        </p:nvSpPr>
        <p:spPr>
          <a:xfrm>
            <a:off x="5015865" y="5157470"/>
            <a:ext cx="6096000" cy="432435"/>
          </a:xfrm>
          <a:prstGeom prst="rect">
            <a:avLst/>
          </a:prstGeom>
          <a:noFill/>
        </p:spPr>
        <p:txBody>
          <a:bodyPr wrap="square" rtlCol="0" anchor="t">
            <a:spAutoFit/>
          </a:bodyPr>
          <a:lstStyle/>
          <a:p>
            <a:pPr algn="l" eaLnBrk="1" hangingPunct="1"/>
            <a:r>
              <a:rPr lang="en-US" altLang="zh-CN" sz="2220" dirty="0">
                <a:sym typeface="+mn-ea"/>
              </a:rPr>
              <a:t>——</a:t>
            </a:r>
            <a:r>
              <a:rPr lang="zh-CN" altLang="en-US" sz="2220" dirty="0">
                <a:sym typeface="+mn-ea"/>
              </a:rPr>
              <a:t>首末测区距边缘距离不符合标准要求</a:t>
            </a:r>
            <a:endParaRPr lang="zh-CN" altLang="en-US" sz="2220" dirty="0">
              <a:latin typeface="Arial" panose="020B0604020202020204" pitchFamily="34" charset="0"/>
              <a:ea typeface="微软雅黑" panose="020B0503020204020204" pitchFamily="34" charset="-122"/>
              <a:sym typeface="+mn-ea"/>
            </a:endParaRPr>
          </a:p>
        </p:txBody>
      </p:sp>
    </p:spTree>
  </p:cSld>
  <p:clrMapOvr>
    <a:masterClrMapping/>
  </p:clrMapOvr>
  <p:transition spd="slow">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2201863" y="620713"/>
            <a:ext cx="7926387" cy="774700"/>
          </a:xfrm>
        </p:spPr>
        <p:txBody>
          <a:bodyPr vert="horz" wrap="square" lIns="91440" tIns="45720" rIns="91440" bIns="45720" anchor="ctr" anchorCtr="0"/>
          <a:lstStyle/>
          <a:p>
            <a:pPr algn="l" eaLnBrk="1" hangingPunct="1"/>
            <a:r>
              <a:rPr lang="zh-CN" altLang="en-US" sz="2800" dirty="0"/>
              <a:t>墩柱类测区分布示意图（展开图）</a:t>
            </a:r>
          </a:p>
        </p:txBody>
      </p:sp>
      <p:sp>
        <p:nvSpPr>
          <p:cNvPr id="56323" name="文本占位符 2"/>
          <p:cNvSpPr>
            <a:spLocks noGrp="1"/>
          </p:cNvSpPr>
          <p:nvPr>
            <p:ph type="body" sz="half" idx="1"/>
          </p:nvPr>
        </p:nvSpPr>
        <p:spPr>
          <a:xfrm>
            <a:off x="2495550" y="1844675"/>
            <a:ext cx="6264275" cy="4418013"/>
          </a:xfrm>
        </p:spPr>
        <p:txBody>
          <a:bodyPr vert="horz" wrap="square" lIns="91440" tIns="45720" rIns="91440" bIns="45720" anchor="t" anchorCtr="0"/>
          <a:lstStyle/>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p:txBody>
      </p:sp>
      <p:sp>
        <p:nvSpPr>
          <p:cNvPr id="2" name="矩形 1"/>
          <p:cNvSpPr/>
          <p:nvPr/>
        </p:nvSpPr>
        <p:spPr>
          <a:xfrm>
            <a:off x="2640013" y="1989138"/>
            <a:ext cx="1484313" cy="424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矩形 2"/>
          <p:cNvSpPr/>
          <p:nvPr/>
        </p:nvSpPr>
        <p:spPr>
          <a:xfrm>
            <a:off x="3306763" y="319881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224338" y="319881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5141913" y="319881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2782888" y="3198813"/>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3719513" y="3198813"/>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4656138" y="319881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5754688" y="317658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6332" name="TextBox 4"/>
          <p:cNvSpPr txBox="1"/>
          <p:nvPr/>
        </p:nvSpPr>
        <p:spPr>
          <a:xfrm>
            <a:off x="2825750" y="2774950"/>
            <a:ext cx="144463" cy="368300"/>
          </a:xfrm>
          <a:prstGeom prst="rect">
            <a:avLst/>
          </a:prstGeom>
          <a:noFill/>
          <a:ln w="9525">
            <a:noFill/>
          </a:ln>
        </p:spPr>
        <p:txBody>
          <a:bodyPr>
            <a:spAutoFit/>
          </a:bodyPr>
          <a:lstStyle/>
          <a:p>
            <a:r>
              <a:rPr lang="en-US" altLang="zh-CN" dirty="0">
                <a:latin typeface="Calibri" panose="020F0502020204030204" pitchFamily="34" charset="0"/>
              </a:rPr>
              <a:t>1</a:t>
            </a:r>
            <a:endParaRPr lang="zh-CN" altLang="en-US" dirty="0">
              <a:latin typeface="Calibri" panose="020F0502020204030204" pitchFamily="34" charset="0"/>
            </a:endParaRPr>
          </a:p>
        </p:txBody>
      </p:sp>
      <p:sp>
        <p:nvSpPr>
          <p:cNvPr id="56333" name="TextBox 16"/>
          <p:cNvSpPr txBox="1"/>
          <p:nvPr/>
        </p:nvSpPr>
        <p:spPr>
          <a:xfrm>
            <a:off x="3378200" y="2759075"/>
            <a:ext cx="144463" cy="368300"/>
          </a:xfrm>
          <a:prstGeom prst="rect">
            <a:avLst/>
          </a:prstGeom>
          <a:noFill/>
          <a:ln w="9525">
            <a:noFill/>
          </a:ln>
        </p:spPr>
        <p:txBody>
          <a:bodyPr>
            <a:spAutoFit/>
          </a:bodyPr>
          <a:lstStyle/>
          <a:p>
            <a:r>
              <a:rPr lang="en-US" altLang="zh-CN" dirty="0">
                <a:latin typeface="Calibri" panose="020F0502020204030204" pitchFamily="34" charset="0"/>
              </a:rPr>
              <a:t>2</a:t>
            </a:r>
            <a:endParaRPr lang="zh-CN" altLang="en-US" dirty="0">
              <a:latin typeface="Calibri" panose="020F0502020204030204" pitchFamily="34" charset="0"/>
            </a:endParaRPr>
          </a:p>
        </p:txBody>
      </p:sp>
      <p:sp>
        <p:nvSpPr>
          <p:cNvPr id="56334" name="TextBox 18"/>
          <p:cNvSpPr txBox="1"/>
          <p:nvPr/>
        </p:nvSpPr>
        <p:spPr>
          <a:xfrm>
            <a:off x="3792538" y="2770188"/>
            <a:ext cx="142875" cy="368300"/>
          </a:xfrm>
          <a:prstGeom prst="rect">
            <a:avLst/>
          </a:prstGeom>
          <a:noFill/>
          <a:ln w="9525">
            <a:noFill/>
          </a:ln>
        </p:spPr>
        <p:txBody>
          <a:bodyPr>
            <a:spAutoFit/>
          </a:bodyPr>
          <a:lstStyle/>
          <a:p>
            <a:r>
              <a:rPr lang="en-US" altLang="zh-CN" dirty="0">
                <a:latin typeface="Calibri" panose="020F0502020204030204" pitchFamily="34" charset="0"/>
              </a:rPr>
              <a:t>3</a:t>
            </a:r>
            <a:endParaRPr lang="zh-CN" altLang="en-US" dirty="0">
              <a:latin typeface="Calibri" panose="020F0502020204030204" pitchFamily="34" charset="0"/>
            </a:endParaRPr>
          </a:p>
        </p:txBody>
      </p:sp>
      <p:sp>
        <p:nvSpPr>
          <p:cNvPr id="56335" name="TextBox 19"/>
          <p:cNvSpPr txBox="1"/>
          <p:nvPr/>
        </p:nvSpPr>
        <p:spPr>
          <a:xfrm>
            <a:off x="4283075" y="2806700"/>
            <a:ext cx="142875" cy="368300"/>
          </a:xfrm>
          <a:prstGeom prst="rect">
            <a:avLst/>
          </a:prstGeom>
          <a:noFill/>
          <a:ln w="9525">
            <a:noFill/>
          </a:ln>
        </p:spPr>
        <p:txBody>
          <a:bodyPr>
            <a:spAutoFit/>
          </a:bodyPr>
          <a:lstStyle/>
          <a:p>
            <a:r>
              <a:rPr lang="en-US" altLang="zh-CN" dirty="0">
                <a:latin typeface="Calibri" panose="020F0502020204030204" pitchFamily="34" charset="0"/>
              </a:rPr>
              <a:t>4</a:t>
            </a:r>
            <a:endParaRPr lang="zh-CN" altLang="en-US" dirty="0">
              <a:latin typeface="Calibri" panose="020F0502020204030204" pitchFamily="34" charset="0"/>
            </a:endParaRPr>
          </a:p>
        </p:txBody>
      </p:sp>
      <p:sp>
        <p:nvSpPr>
          <p:cNvPr id="56336" name="TextBox 20"/>
          <p:cNvSpPr txBox="1"/>
          <p:nvPr/>
        </p:nvSpPr>
        <p:spPr>
          <a:xfrm>
            <a:off x="4708525" y="2789238"/>
            <a:ext cx="144463" cy="368300"/>
          </a:xfrm>
          <a:prstGeom prst="rect">
            <a:avLst/>
          </a:prstGeom>
          <a:noFill/>
          <a:ln w="9525">
            <a:noFill/>
          </a:ln>
        </p:spPr>
        <p:txBody>
          <a:bodyPr>
            <a:spAutoFit/>
          </a:bodyPr>
          <a:lstStyle/>
          <a:p>
            <a:r>
              <a:rPr lang="en-US" altLang="zh-CN" dirty="0">
                <a:latin typeface="Calibri" panose="020F0502020204030204" pitchFamily="34" charset="0"/>
              </a:rPr>
              <a:t>5</a:t>
            </a:r>
            <a:endParaRPr lang="zh-CN" altLang="en-US" dirty="0">
              <a:latin typeface="Calibri" panose="020F0502020204030204" pitchFamily="34" charset="0"/>
            </a:endParaRPr>
          </a:p>
        </p:txBody>
      </p:sp>
      <p:sp>
        <p:nvSpPr>
          <p:cNvPr id="56337" name="TextBox 21"/>
          <p:cNvSpPr txBox="1"/>
          <p:nvPr/>
        </p:nvSpPr>
        <p:spPr>
          <a:xfrm>
            <a:off x="5110163" y="2778125"/>
            <a:ext cx="142875" cy="368300"/>
          </a:xfrm>
          <a:prstGeom prst="rect">
            <a:avLst/>
          </a:prstGeom>
          <a:noFill/>
          <a:ln w="9525">
            <a:noFill/>
          </a:ln>
        </p:spPr>
        <p:txBody>
          <a:bodyPr>
            <a:spAutoFit/>
          </a:bodyPr>
          <a:lstStyle/>
          <a:p>
            <a:r>
              <a:rPr lang="en-US" altLang="zh-CN" dirty="0">
                <a:latin typeface="Calibri" panose="020F0502020204030204" pitchFamily="34" charset="0"/>
              </a:rPr>
              <a:t>6</a:t>
            </a:r>
            <a:endParaRPr lang="zh-CN" altLang="en-US" dirty="0">
              <a:latin typeface="Calibri" panose="020F0502020204030204" pitchFamily="34" charset="0"/>
            </a:endParaRPr>
          </a:p>
        </p:txBody>
      </p:sp>
      <p:sp>
        <p:nvSpPr>
          <p:cNvPr id="56338" name="TextBox 22"/>
          <p:cNvSpPr txBox="1"/>
          <p:nvPr/>
        </p:nvSpPr>
        <p:spPr>
          <a:xfrm>
            <a:off x="5826125" y="2774950"/>
            <a:ext cx="144463" cy="368300"/>
          </a:xfrm>
          <a:prstGeom prst="rect">
            <a:avLst/>
          </a:prstGeom>
          <a:noFill/>
          <a:ln w="9525">
            <a:noFill/>
          </a:ln>
        </p:spPr>
        <p:txBody>
          <a:bodyPr>
            <a:spAutoFit/>
          </a:bodyPr>
          <a:lstStyle/>
          <a:p>
            <a:r>
              <a:rPr lang="en-US" altLang="zh-CN" dirty="0">
                <a:latin typeface="Calibri" panose="020F0502020204030204" pitchFamily="34" charset="0"/>
              </a:rPr>
              <a:t>7</a:t>
            </a:r>
            <a:endParaRPr lang="zh-CN" altLang="en-US" dirty="0">
              <a:latin typeface="Calibri" panose="020F0502020204030204" pitchFamily="34" charset="0"/>
            </a:endParaRPr>
          </a:p>
        </p:txBody>
      </p:sp>
      <p:sp>
        <p:nvSpPr>
          <p:cNvPr id="43" name="矩形 42"/>
          <p:cNvSpPr/>
          <p:nvPr/>
        </p:nvSpPr>
        <p:spPr>
          <a:xfrm>
            <a:off x="6211888" y="3187700"/>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6340" name="TextBox 43"/>
          <p:cNvSpPr txBox="1"/>
          <p:nvPr/>
        </p:nvSpPr>
        <p:spPr>
          <a:xfrm>
            <a:off x="6211253" y="2759075"/>
            <a:ext cx="144462" cy="368300"/>
          </a:xfrm>
          <a:prstGeom prst="rect">
            <a:avLst/>
          </a:prstGeom>
          <a:noFill/>
          <a:ln w="9525">
            <a:noFill/>
          </a:ln>
        </p:spPr>
        <p:txBody>
          <a:bodyPr>
            <a:spAutoFit/>
          </a:bodyPr>
          <a:lstStyle/>
          <a:p>
            <a:r>
              <a:rPr lang="en-US" altLang="zh-CN" dirty="0">
                <a:latin typeface="Calibri" panose="020F0502020204030204" pitchFamily="34" charset="0"/>
              </a:rPr>
              <a:t>8</a:t>
            </a:r>
            <a:endParaRPr lang="zh-CN" altLang="en-US" dirty="0">
              <a:latin typeface="Calibri" panose="020F0502020204030204" pitchFamily="34" charset="0"/>
            </a:endParaRPr>
          </a:p>
        </p:txBody>
      </p:sp>
      <p:sp>
        <p:nvSpPr>
          <p:cNvPr id="45" name="矩形 44"/>
          <p:cNvSpPr/>
          <p:nvPr/>
        </p:nvSpPr>
        <p:spPr>
          <a:xfrm>
            <a:off x="6734175" y="3187700"/>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6342" name="TextBox 45"/>
          <p:cNvSpPr txBox="1"/>
          <p:nvPr/>
        </p:nvSpPr>
        <p:spPr>
          <a:xfrm>
            <a:off x="6763703" y="2770505"/>
            <a:ext cx="144462" cy="368300"/>
          </a:xfrm>
          <a:prstGeom prst="rect">
            <a:avLst/>
          </a:prstGeom>
          <a:noFill/>
          <a:ln w="9525">
            <a:noFill/>
          </a:ln>
        </p:spPr>
        <p:txBody>
          <a:bodyPr>
            <a:spAutoFit/>
          </a:bodyPr>
          <a:lstStyle/>
          <a:p>
            <a:r>
              <a:rPr lang="en-US" altLang="zh-CN" dirty="0">
                <a:latin typeface="Calibri" panose="020F0502020204030204" pitchFamily="34" charset="0"/>
              </a:rPr>
              <a:t>9</a:t>
            </a:r>
            <a:endParaRPr lang="zh-CN" altLang="en-US" dirty="0">
              <a:latin typeface="Calibri" panose="020F0502020204030204" pitchFamily="34" charset="0"/>
            </a:endParaRPr>
          </a:p>
        </p:txBody>
      </p:sp>
      <p:sp>
        <p:nvSpPr>
          <p:cNvPr id="47" name="矩形 46"/>
          <p:cNvSpPr/>
          <p:nvPr/>
        </p:nvSpPr>
        <p:spPr>
          <a:xfrm>
            <a:off x="7518400" y="3205163"/>
            <a:ext cx="287338" cy="288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6344" name="TextBox 47"/>
          <p:cNvSpPr txBox="1"/>
          <p:nvPr/>
        </p:nvSpPr>
        <p:spPr>
          <a:xfrm>
            <a:off x="7442835" y="2759075"/>
            <a:ext cx="612775" cy="460375"/>
          </a:xfrm>
          <a:prstGeom prst="rect">
            <a:avLst/>
          </a:prstGeom>
          <a:noFill/>
          <a:ln w="9525">
            <a:noFill/>
          </a:ln>
        </p:spPr>
        <p:txBody>
          <a:bodyPr wrap="square">
            <a:spAutoFit/>
          </a:bodyPr>
          <a:lstStyle/>
          <a:p>
            <a:r>
              <a:rPr lang="en-US" altLang="zh-CN" dirty="0">
                <a:latin typeface="Calibri" panose="020F0502020204030204" pitchFamily="34" charset="0"/>
              </a:rPr>
              <a:t>10</a:t>
            </a:r>
            <a:endParaRPr lang="zh-CN" altLang="en-US" dirty="0">
              <a:latin typeface="Calibri" panose="020F0502020204030204" pitchFamily="34" charset="0"/>
            </a:endParaRPr>
          </a:p>
        </p:txBody>
      </p:sp>
      <p:sp>
        <p:nvSpPr>
          <p:cNvPr id="49" name="矩形 48"/>
          <p:cNvSpPr/>
          <p:nvPr/>
        </p:nvSpPr>
        <p:spPr>
          <a:xfrm>
            <a:off x="4124325" y="1989138"/>
            <a:ext cx="1485900" cy="424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0" name="矩形 49"/>
          <p:cNvSpPr/>
          <p:nvPr/>
        </p:nvSpPr>
        <p:spPr>
          <a:xfrm>
            <a:off x="5613400" y="1989138"/>
            <a:ext cx="1485900" cy="424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2" name="矩形 51"/>
          <p:cNvSpPr/>
          <p:nvPr/>
        </p:nvSpPr>
        <p:spPr>
          <a:xfrm>
            <a:off x="7104063" y="1984375"/>
            <a:ext cx="1485900" cy="424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3" name="乘号 52"/>
          <p:cNvSpPr/>
          <p:nvPr/>
        </p:nvSpPr>
        <p:spPr>
          <a:xfrm>
            <a:off x="8589963" y="2276475"/>
            <a:ext cx="1295400" cy="273685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文本框 3"/>
          <p:cNvSpPr txBox="1"/>
          <p:nvPr/>
        </p:nvSpPr>
        <p:spPr>
          <a:xfrm>
            <a:off x="2855595" y="4149090"/>
            <a:ext cx="5461000" cy="773430"/>
          </a:xfrm>
          <a:prstGeom prst="rect">
            <a:avLst/>
          </a:prstGeom>
          <a:noFill/>
        </p:spPr>
        <p:txBody>
          <a:bodyPr wrap="square" rtlCol="0" anchor="t">
            <a:spAutoFit/>
          </a:bodyPr>
          <a:lstStyle/>
          <a:p>
            <a:pPr algn="l" eaLnBrk="1" hangingPunct="1"/>
            <a:r>
              <a:rPr lang="en-US" altLang="zh-CN" sz="2220" dirty="0">
                <a:sym typeface="+mn-ea"/>
              </a:rPr>
              <a:t>——</a:t>
            </a:r>
            <a:r>
              <a:rPr lang="zh-CN" altLang="en-US" sz="2220" dirty="0">
                <a:sym typeface="+mn-ea"/>
              </a:rPr>
              <a:t>首末测区距边缘距离不符合标准要求，</a:t>
            </a:r>
          </a:p>
          <a:p>
            <a:pPr algn="l" eaLnBrk="1" hangingPunct="1"/>
            <a:r>
              <a:rPr lang="zh-CN" altLang="en-US" sz="2220" dirty="0">
                <a:sym typeface="+mn-ea"/>
              </a:rPr>
              <a:t> </a:t>
            </a:r>
            <a:r>
              <a:rPr lang="en-US" altLang="zh-CN" sz="2220" dirty="0">
                <a:sym typeface="+mn-ea"/>
              </a:rPr>
              <a:t>      </a:t>
            </a:r>
            <a:r>
              <a:rPr lang="zh-CN" altLang="en-US" sz="2220" dirty="0">
                <a:sym typeface="+mn-ea"/>
              </a:rPr>
              <a:t>测区集中在局部区域</a:t>
            </a:r>
            <a:r>
              <a:rPr lang="en-US" altLang="zh-CN" sz="2220" dirty="0">
                <a:sym typeface="+mn-ea"/>
              </a:rPr>
              <a:t> </a:t>
            </a:r>
            <a:endParaRPr lang="en-US" altLang="zh-CN" sz="2220" dirty="0">
              <a:latin typeface="Arial" panose="020B0604020202020204" pitchFamily="34" charset="0"/>
              <a:ea typeface="微软雅黑" panose="020B0503020204020204" pitchFamily="34" charset="-122"/>
              <a:sym typeface="+mn-ea"/>
            </a:endParaRPr>
          </a:p>
        </p:txBody>
      </p:sp>
    </p:spTree>
  </p:cSld>
  <p:clrMapOvr>
    <a:masterClrMapping/>
  </p:clrMapOvr>
  <p:transition spd="slow">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2201863" y="620713"/>
            <a:ext cx="7926387" cy="774700"/>
          </a:xfrm>
        </p:spPr>
        <p:txBody>
          <a:bodyPr vert="horz" wrap="square" lIns="91440" tIns="45720" rIns="91440" bIns="45720" anchor="ctr" anchorCtr="0"/>
          <a:lstStyle/>
          <a:p>
            <a:pPr algn="l" eaLnBrk="1" hangingPunct="1"/>
            <a:r>
              <a:rPr lang="zh-CN" altLang="en-US" sz="2800" dirty="0">
                <a:sym typeface="+mn-ea"/>
              </a:rPr>
              <a:t>超声回弹综合法的超声测点布置</a:t>
            </a:r>
            <a:endParaRPr lang="zh-CN" altLang="en-US" sz="2800" dirty="0"/>
          </a:p>
        </p:txBody>
      </p:sp>
      <p:sp>
        <p:nvSpPr>
          <p:cNvPr id="55299" name="文本占位符 2"/>
          <p:cNvSpPr>
            <a:spLocks noGrp="1"/>
          </p:cNvSpPr>
          <p:nvPr>
            <p:ph type="body" sz="half" idx="1"/>
          </p:nvPr>
        </p:nvSpPr>
        <p:spPr>
          <a:xfrm>
            <a:off x="2424113" y="1844675"/>
            <a:ext cx="3887787" cy="3262313"/>
          </a:xfrm>
        </p:spPr>
        <p:txBody>
          <a:bodyPr vert="horz" wrap="square" lIns="91440" tIns="45720" rIns="91440" bIns="45720" anchor="t" anchorCtr="0"/>
          <a:lstStyle/>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a:p>
            <a:pPr marL="0" indent="0" eaLnBrk="1" hangingPunct="1">
              <a:buClr>
                <a:schemeClr val="tx2"/>
              </a:buClr>
              <a:buSzPct val="50000"/>
              <a:buFont typeface="Wingdings 2" panose="05020102010507070707" pitchFamily="18" charset="2"/>
              <a:buNone/>
            </a:pPr>
            <a:endParaRPr lang="en-US" altLang="zh-CN" dirty="0"/>
          </a:p>
        </p:txBody>
      </p:sp>
      <p:sp>
        <p:nvSpPr>
          <p:cNvPr id="2" name="矩形 1"/>
          <p:cNvSpPr/>
          <p:nvPr/>
        </p:nvSpPr>
        <p:spPr>
          <a:xfrm>
            <a:off x="2204085" y="1635125"/>
            <a:ext cx="6876415" cy="41236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矩形 2"/>
          <p:cNvSpPr/>
          <p:nvPr/>
        </p:nvSpPr>
        <p:spPr>
          <a:xfrm>
            <a:off x="6713538" y="263683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359593" y="357346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6704648" y="357219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4355783" y="449611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5509578" y="4508818"/>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6662420" y="4504690"/>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5580063" y="263683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7758748" y="263683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5486718" y="3573463"/>
            <a:ext cx="287338"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3359785" y="4508818"/>
            <a:ext cx="288925"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5311" name="TextBox 4"/>
          <p:cNvSpPr txBox="1"/>
          <p:nvPr/>
        </p:nvSpPr>
        <p:spPr>
          <a:xfrm>
            <a:off x="5523230" y="227711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8</a:t>
            </a:r>
            <a:endParaRPr lang="zh-CN" altLang="en-US" dirty="0">
              <a:latin typeface="宋体" panose="02010600030101010101" pitchFamily="2" charset="-122"/>
              <a:ea typeface="宋体" panose="02010600030101010101" pitchFamily="2" charset="-122"/>
            </a:endParaRPr>
          </a:p>
        </p:txBody>
      </p:sp>
      <p:sp>
        <p:nvSpPr>
          <p:cNvPr id="55321" name="TextBox 49"/>
          <p:cNvSpPr txBox="1"/>
          <p:nvPr/>
        </p:nvSpPr>
        <p:spPr>
          <a:xfrm>
            <a:off x="7104063" y="206216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55322" name="TextBox 53"/>
          <p:cNvSpPr txBox="1"/>
          <p:nvPr/>
        </p:nvSpPr>
        <p:spPr>
          <a:xfrm>
            <a:off x="7094538" y="2106613"/>
            <a:ext cx="144462" cy="368300"/>
          </a:xfrm>
          <a:prstGeom prst="rect">
            <a:avLst/>
          </a:prstGeom>
          <a:noFill/>
          <a:ln w="9525">
            <a:noFill/>
          </a:ln>
        </p:spPr>
        <p:txBody>
          <a:bodyPr>
            <a:spAutoFit/>
          </a:bodyPr>
          <a:lstStyle/>
          <a:p>
            <a:endParaRPr lang="zh-CN" altLang="en-US" dirty="0">
              <a:latin typeface="Calibri" panose="020F0502020204030204" pitchFamily="34" charset="0"/>
            </a:endParaRPr>
          </a:p>
        </p:txBody>
      </p:sp>
      <p:sp>
        <p:nvSpPr>
          <p:cNvPr id="17" name="TextBox 4"/>
          <p:cNvSpPr txBox="1"/>
          <p:nvPr/>
        </p:nvSpPr>
        <p:spPr>
          <a:xfrm>
            <a:off x="6678930" y="227711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9</a:t>
            </a:r>
            <a:endParaRPr lang="zh-CN" altLang="en-US" dirty="0">
              <a:latin typeface="宋体" panose="02010600030101010101" pitchFamily="2" charset="-122"/>
              <a:ea typeface="宋体" panose="02010600030101010101" pitchFamily="2" charset="-122"/>
            </a:endParaRPr>
          </a:p>
        </p:txBody>
      </p:sp>
      <p:sp>
        <p:nvSpPr>
          <p:cNvPr id="18" name="TextBox 4"/>
          <p:cNvSpPr txBox="1"/>
          <p:nvPr/>
        </p:nvSpPr>
        <p:spPr>
          <a:xfrm>
            <a:off x="7603490" y="2289175"/>
            <a:ext cx="597535"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10</a:t>
            </a:r>
            <a:endParaRPr lang="zh-CN" altLang="en-US" dirty="0">
              <a:latin typeface="宋体" panose="02010600030101010101" pitchFamily="2" charset="-122"/>
              <a:ea typeface="宋体" panose="02010600030101010101" pitchFamily="2" charset="-122"/>
            </a:endParaRPr>
          </a:p>
        </p:txBody>
      </p:sp>
      <p:sp>
        <p:nvSpPr>
          <p:cNvPr id="19" name="TextBox 4"/>
          <p:cNvSpPr txBox="1"/>
          <p:nvPr/>
        </p:nvSpPr>
        <p:spPr>
          <a:xfrm>
            <a:off x="4328160" y="3197225"/>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5</a:t>
            </a:r>
            <a:endParaRPr lang="zh-CN" altLang="en-US" dirty="0">
              <a:latin typeface="宋体" panose="02010600030101010101" pitchFamily="2" charset="-122"/>
              <a:ea typeface="宋体" panose="02010600030101010101" pitchFamily="2" charset="-122"/>
            </a:endParaRPr>
          </a:p>
        </p:txBody>
      </p:sp>
      <p:sp>
        <p:nvSpPr>
          <p:cNvPr id="20" name="TextBox 4"/>
          <p:cNvSpPr txBox="1"/>
          <p:nvPr/>
        </p:nvSpPr>
        <p:spPr>
          <a:xfrm>
            <a:off x="5465445" y="3193415"/>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6</a:t>
            </a:r>
            <a:endParaRPr lang="zh-CN" altLang="en-US" dirty="0">
              <a:latin typeface="宋体" panose="02010600030101010101" pitchFamily="2" charset="-122"/>
              <a:ea typeface="宋体" panose="02010600030101010101" pitchFamily="2" charset="-122"/>
            </a:endParaRPr>
          </a:p>
        </p:txBody>
      </p:sp>
      <p:sp>
        <p:nvSpPr>
          <p:cNvPr id="21" name="TextBox 4"/>
          <p:cNvSpPr txBox="1"/>
          <p:nvPr/>
        </p:nvSpPr>
        <p:spPr>
          <a:xfrm>
            <a:off x="6713855" y="3213735"/>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7</a:t>
            </a:r>
            <a:endParaRPr lang="zh-CN" altLang="en-US" dirty="0">
              <a:latin typeface="宋体" panose="02010600030101010101" pitchFamily="2" charset="-122"/>
              <a:ea typeface="宋体" panose="02010600030101010101" pitchFamily="2" charset="-122"/>
            </a:endParaRPr>
          </a:p>
        </p:txBody>
      </p:sp>
      <p:sp>
        <p:nvSpPr>
          <p:cNvPr id="22" name="TextBox 4"/>
          <p:cNvSpPr txBox="1"/>
          <p:nvPr/>
        </p:nvSpPr>
        <p:spPr>
          <a:xfrm>
            <a:off x="3368040" y="4110355"/>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p:txBody>
      </p:sp>
      <p:sp>
        <p:nvSpPr>
          <p:cNvPr id="23" name="TextBox 4"/>
          <p:cNvSpPr txBox="1"/>
          <p:nvPr/>
        </p:nvSpPr>
        <p:spPr>
          <a:xfrm>
            <a:off x="4337050" y="409194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2</a:t>
            </a:r>
            <a:endParaRPr lang="zh-CN" altLang="en-US" dirty="0">
              <a:latin typeface="宋体" panose="02010600030101010101" pitchFamily="2" charset="-122"/>
              <a:ea typeface="宋体" panose="02010600030101010101" pitchFamily="2" charset="-122"/>
            </a:endParaRPr>
          </a:p>
        </p:txBody>
      </p:sp>
      <p:sp>
        <p:nvSpPr>
          <p:cNvPr id="24" name="TextBox 4"/>
          <p:cNvSpPr txBox="1"/>
          <p:nvPr/>
        </p:nvSpPr>
        <p:spPr>
          <a:xfrm>
            <a:off x="5487035" y="409194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p:txBody>
      </p:sp>
      <p:sp>
        <p:nvSpPr>
          <p:cNvPr id="25" name="TextBox 4"/>
          <p:cNvSpPr txBox="1"/>
          <p:nvPr/>
        </p:nvSpPr>
        <p:spPr>
          <a:xfrm>
            <a:off x="6661785" y="4091940"/>
            <a:ext cx="331470" cy="460375"/>
          </a:xfrm>
          <a:prstGeom prst="rect">
            <a:avLst/>
          </a:prstGeom>
          <a:noFill/>
          <a:ln w="9525">
            <a:noFill/>
          </a:ln>
        </p:spPr>
        <p:txBody>
          <a:bodyPr wrap="square">
            <a:spAutoFit/>
          </a:bodyPr>
          <a:lstStyle/>
          <a:p>
            <a:r>
              <a:rPr lang="en-US" altLang="zh-CN" dirty="0">
                <a:latin typeface="宋体" panose="02010600030101010101" pitchFamily="2" charset="-122"/>
                <a:ea typeface="宋体" panose="02010600030101010101" pitchFamily="2" charset="-122"/>
              </a:rPr>
              <a:t>4</a:t>
            </a:r>
            <a:endParaRPr lang="zh-CN" altLang="en-US" dirty="0">
              <a:latin typeface="宋体" panose="02010600030101010101" pitchFamily="2" charset="-122"/>
              <a:ea typeface="宋体" panose="02010600030101010101" pitchFamily="2" charset="-122"/>
            </a:endParaRPr>
          </a:p>
        </p:txBody>
      </p:sp>
      <p:cxnSp>
        <p:nvCxnSpPr>
          <p:cNvPr id="26" name="直接箭头连接符 25"/>
          <p:cNvCxnSpPr/>
          <p:nvPr/>
        </p:nvCxnSpPr>
        <p:spPr>
          <a:xfrm>
            <a:off x="2495233" y="4652963"/>
            <a:ext cx="71596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111808" y="2779713"/>
            <a:ext cx="71596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H="1" flipV="1">
            <a:off x="3504248" y="4892993"/>
            <a:ext cx="0" cy="8366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flipV="1">
            <a:off x="8111173" y="1700213"/>
            <a:ext cx="0" cy="8366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V="1">
            <a:off x="7391718" y="3859531"/>
            <a:ext cx="0" cy="57658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3719513" y="5106353"/>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4729163" y="5106353"/>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5962333" y="5157153"/>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2254" name="TextBox 21"/>
          <p:cNvSpPr txBox="1"/>
          <p:nvPr/>
        </p:nvSpPr>
        <p:spPr>
          <a:xfrm>
            <a:off x="2309495" y="4303395"/>
            <a:ext cx="1339215" cy="349885"/>
          </a:xfrm>
          <a:prstGeom prst="rect">
            <a:avLst/>
          </a:prstGeom>
          <a:noFill/>
          <a:ln w="9525">
            <a:noFill/>
          </a:ln>
        </p:spPr>
        <p:txBody>
          <a:bodyPr>
            <a:no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sp>
        <p:nvSpPr>
          <p:cNvPr id="34" name="TextBox 21"/>
          <p:cNvSpPr txBox="1"/>
          <p:nvPr/>
        </p:nvSpPr>
        <p:spPr>
          <a:xfrm>
            <a:off x="7967980" y="2896235"/>
            <a:ext cx="1339215" cy="349885"/>
          </a:xfrm>
          <a:prstGeom prst="rect">
            <a:avLst/>
          </a:prstGeom>
          <a:noFill/>
          <a:ln w="9525">
            <a:noFill/>
          </a:ln>
        </p:spPr>
        <p:txBody>
          <a:bodyPr>
            <a:no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sp>
        <p:nvSpPr>
          <p:cNvPr id="35" name="TextBox 21"/>
          <p:cNvSpPr txBox="1"/>
          <p:nvPr/>
        </p:nvSpPr>
        <p:spPr>
          <a:xfrm>
            <a:off x="4655820" y="5207635"/>
            <a:ext cx="1141095" cy="349885"/>
          </a:xfrm>
          <a:prstGeom prst="rect">
            <a:avLst/>
          </a:prstGeom>
          <a:noFill/>
          <a:ln w="9525">
            <a:noFill/>
          </a:ln>
        </p:spPr>
        <p:txBody>
          <a:bodyPr>
            <a:noAutofit/>
          </a:bodyPr>
          <a:lstStyle/>
          <a:p>
            <a:r>
              <a:rPr 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小于</a:t>
            </a:r>
            <a:r>
              <a:rPr lang="en-US" alt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2.0m</a:t>
            </a:r>
          </a:p>
        </p:txBody>
      </p:sp>
      <p:sp>
        <p:nvSpPr>
          <p:cNvPr id="36" name="TextBox 21"/>
          <p:cNvSpPr txBox="1"/>
          <p:nvPr/>
        </p:nvSpPr>
        <p:spPr>
          <a:xfrm>
            <a:off x="7464425" y="4004945"/>
            <a:ext cx="1339215" cy="349885"/>
          </a:xfrm>
          <a:prstGeom prst="rect">
            <a:avLst/>
          </a:prstGeom>
          <a:noFill/>
          <a:ln w="9525">
            <a:noFill/>
          </a:ln>
        </p:spPr>
        <p:txBody>
          <a:bodyPr>
            <a:noAutofit/>
          </a:bodyPr>
          <a:lstStyle/>
          <a:p>
            <a:r>
              <a:rPr 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小于</a:t>
            </a:r>
            <a:r>
              <a:rPr lang="en-US" alt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2.0m</a:t>
            </a:r>
          </a:p>
        </p:txBody>
      </p:sp>
      <p:sp>
        <p:nvSpPr>
          <p:cNvPr id="37" name="TextBox 21"/>
          <p:cNvSpPr txBox="1"/>
          <p:nvPr/>
        </p:nvSpPr>
        <p:spPr>
          <a:xfrm>
            <a:off x="7010400" y="1787525"/>
            <a:ext cx="1339215" cy="349885"/>
          </a:xfrm>
          <a:prstGeom prst="rect">
            <a:avLst/>
          </a:prstGeom>
          <a:noFill/>
          <a:ln w="9525">
            <a:noFill/>
          </a:ln>
        </p:spPr>
        <p:txBody>
          <a:bodyPr>
            <a:noAutofit/>
          </a:bodyPr>
          <a:lstStyle/>
          <a:p>
            <a:r>
              <a:rPr lang="en-US" altLang="zh-CN" sz="1600" dirty="0">
                <a:latin typeface="宋体" panose="02010600030101010101" pitchFamily="2" charset="-122"/>
                <a:ea typeface="宋体" panose="02010600030101010101" pitchFamily="2" charset="-122"/>
                <a:cs typeface="宋体" panose="02010600030101010101" pitchFamily="2" charset="-122"/>
              </a:rPr>
              <a:t>0.2</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en-US" altLang="zh-CN" sz="1600" dirty="0">
                <a:latin typeface="宋体" panose="02010600030101010101" pitchFamily="2" charset="-122"/>
                <a:ea typeface="宋体" panose="02010600030101010101" pitchFamily="2" charset="-122"/>
                <a:cs typeface="宋体" panose="02010600030101010101" pitchFamily="2" charset="-122"/>
              </a:rPr>
              <a:t>0.5m</a:t>
            </a: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sp>
        <p:nvSpPr>
          <p:cNvPr id="39" name="TextBox 21"/>
          <p:cNvSpPr txBox="1"/>
          <p:nvPr/>
        </p:nvSpPr>
        <p:spPr>
          <a:xfrm>
            <a:off x="5851525" y="5229225"/>
            <a:ext cx="1141095" cy="349885"/>
          </a:xfrm>
          <a:prstGeom prst="rect">
            <a:avLst/>
          </a:prstGeom>
          <a:noFill/>
          <a:ln w="9525">
            <a:noFill/>
          </a:ln>
        </p:spPr>
        <p:txBody>
          <a:bodyPr>
            <a:noAutofit/>
          </a:bodyPr>
          <a:lstStyle/>
          <a:p>
            <a:r>
              <a:rPr 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小于</a:t>
            </a:r>
            <a:r>
              <a:rPr lang="en-US" alt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2.0m</a:t>
            </a:r>
          </a:p>
        </p:txBody>
      </p:sp>
      <p:cxnSp>
        <p:nvCxnSpPr>
          <p:cNvPr id="42" name="直接箭头连接符 41"/>
          <p:cNvCxnSpPr/>
          <p:nvPr/>
        </p:nvCxnSpPr>
        <p:spPr>
          <a:xfrm flipV="1">
            <a:off x="5436076" y="2934176"/>
            <a:ext cx="635" cy="58293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3" name="TextBox 21"/>
          <p:cNvSpPr txBox="1"/>
          <p:nvPr/>
        </p:nvSpPr>
        <p:spPr>
          <a:xfrm>
            <a:off x="3288030" y="2863850"/>
            <a:ext cx="1339215" cy="349885"/>
          </a:xfrm>
          <a:prstGeom prst="rect">
            <a:avLst/>
          </a:prstGeom>
          <a:noFill/>
          <a:ln w="9525">
            <a:noFill/>
          </a:ln>
        </p:spPr>
        <p:txBody>
          <a:bodyPr>
            <a:noAutofit/>
          </a:bodyPr>
          <a:lstStyle/>
          <a:p>
            <a:r>
              <a:rPr 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小于</a:t>
            </a:r>
            <a:r>
              <a:rPr lang="en-US" altLang="zh-CN" sz="1600" dirty="0">
                <a:solidFill>
                  <a:srgbClr val="FF0000"/>
                </a:solidFill>
                <a:latin typeface="宋体" panose="02010600030101010101" pitchFamily="2" charset="-122"/>
                <a:ea typeface="宋体" panose="02010600030101010101" pitchFamily="2" charset="-122"/>
                <a:cs typeface="宋体" panose="02010600030101010101" pitchFamily="2" charset="-122"/>
              </a:rPr>
              <a:t>2.0m</a:t>
            </a:r>
          </a:p>
        </p:txBody>
      </p:sp>
      <p:cxnSp>
        <p:nvCxnSpPr>
          <p:cNvPr id="45" name="直接箭头连接符 44"/>
          <p:cNvCxnSpPr/>
          <p:nvPr/>
        </p:nvCxnSpPr>
        <p:spPr>
          <a:xfrm>
            <a:off x="2201863" y="5948998"/>
            <a:ext cx="6918325"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1990408" y="1628776"/>
            <a:ext cx="635" cy="412940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pSp>
        <p:nvGrpSpPr>
          <p:cNvPr id="57348" name="组合 3"/>
          <p:cNvGrpSpPr/>
          <p:nvPr/>
        </p:nvGrpSpPr>
        <p:grpSpPr>
          <a:xfrm>
            <a:off x="9444990" y="711518"/>
            <a:ext cx="1871663" cy="1727200"/>
            <a:chOff x="1331640" y="4725144"/>
            <a:chExt cx="1872208" cy="1728192"/>
          </a:xfrm>
        </p:grpSpPr>
        <p:sp>
          <p:nvSpPr>
            <p:cNvPr id="4" name="矩形 3"/>
            <p:cNvSpPr/>
            <p:nvPr/>
          </p:nvSpPr>
          <p:spPr>
            <a:xfrm>
              <a:off x="1331640" y="4725144"/>
              <a:ext cx="1872208" cy="17281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椭圆 4"/>
            <p:cNvSpPr/>
            <p:nvPr/>
          </p:nvSpPr>
          <p:spPr>
            <a:xfrm>
              <a:off x="1482497" y="4931638"/>
              <a:ext cx="358879" cy="36056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a:off x="2652825" y="5913276"/>
              <a:ext cx="360468" cy="36056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a:off x="2087510" y="5409749"/>
              <a:ext cx="360468" cy="35898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57349" name="组合 8"/>
          <p:cNvGrpSpPr/>
          <p:nvPr/>
        </p:nvGrpSpPr>
        <p:grpSpPr>
          <a:xfrm>
            <a:off x="9444673" y="2636838"/>
            <a:ext cx="1873250" cy="1728787"/>
            <a:chOff x="1331640" y="4725144"/>
            <a:chExt cx="1872208" cy="1728192"/>
          </a:xfrm>
        </p:grpSpPr>
        <p:sp>
          <p:nvSpPr>
            <p:cNvPr id="29" name="矩形 28"/>
            <p:cNvSpPr/>
            <p:nvPr/>
          </p:nvSpPr>
          <p:spPr>
            <a:xfrm>
              <a:off x="1331640" y="4725144"/>
              <a:ext cx="1872208" cy="17281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0" name="椭圆 39"/>
            <p:cNvSpPr/>
            <p:nvPr/>
          </p:nvSpPr>
          <p:spPr>
            <a:xfrm>
              <a:off x="1333226" y="5424990"/>
              <a:ext cx="360163" cy="36023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1" name="椭圆 40"/>
            <p:cNvSpPr/>
            <p:nvPr/>
          </p:nvSpPr>
          <p:spPr>
            <a:xfrm>
              <a:off x="2824646" y="5467838"/>
              <a:ext cx="360163" cy="36023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4" name="椭圆 43"/>
            <p:cNvSpPr/>
            <p:nvPr/>
          </p:nvSpPr>
          <p:spPr>
            <a:xfrm>
              <a:off x="2088456" y="5409121"/>
              <a:ext cx="358575" cy="36023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57350" name="组合 13"/>
          <p:cNvGrpSpPr/>
          <p:nvPr/>
        </p:nvGrpSpPr>
        <p:grpSpPr>
          <a:xfrm>
            <a:off x="9446578" y="4509135"/>
            <a:ext cx="1871662" cy="1728788"/>
            <a:chOff x="1331640" y="4725144"/>
            <a:chExt cx="1872208" cy="1728192"/>
          </a:xfrm>
        </p:grpSpPr>
        <p:sp>
          <p:nvSpPr>
            <p:cNvPr id="47" name="矩形 46"/>
            <p:cNvSpPr/>
            <p:nvPr/>
          </p:nvSpPr>
          <p:spPr>
            <a:xfrm>
              <a:off x="1331640" y="4725144"/>
              <a:ext cx="1872208" cy="17281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8" name="椭圆 47"/>
            <p:cNvSpPr/>
            <p:nvPr/>
          </p:nvSpPr>
          <p:spPr>
            <a:xfrm>
              <a:off x="2081159" y="4855274"/>
              <a:ext cx="358880" cy="36023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9" name="椭圆 48"/>
            <p:cNvSpPr/>
            <p:nvPr/>
          </p:nvSpPr>
          <p:spPr>
            <a:xfrm>
              <a:off x="2087510" y="6034380"/>
              <a:ext cx="360467" cy="36023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0" name="椭圆 49"/>
            <p:cNvSpPr/>
            <p:nvPr/>
          </p:nvSpPr>
          <p:spPr>
            <a:xfrm>
              <a:off x="2087510" y="5409121"/>
              <a:ext cx="360467" cy="36023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cxnSp>
        <p:nvCxnSpPr>
          <p:cNvPr id="60" name="直接箭头连接符 59"/>
          <p:cNvCxnSpPr/>
          <p:nvPr/>
        </p:nvCxnSpPr>
        <p:spPr>
          <a:xfrm>
            <a:off x="5868988" y="3740150"/>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4729163" y="3740150"/>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5945822" y="2779713"/>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7045325" y="2763838"/>
            <a:ext cx="715963"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vert="horz" wrap="square" lIns="91440" tIns="45720" rIns="91440" bIns="45720" anchor="ctr" anchorCtr="0"/>
          <a:lstStyle/>
          <a:p>
            <a:pPr algn="l" eaLnBrk="1" hangingPunct="1"/>
            <a:r>
              <a:rPr lang="en-US" altLang="zh-CN" dirty="0"/>
              <a:t>5.</a:t>
            </a:r>
            <a:r>
              <a:rPr lang="zh-CN" altLang="en-US" dirty="0"/>
              <a:t>检测前的准备</a:t>
            </a:r>
          </a:p>
        </p:txBody>
      </p:sp>
      <p:sp>
        <p:nvSpPr>
          <p:cNvPr id="3" name="文本占位符 2"/>
          <p:cNvSpPr>
            <a:spLocks noGrp="1"/>
          </p:cNvSpPr>
          <p:nvPr>
            <p:ph type="body" sz="half" idx="1"/>
          </p:nvPr>
        </p:nvSpPr>
        <p:spPr>
          <a:xfrm>
            <a:off x="1343472" y="1268760"/>
            <a:ext cx="7643192" cy="4979987"/>
          </a:xfrm>
        </p:spPr>
        <p:txBody>
          <a:bodyPr vert="horz" wrap="square" lIns="91440" tIns="45720" rIns="91440" bIns="45720" numCol="1" rtlCol="0" anchor="t" anchorCtr="0" compatLnSpc="1">
            <a:normAutofit fontScale="87500" lnSpcReduction="20000"/>
          </a:bodyPr>
          <a:lstStyle/>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收集工程相关资料</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ct val="20000"/>
              </a:spcBef>
              <a:spcAft>
                <a:spcPts val="0"/>
              </a:spcAft>
              <a:buClr>
                <a:schemeClr val="tx2"/>
              </a:buClr>
              <a:buSzPct val="50000"/>
              <a:buFont typeface="Wingdings 2" panose="05020102010507070707"/>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工程名称、设计单位、委托单位、施工单位</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ct val="20000"/>
              </a:spcBef>
              <a:spcAft>
                <a:spcPts val="0"/>
              </a:spcAft>
              <a:buClr>
                <a:schemeClr val="tx2"/>
              </a:buClr>
              <a:buSzPct val="50000"/>
              <a:buFont typeface="Wingdings 2" panose="05020102010507070707"/>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    构件名称、数量及混凝土类型、强度等级</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ct val="20000"/>
              </a:spcBef>
              <a:spcAft>
                <a:spcPts val="0"/>
              </a:spcAft>
              <a:buClr>
                <a:schemeClr val="tx2"/>
              </a:buClr>
              <a:buSzPct val="50000"/>
              <a:buFont typeface="Wingdings 2" panose="05020102010507070707"/>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    水泥安定性、外加剂、掺合料品种、混凝土配合比</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ct val="20000"/>
              </a:spcBef>
              <a:spcAft>
                <a:spcPts val="0"/>
              </a:spcAft>
              <a:buClr>
                <a:schemeClr val="tx2"/>
              </a:buClr>
              <a:buSzPct val="50000"/>
              <a:buFont typeface="Wingdings 2" panose="05020102010507070707"/>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    施工模板、混凝土浇筑、养护情况及浇筑日期</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ct val="20000"/>
              </a:spcBef>
              <a:spcAft>
                <a:spcPts val="0"/>
              </a:spcAft>
              <a:buClr>
                <a:schemeClr val="tx2"/>
              </a:buClr>
              <a:buSzPct val="50000"/>
              <a:buFont typeface="Wingdings 2" panose="05020102010507070707"/>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必要的设计图纸和施工记录</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ct val="20000"/>
              </a:spcBef>
              <a:spcAft>
                <a:spcPts val="0"/>
              </a:spcAft>
              <a:buClr>
                <a:schemeClr val="tx2"/>
              </a:buClr>
              <a:buSzPct val="50000"/>
              <a:buFont typeface="Wingdings 2" panose="05020102010507070707"/>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cs"/>
              </a:rPr>
              <a:t>检测环境</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ct val="20000"/>
              </a:spcBef>
              <a:spcAft>
                <a:spcPts val="0"/>
              </a:spcAft>
              <a:buClr>
                <a:schemeClr val="tx2"/>
              </a:buClr>
              <a:buSzPct val="50000"/>
              <a:buFont typeface="Wingdings 2" panose="05020102010507070707"/>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检测原因</a:t>
            </a:r>
            <a:endParaRPr kumimoji="0" lang="en-US" altLang="zh-CN" sz="2400" b="0" i="0" u="none" strike="noStrike" kern="1200" cap="none" spc="0" normalizeH="0" baseline="0" noProof="0" dirty="0">
              <a:ln>
                <a:noFill/>
              </a:ln>
              <a:solidFill>
                <a:srgbClr val="FF0000"/>
              </a:solidFill>
              <a:effectLst/>
              <a:uLnTx/>
              <a:uFillTx/>
              <a:latin typeface="+mn-lt"/>
              <a:ea typeface="+mn-ea"/>
              <a:cs typeface="+mn-cs"/>
            </a:endParaRPr>
          </a:p>
          <a:p>
            <a:pPr marL="0" marR="0" lvl="0" indent="0" algn="l" defTabSz="914400" rtl="0" eaLnBrk="1" fontAlgn="auto" latinLnBrk="0" hangingPunct="1">
              <a:lnSpc>
                <a:spcPct val="170000"/>
              </a:lnSpc>
              <a:spcBef>
                <a:spcPct val="20000"/>
              </a:spcBef>
              <a:spcAft>
                <a:spcPts val="0"/>
              </a:spcAft>
              <a:buClr>
                <a:schemeClr val="tx2"/>
              </a:buClr>
              <a:buSzPct val="50000"/>
              <a:buFont typeface="Wingdings 2" panose="05020102010507070707"/>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    以往的检测资料</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文本占位符 2"/>
          <p:cNvSpPr>
            <a:spLocks noGrp="1"/>
          </p:cNvSpPr>
          <p:nvPr>
            <p:ph type="body" sz="half" idx="1"/>
          </p:nvPr>
        </p:nvSpPr>
        <p:spPr>
          <a:xfrm>
            <a:off x="2063751" y="908050"/>
            <a:ext cx="2880121" cy="4609182"/>
          </a:xfrm>
        </p:spPr>
        <p:txBody>
          <a:bodyPr vert="horz" wrap="square" lIns="91440" tIns="45720" rIns="91440" bIns="45720" anchor="t" anchorCtr="0">
            <a:normAutofit/>
          </a:bodyPr>
          <a:lstStyle/>
          <a:p>
            <a:pPr marL="0" indent="0">
              <a:buClr>
                <a:schemeClr val="tx2"/>
              </a:buClr>
              <a:buSzPct val="50000"/>
              <a:buNone/>
            </a:pPr>
            <a:r>
              <a:rPr lang="zh-CN" altLang="en-US" dirty="0"/>
              <a:t>填写委托单</a:t>
            </a:r>
            <a:endParaRPr lang="en-US" altLang="zh-CN" dirty="0"/>
          </a:p>
          <a:p>
            <a:pPr marL="0" indent="0">
              <a:buClr>
                <a:schemeClr val="tx2"/>
              </a:buClr>
              <a:buSzPct val="50000"/>
              <a:buNone/>
            </a:pPr>
            <a:r>
              <a:rPr lang="zh-CN" altLang="en-US" dirty="0"/>
              <a:t>选择方法标准</a:t>
            </a:r>
            <a:endParaRPr lang="en-US" altLang="zh-CN" dirty="0"/>
          </a:p>
          <a:p>
            <a:pPr marL="0" indent="0">
              <a:buClr>
                <a:schemeClr val="tx2"/>
              </a:buClr>
              <a:buSzPct val="50000"/>
              <a:buNone/>
            </a:pPr>
            <a:r>
              <a:rPr lang="zh-CN" altLang="en-US" dirty="0"/>
              <a:t>编制检测方案</a:t>
            </a:r>
            <a:endParaRPr lang="en-US" altLang="zh-CN" dirty="0"/>
          </a:p>
          <a:p>
            <a:pPr marL="0" indent="0">
              <a:buClr>
                <a:schemeClr val="tx2"/>
              </a:buClr>
              <a:buSzPct val="50000"/>
              <a:buNone/>
            </a:pPr>
            <a:r>
              <a:rPr lang="zh-CN" altLang="en-US" dirty="0"/>
              <a:t>作业指导书</a:t>
            </a:r>
            <a:endParaRPr lang="en-US" altLang="zh-CN" dirty="0"/>
          </a:p>
          <a:p>
            <a:pPr marL="0" indent="0" eaLnBrk="1" hangingPunct="1">
              <a:buClr>
                <a:schemeClr val="tx2"/>
              </a:buClr>
              <a:buSzPct val="50000"/>
              <a:buFont typeface="Wingdings 2" panose="05020102010507070707" pitchFamily="18" charset="2"/>
              <a:buNone/>
            </a:pPr>
            <a:r>
              <a:rPr lang="zh-CN" altLang="en-US" dirty="0"/>
              <a:t>原始记录表</a:t>
            </a:r>
          </a:p>
          <a:p>
            <a:pPr marL="0" indent="0" eaLnBrk="1" hangingPunct="1">
              <a:buClr>
                <a:schemeClr val="tx2"/>
              </a:buClr>
              <a:buSzPct val="50000"/>
              <a:buFont typeface="Wingdings 2" panose="05020102010507070707" pitchFamily="18" charset="2"/>
              <a:buNone/>
            </a:pPr>
            <a:r>
              <a:rPr lang="zh-CN" altLang="en-US" dirty="0"/>
              <a:t>设备使用记录</a:t>
            </a:r>
          </a:p>
          <a:p>
            <a:pPr marL="0" indent="0" eaLnBrk="1" hangingPunct="1">
              <a:buClr>
                <a:schemeClr val="tx2"/>
              </a:buClr>
              <a:buSzPct val="50000"/>
              <a:buFont typeface="Wingdings 2" panose="05020102010507070707" pitchFamily="18" charset="2"/>
              <a:buNone/>
            </a:pPr>
            <a:r>
              <a:rPr lang="zh-CN" altLang="en-US" dirty="0">
                <a:sym typeface="+mn-ea"/>
              </a:rPr>
              <a:t>安全交底记录</a:t>
            </a:r>
            <a:endParaRPr lang="zh-CN" altLang="en-US" dirty="0"/>
          </a:p>
        </p:txBody>
      </p:sp>
    </p:spTree>
  </p:cSld>
  <p:clrMapOvr>
    <a:masterClrMapping/>
  </p:clrMapOvr>
  <p:transition spd="slow">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983432" y="476672"/>
            <a:ext cx="9289032" cy="5184576"/>
          </a:xfrm>
        </p:spPr>
        <p:txBody>
          <a:bodyPr vert="horz" wrap="square" lIns="91440" tIns="45720" rIns="91440" bIns="45720" numCol="1" rtlCol="0" anchor="t" anchorCtr="0" compatLnSpc="1">
            <a:normAutofit fontScale="62500" lnSpcReduction="20000"/>
          </a:bodyPr>
          <a:lstStyle/>
          <a:p>
            <a:pPr marL="0" marR="0" lvl="0" indent="0" algn="l" defTabSz="914400" rtl="0" eaLnBrk="1" fontAlgn="auto" latinLnBrk="0" hangingPunct="1">
              <a:lnSpc>
                <a:spcPct val="170000"/>
              </a:lnSpc>
              <a:spcBef>
                <a:spcPts val="0"/>
              </a:spcBef>
              <a:spcAft>
                <a:spcPts val="0"/>
              </a:spcAft>
              <a:buClr>
                <a:schemeClr val="tx2"/>
              </a:buClr>
              <a:buSzPct val="50000"/>
              <a:buFont typeface="Wingdings 2" panose="05020102010507070707"/>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设备检查，填写设备使用记录</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ts val="0"/>
              </a:spcBef>
              <a:spcAft>
                <a:spcPts val="0"/>
              </a:spcAft>
              <a:buClr>
                <a:schemeClr val="tx2"/>
              </a:buClr>
              <a:buSzPct val="50000"/>
              <a:buFont typeface="Wingdings 2" panose="05020102010507070707"/>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回弹仪</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设备精度</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2</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，不是</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2MPa</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，也不是</a:t>
            </a:r>
            <a:r>
              <a:rPr kumimoji="0" lang="en-US" altLang="en-US" sz="3200" b="0" i="0" u="none" strike="noStrike" kern="1200" cap="none" spc="0" normalizeH="0" baseline="0" noProof="0" dirty="0">
                <a:ln>
                  <a:noFill/>
                </a:ln>
                <a:solidFill>
                  <a:schemeClr val="tx1"/>
                </a:solidFill>
                <a:effectLst/>
                <a:uLnTx/>
                <a:uFillTx/>
                <a:latin typeface="+mn-lt"/>
                <a:ea typeface="+mn-ea"/>
                <a:cs typeface="+mn-cs"/>
              </a:rPr>
              <a:t>±2</a:t>
            </a:r>
          </a:p>
          <a:p>
            <a:pPr marL="0" marR="0" lvl="0" indent="0" algn="l" defTabSz="914400" rtl="0" eaLnBrk="1" fontAlgn="auto" latinLnBrk="0" hangingPunct="1">
              <a:lnSpc>
                <a:spcPct val="170000"/>
              </a:lnSpc>
              <a:spcBef>
                <a:spcPts val="0"/>
              </a:spcBef>
              <a:spcAft>
                <a:spcPts val="0"/>
              </a:spcAft>
              <a:buClr>
                <a:schemeClr val="tx2"/>
              </a:buClr>
              <a:buSzPct val="50000"/>
              <a:buFont typeface="Wingdings 2" panose="05020102010507070707"/>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回弹仪的合法性：绿色标签、检定日期、外观质量、活动能力、“</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0</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”点检查</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ts val="0"/>
              </a:spcBef>
              <a:spcAft>
                <a:spcPts val="0"/>
              </a:spcAft>
              <a:buClr>
                <a:schemeClr val="tx2"/>
              </a:buClr>
              <a:buSzPct val="50000"/>
              <a:buFont typeface="Wingdings 2" panose="05020102010507070707"/>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    回弹仪的率定值：</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80±2   </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检测前率定、检测后率定</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ts val="0"/>
              </a:spcBef>
              <a:spcAft>
                <a:spcPts val="0"/>
              </a:spcAft>
              <a:buClr>
                <a:schemeClr val="tx2"/>
              </a:buClr>
              <a:buSzPct val="50000"/>
              <a:buFont typeface="Wingdings 2" panose="05020102010507070707"/>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率定时转动四个角度，各弹三次，取三次平均值</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ts val="0"/>
              </a:spcBef>
              <a:spcAft>
                <a:spcPts val="0"/>
              </a:spcAft>
              <a:buClr>
                <a:schemeClr val="tx2"/>
              </a:buClr>
              <a:buSzPct val="50000"/>
              <a:buFont typeface="Wingdings 2" panose="05020102010507070707"/>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钢砧的标准：洛氏硬度</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HRC</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为</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60±2</a:t>
            </a:r>
          </a:p>
          <a:p>
            <a:pPr marL="0" marR="0" lvl="0" indent="0" algn="l" defTabSz="914400" rtl="0" eaLnBrk="1" fontAlgn="auto" latinLnBrk="0" hangingPunct="1">
              <a:lnSpc>
                <a:spcPct val="170000"/>
              </a:lnSpc>
              <a:spcBef>
                <a:spcPts val="0"/>
              </a:spcBef>
              <a:spcAft>
                <a:spcPts val="0"/>
              </a:spcAft>
              <a:buClr>
                <a:schemeClr val="tx2"/>
              </a:buClr>
              <a:buSzPct val="50000"/>
              <a:buFont typeface="Wingdings 2" panose="05020102010507070707"/>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数显设备：显示器正常显示、电量充足、连接线牢固可靠</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70000"/>
              </a:lnSpc>
              <a:spcBef>
                <a:spcPts val="0"/>
              </a:spcBef>
              <a:spcAft>
                <a:spcPts val="0"/>
              </a:spcAft>
              <a:buClr>
                <a:schemeClr val="tx2"/>
              </a:buClr>
              <a:buSzPct val="50000"/>
              <a:buFont typeface="Wingdings 2" panose="05020102010507070707"/>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                          示值一致性（差值不超过</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）、数据传输正常</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indent="0" algn="l">
              <a:lnSpc>
                <a:spcPct val="170000"/>
              </a:lnSpc>
              <a:spcBef>
                <a:spcPts val="0"/>
              </a:spcBef>
              <a:buClr>
                <a:schemeClr val="tx2"/>
              </a:buClr>
              <a:buSzPct val="50000"/>
              <a:buNone/>
              <a:defRPr/>
            </a:pPr>
            <a:r>
              <a:rPr lang="en-US" altLang="zh-CN" sz="3200" b="0" dirty="0">
                <a:solidFill>
                  <a:schemeClr val="tx1"/>
                </a:solidFill>
                <a:latin typeface="+mn-lt"/>
                <a:ea typeface="+mn-ea"/>
              </a:rPr>
              <a:t>     </a:t>
            </a:r>
            <a:r>
              <a:rPr lang="zh-CN" altLang="en-US" sz="3200" b="0" dirty="0">
                <a:solidFill>
                  <a:schemeClr val="tx1"/>
                </a:solidFill>
                <a:latin typeface="+mn-lt"/>
                <a:ea typeface="+mn-ea"/>
              </a:rPr>
              <a:t>钢卷尺、直尺</a:t>
            </a:r>
            <a:r>
              <a:rPr lang="en-US" altLang="zh-CN" sz="3200" b="0" dirty="0">
                <a:solidFill>
                  <a:schemeClr val="tx1"/>
                </a:solidFill>
                <a:latin typeface="+mn-lt"/>
                <a:ea typeface="+mn-ea"/>
              </a:rPr>
              <a:t>——</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设备精度</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1mm</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，不是</a:t>
            </a:r>
            <a:r>
              <a:rPr kumimoji="0" lang="en-US" altLang="en-US" sz="3200" b="0" i="0" u="none" strike="noStrike" kern="1200" cap="none" spc="0" normalizeH="0" baseline="0" noProof="0" dirty="0">
                <a:ln>
                  <a:noFill/>
                </a:ln>
                <a:solidFill>
                  <a:schemeClr val="tx1"/>
                </a:solidFill>
                <a:effectLst/>
                <a:uLnTx/>
                <a:uFillTx/>
                <a:latin typeface="+mn-lt"/>
                <a:ea typeface="+mn-ea"/>
                <a:cs typeface="+mn-cs"/>
              </a:rPr>
              <a:t>±1</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mm</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，数字式有正负</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indent="0" algn="l">
              <a:lnSpc>
                <a:spcPct val="170000"/>
              </a:lnSpc>
              <a:spcBef>
                <a:spcPts val="0"/>
              </a:spcBef>
              <a:buClr>
                <a:schemeClr val="tx2"/>
              </a:buClr>
              <a:buSzPct val="50000"/>
              <a:buNone/>
              <a:defRPr/>
            </a:pPr>
            <a:r>
              <a:rPr lang="en-US" altLang="zh-CN" sz="3200" b="0" dirty="0">
                <a:solidFill>
                  <a:schemeClr val="tx1"/>
                </a:solidFill>
                <a:latin typeface="+mn-lt"/>
                <a:ea typeface="+mn-ea"/>
              </a:rPr>
              <a:t>     </a:t>
            </a:r>
            <a:r>
              <a:rPr lang="zh-CN" altLang="en-US" sz="3200" b="0" dirty="0">
                <a:solidFill>
                  <a:schemeClr val="tx1"/>
                </a:solidFill>
                <a:latin typeface="+mn-lt"/>
                <a:ea typeface="+mn-ea"/>
              </a:rPr>
              <a:t>碳化深度仪</a:t>
            </a:r>
            <a:r>
              <a:rPr lang="en-US" altLang="zh-CN" sz="3200" b="0" dirty="0">
                <a:solidFill>
                  <a:schemeClr val="tx1"/>
                </a:solidFill>
                <a:latin typeface="+mn-lt"/>
                <a:ea typeface="+mn-ea"/>
              </a:rPr>
              <a:t>——</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设备精度</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0.25mm</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，不是</a:t>
            </a:r>
            <a:r>
              <a:rPr kumimoji="0" lang="en-US" altLang="en-US" sz="3200" b="0" i="0" u="none" strike="noStrike" kern="1200" cap="none" spc="0" normalizeH="0" baseline="0" noProof="0" dirty="0">
                <a:ln>
                  <a:noFill/>
                </a:ln>
                <a:solidFill>
                  <a:schemeClr val="tx1"/>
                </a:solidFill>
                <a:effectLst/>
                <a:uLnTx/>
                <a:uFillTx/>
                <a:latin typeface="+mn-lt"/>
                <a:ea typeface="+mn-ea"/>
                <a:cs typeface="+mn-cs"/>
              </a:rPr>
              <a:t>±0.25</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mm</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，也不是</a:t>
            </a:r>
            <a:r>
              <a:rPr lang="en-US" altLang="zh-CN" sz="3200" b="0" dirty="0">
                <a:solidFill>
                  <a:schemeClr val="tx1"/>
                </a:solidFill>
                <a:latin typeface="+mn-lt"/>
                <a:ea typeface="+mn-ea"/>
              </a:rPr>
              <a:t>0.1mm</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indent="0" algn="l">
              <a:lnSpc>
                <a:spcPct val="170000"/>
              </a:lnSpc>
              <a:spcBef>
                <a:spcPts val="0"/>
              </a:spcBef>
              <a:buClr>
                <a:schemeClr val="tx2"/>
              </a:buClr>
              <a:buSzPct val="50000"/>
              <a:buNone/>
              <a:defRPr/>
            </a:pPr>
            <a:r>
              <a:rPr lang="en-US" altLang="en-US" sz="3200" b="0" dirty="0">
                <a:solidFill>
                  <a:schemeClr val="tx1"/>
                </a:solidFill>
                <a:latin typeface="+mn-lt"/>
                <a:ea typeface="+mn-ea"/>
              </a:rPr>
              <a:t>     </a:t>
            </a:r>
            <a:r>
              <a:rPr lang="zh-CN" altLang="en-US" sz="3200" b="0" dirty="0">
                <a:solidFill>
                  <a:schemeClr val="tx1"/>
                </a:solidFill>
                <a:latin typeface="+mn-lt"/>
                <a:ea typeface="+mn-ea"/>
              </a:rPr>
              <a:t>百分表</a:t>
            </a:r>
            <a:r>
              <a:rPr lang="en-US" altLang="zh-CN" sz="3200" b="0" dirty="0">
                <a:solidFill>
                  <a:schemeClr val="tx1"/>
                </a:solidFill>
                <a:latin typeface="+mn-lt"/>
                <a:ea typeface="+mn-ea"/>
              </a:rPr>
              <a:t>——0.01mm</a:t>
            </a:r>
            <a:r>
              <a:rPr lang="zh-CN" altLang="en-US" sz="3200" b="0" dirty="0">
                <a:solidFill>
                  <a:schemeClr val="tx1"/>
                </a:solidFill>
                <a:latin typeface="+mn-lt"/>
                <a:ea typeface="+mn-ea"/>
              </a:rPr>
              <a:t>（没有正负），千分表</a:t>
            </a:r>
            <a:r>
              <a:rPr lang="en-US" altLang="zh-CN" sz="3200" b="0" dirty="0">
                <a:solidFill>
                  <a:schemeClr val="tx1"/>
                </a:solidFill>
                <a:latin typeface="+mn-lt"/>
                <a:ea typeface="+mn-ea"/>
              </a:rPr>
              <a:t>——0.001mm</a:t>
            </a:r>
            <a:endParaRPr kumimoji="0" lang="en-US" alt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vert="horz" wrap="square" lIns="91440" tIns="45720" rIns="91440" bIns="45720" anchor="ctr" anchorCtr="0"/>
          <a:lstStyle/>
          <a:p>
            <a:pPr algn="l"/>
            <a:r>
              <a:rPr lang="zh-CN" altLang="en-US" dirty="0"/>
              <a:t>关于率定问题</a:t>
            </a:r>
          </a:p>
        </p:txBody>
      </p:sp>
      <p:sp>
        <p:nvSpPr>
          <p:cNvPr id="45059" name="文本占位符 2"/>
          <p:cNvSpPr>
            <a:spLocks noGrp="1"/>
          </p:cNvSpPr>
          <p:nvPr>
            <p:ph type="body" sz="half" idx="1"/>
          </p:nvPr>
        </p:nvSpPr>
        <p:spPr>
          <a:xfrm>
            <a:off x="1981200" y="1600200"/>
            <a:ext cx="4038600" cy="1323975"/>
          </a:xfrm>
        </p:spPr>
        <p:txBody>
          <a:bodyPr vert="horz" wrap="square" lIns="91440" tIns="45720" rIns="91440" bIns="45720" anchor="t" anchorCtr="0"/>
          <a:lstStyle/>
          <a:p>
            <a:pPr marL="0" indent="0">
              <a:buClr>
                <a:schemeClr val="tx2"/>
              </a:buClr>
              <a:buSzPct val="50000"/>
              <a:buFont typeface="Wingdings 2" panose="05020102010507070707" pitchFamily="18" charset="2"/>
              <a:buNone/>
            </a:pPr>
            <a:r>
              <a:rPr lang="zh-CN" altLang="en-US" dirty="0"/>
              <a:t>转动三次，每次</a:t>
            </a:r>
            <a:r>
              <a:rPr lang="en-US" altLang="zh-CN" dirty="0"/>
              <a:t>90</a:t>
            </a:r>
            <a:r>
              <a:rPr lang="zh-CN" altLang="en-US" dirty="0"/>
              <a:t>度</a:t>
            </a:r>
            <a:endParaRPr lang="en-US" altLang="zh-CN" dirty="0"/>
          </a:p>
          <a:p>
            <a:pPr marL="0" indent="0">
              <a:buClr>
                <a:schemeClr val="tx2"/>
              </a:buClr>
              <a:buSzPct val="50000"/>
              <a:buFont typeface="Wingdings 2" panose="05020102010507070707" pitchFamily="18" charset="2"/>
              <a:buNone/>
            </a:pPr>
            <a:r>
              <a:rPr lang="zh-CN" altLang="en-US" dirty="0"/>
              <a:t>弹击杆每次转动</a:t>
            </a:r>
            <a:r>
              <a:rPr lang="en-US" altLang="zh-CN" dirty="0"/>
              <a:t>90</a:t>
            </a:r>
            <a:r>
              <a:rPr lang="zh-CN" altLang="en-US" dirty="0"/>
              <a:t>度</a:t>
            </a:r>
            <a:endParaRPr lang="en-US" altLang="zh-CN" dirty="0"/>
          </a:p>
          <a:p>
            <a:pPr marL="0" indent="0">
              <a:buClr>
                <a:schemeClr val="tx2"/>
              </a:buClr>
              <a:buSzPct val="50000"/>
              <a:buFont typeface="Wingdings 2" panose="05020102010507070707" pitchFamily="18" charset="2"/>
              <a:buNone/>
            </a:pPr>
            <a:endParaRPr lang="en-US" altLang="zh-CN" dirty="0"/>
          </a:p>
          <a:p>
            <a:pPr marL="0" indent="0">
              <a:buClr>
                <a:schemeClr val="tx2"/>
              </a:buClr>
              <a:buSzPct val="50000"/>
              <a:buFont typeface="Wingdings 2" panose="05020102010507070707" pitchFamily="18" charset="2"/>
              <a:buNone/>
            </a:pPr>
            <a:endParaRPr lang="zh-CN" altLang="en-US" dirty="0"/>
          </a:p>
        </p:txBody>
      </p:sp>
      <p:pic>
        <p:nvPicPr>
          <p:cNvPr id="45060" name="Picture 2"/>
          <p:cNvPicPr>
            <a:picLocks noChangeAspect="1"/>
          </p:cNvPicPr>
          <p:nvPr/>
        </p:nvPicPr>
        <p:blipFill>
          <a:blip r:embed="rId2"/>
          <a:stretch>
            <a:fillRect/>
          </a:stretch>
        </p:blipFill>
        <p:spPr>
          <a:xfrm>
            <a:off x="6500813" y="274638"/>
            <a:ext cx="4165600" cy="6669087"/>
          </a:xfrm>
          <a:prstGeom prst="rect">
            <a:avLst/>
          </a:prstGeom>
          <a:noFill/>
          <a:ln w="9525">
            <a:noFill/>
          </a:ln>
        </p:spPr>
      </p:pic>
      <p:pic>
        <p:nvPicPr>
          <p:cNvPr id="45061" name="Picture 3"/>
          <p:cNvPicPr>
            <a:picLocks noChangeAspect="1"/>
          </p:cNvPicPr>
          <p:nvPr/>
        </p:nvPicPr>
        <p:blipFill>
          <a:blip r:embed="rId3"/>
          <a:stretch>
            <a:fillRect/>
          </a:stretch>
        </p:blipFill>
        <p:spPr>
          <a:xfrm>
            <a:off x="1919288" y="3068638"/>
            <a:ext cx="4284662" cy="723900"/>
          </a:xfrm>
          <a:prstGeom prst="rect">
            <a:avLst/>
          </a:prstGeom>
          <a:noFill/>
          <a:ln w="9525">
            <a:noFill/>
          </a:ln>
        </p:spPr>
      </p:pic>
      <p:sp>
        <p:nvSpPr>
          <p:cNvPr id="5" name="上箭头 4"/>
          <p:cNvSpPr/>
          <p:nvPr/>
        </p:nvSpPr>
        <p:spPr>
          <a:xfrm>
            <a:off x="2279650" y="3792538"/>
            <a:ext cx="431800" cy="788988"/>
          </a:xfrm>
          <a:prstGeom prs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文本占位符 2"/>
          <p:cNvSpPr>
            <a:spLocks noGrp="1"/>
          </p:cNvSpPr>
          <p:nvPr>
            <p:ph type="body" sz="half" idx="1"/>
          </p:nvPr>
        </p:nvSpPr>
        <p:spPr>
          <a:xfrm>
            <a:off x="927100" y="908050"/>
            <a:ext cx="10886440" cy="5523230"/>
          </a:xfrm>
        </p:spPr>
        <p:txBody>
          <a:bodyPr vert="horz" wrap="square" lIns="91440" tIns="45720" rIns="91440" bIns="45720" anchor="t" anchorCtr="0">
            <a:normAutofit/>
          </a:bodyPr>
          <a:lstStyle/>
          <a:p>
            <a:pPr marL="0" indent="0" eaLnBrk="1" hangingPunct="1">
              <a:buClr>
                <a:schemeClr val="tx2"/>
              </a:buClr>
              <a:buSzPct val="50000"/>
              <a:buFont typeface="Wingdings 2" panose="05020102010507070707" pitchFamily="18" charset="2"/>
              <a:buNone/>
            </a:pPr>
            <a:r>
              <a:rPr lang="en-US" altLang="zh-CN" dirty="0"/>
              <a:t>6.</a:t>
            </a:r>
            <a:r>
              <a:rPr lang="zh-CN" altLang="en-US" dirty="0"/>
              <a:t>视频录制要求</a:t>
            </a:r>
            <a:endParaRPr lang="en-US" altLang="zh-CN" dirty="0"/>
          </a:p>
          <a:p>
            <a:pPr marL="0" indent="0" eaLnBrk="1" hangingPunct="1">
              <a:buClr>
                <a:schemeClr val="tx2"/>
              </a:buClr>
              <a:buSzPct val="50000"/>
              <a:buFont typeface="Wingdings 2" panose="05020102010507070707" pitchFamily="18" charset="2"/>
              <a:buNone/>
            </a:pPr>
            <a:r>
              <a:rPr lang="zh-CN" altLang="en-US" dirty="0"/>
              <a:t>《建设工程质量检测管理办法》（住建部令第</a:t>
            </a:r>
            <a:r>
              <a:rPr lang="en-US" altLang="zh-CN" dirty="0"/>
              <a:t>57</a:t>
            </a:r>
            <a:r>
              <a:rPr lang="zh-CN" altLang="en-US" dirty="0"/>
              <a:t>号）</a:t>
            </a:r>
          </a:p>
          <a:p>
            <a:pPr marL="0" indent="0" eaLnBrk="1" hangingPunct="1">
              <a:buClr>
                <a:schemeClr val="tx2"/>
              </a:buClr>
              <a:buSzPct val="50000"/>
              <a:buFont typeface="Wingdings 2" panose="05020102010507070707" pitchFamily="18" charset="2"/>
              <a:buNone/>
            </a:pPr>
            <a:r>
              <a:rPr lang="zh-CN" altLang="en-US" dirty="0"/>
              <a:t>《关于组织开展</a:t>
            </a:r>
            <a:r>
              <a:rPr lang="en-US" altLang="zh-CN" dirty="0"/>
              <a:t>2023</a:t>
            </a:r>
            <a:r>
              <a:rPr lang="zh-CN" altLang="en-US" dirty="0"/>
              <a:t>年北京市建设工程质量检测机构监督检查通知》（京建函【</a:t>
            </a:r>
            <a:r>
              <a:rPr lang="en-US" altLang="zh-CN" dirty="0"/>
              <a:t>2023</a:t>
            </a:r>
            <a:r>
              <a:rPr lang="zh-CN" altLang="en-US" dirty="0"/>
              <a:t>】</a:t>
            </a:r>
            <a:r>
              <a:rPr lang="en-US" altLang="zh-CN" dirty="0"/>
              <a:t>33</a:t>
            </a:r>
            <a:r>
              <a:rPr lang="zh-CN" altLang="en-US" dirty="0"/>
              <a:t>号）</a:t>
            </a:r>
          </a:p>
          <a:p>
            <a:pPr marL="0" indent="0" eaLnBrk="1" hangingPunct="1">
              <a:buClr>
                <a:schemeClr val="tx2"/>
              </a:buClr>
              <a:buSzPct val="50000"/>
              <a:buFont typeface="Wingdings 2" panose="05020102010507070707" pitchFamily="18" charset="2"/>
              <a:buNone/>
            </a:pPr>
            <a:r>
              <a:rPr lang="zh-CN" altLang="en-US" dirty="0"/>
              <a:t>《关于进一步加强工程质量检测机构管理的通知》（京建发【</a:t>
            </a:r>
            <a:r>
              <a:rPr lang="en-US" altLang="zh-CN" dirty="0"/>
              <a:t>2023</a:t>
            </a:r>
            <a:r>
              <a:rPr lang="zh-CN" altLang="en-US" dirty="0"/>
              <a:t>】</a:t>
            </a:r>
            <a:r>
              <a:rPr lang="en-US" altLang="zh-CN" dirty="0"/>
              <a:t>24</a:t>
            </a:r>
            <a:r>
              <a:rPr lang="zh-CN" altLang="en-US" dirty="0"/>
              <a:t>号）</a:t>
            </a:r>
          </a:p>
          <a:p>
            <a:pPr marL="0" indent="0" eaLnBrk="1" hangingPunct="1">
              <a:buClr>
                <a:schemeClr val="tx2"/>
              </a:buClr>
              <a:buSzPct val="50000"/>
              <a:buFont typeface="Wingdings 2" panose="05020102010507070707" pitchFamily="18" charset="2"/>
              <a:buNone/>
            </a:pPr>
            <a:endParaRPr lang="zh-CN" altLang="en-US" dirty="0"/>
          </a:p>
        </p:txBody>
      </p:sp>
    </p:spTree>
  </p:cSld>
  <p:clrMapOvr>
    <a:masterClrMapping/>
  </p:clrMapOvr>
  <p:transition spd="slow">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609600" y="548640"/>
            <a:ext cx="10205720" cy="5802630"/>
          </a:xfrm>
        </p:spPr>
        <p:txBody>
          <a:bodyPr>
            <a:normAutofit lnSpcReduction="10000"/>
          </a:bodyPr>
          <a:lstStyle/>
          <a:p>
            <a:pPr marL="0" indent="0" fontAlgn="auto">
              <a:lnSpc>
                <a:spcPct val="100000"/>
              </a:lnSpc>
              <a:spcBef>
                <a:spcPts val="0"/>
              </a:spcBef>
              <a:buNone/>
            </a:pPr>
            <a:r>
              <a:rPr lang="zh-CN" altLang="en-US" dirty="0"/>
              <a:t>应在以下检测项目场所配置视频监控设备</a:t>
            </a:r>
          </a:p>
          <a:p>
            <a:pPr marL="0" indent="0" fontAlgn="auto">
              <a:lnSpc>
                <a:spcPct val="100000"/>
              </a:lnSpc>
              <a:spcBef>
                <a:spcPts val="0"/>
              </a:spcBef>
              <a:buNone/>
            </a:pPr>
            <a:endParaRPr lang="zh-CN" altLang="en-US" dirty="0"/>
          </a:p>
          <a:p>
            <a:pPr marL="0" indent="0" fontAlgn="auto">
              <a:lnSpc>
                <a:spcPct val="100000"/>
              </a:lnSpc>
              <a:spcBef>
                <a:spcPts val="0"/>
              </a:spcBef>
              <a:buNone/>
            </a:pPr>
            <a:r>
              <a:rPr lang="zh-CN" altLang="en-US" dirty="0"/>
              <a:t>现场类：</a:t>
            </a:r>
            <a:endParaRPr lang="en-US" altLang="zh-CN" dirty="0"/>
          </a:p>
          <a:p>
            <a:pPr marL="0" indent="1046480" fontAlgn="auto">
              <a:lnSpc>
                <a:spcPct val="100000"/>
              </a:lnSpc>
              <a:spcBef>
                <a:spcPts val="0"/>
              </a:spcBef>
              <a:buNone/>
            </a:pPr>
            <a:r>
              <a:rPr lang="zh-CN" altLang="en-US" dirty="0">
                <a:sym typeface="+mn-ea"/>
              </a:rPr>
              <a:t>回弹法检测混凝土抗压强度</a:t>
            </a:r>
            <a:endParaRPr lang="zh-CN" altLang="en-US" dirty="0"/>
          </a:p>
          <a:p>
            <a:pPr marL="0" indent="0" fontAlgn="auto">
              <a:lnSpc>
                <a:spcPct val="100000"/>
              </a:lnSpc>
              <a:spcBef>
                <a:spcPts val="0"/>
              </a:spcBef>
              <a:buNone/>
            </a:pPr>
            <a:endParaRPr lang="en-US" altLang="zh-CN" dirty="0"/>
          </a:p>
          <a:p>
            <a:pPr marL="0" indent="0" fontAlgn="auto">
              <a:lnSpc>
                <a:spcPct val="100000"/>
              </a:lnSpc>
              <a:spcBef>
                <a:spcPts val="0"/>
              </a:spcBef>
              <a:buNone/>
            </a:pPr>
            <a:r>
              <a:rPr lang="zh-CN" altLang="en-US" dirty="0"/>
              <a:t>试验类：</a:t>
            </a:r>
            <a:endParaRPr lang="en-US" altLang="zh-CN" dirty="0"/>
          </a:p>
          <a:p>
            <a:pPr marL="1069340" indent="-11430" fontAlgn="auto">
              <a:lnSpc>
                <a:spcPct val="100000"/>
              </a:lnSpc>
              <a:spcBef>
                <a:spcPts val="0"/>
              </a:spcBef>
              <a:buNone/>
            </a:pPr>
            <a:r>
              <a:rPr lang="en-US" altLang="zh-CN" dirty="0"/>
              <a:t>1.</a:t>
            </a:r>
            <a:r>
              <a:rPr lang="zh-CN" altLang="en-US" dirty="0"/>
              <a:t>混凝土抗压强度；</a:t>
            </a:r>
          </a:p>
          <a:p>
            <a:pPr marL="1069340" indent="-11430" fontAlgn="auto">
              <a:lnSpc>
                <a:spcPct val="100000"/>
              </a:lnSpc>
              <a:spcBef>
                <a:spcPts val="0"/>
              </a:spcBef>
              <a:buNone/>
            </a:pPr>
            <a:r>
              <a:rPr lang="en-US" altLang="zh-CN" dirty="0"/>
              <a:t>2.</a:t>
            </a:r>
            <a:r>
              <a:rPr lang="zh-CN" altLang="en-US" dirty="0"/>
              <a:t>钢筋、钢筋接头拉伸性能；</a:t>
            </a:r>
          </a:p>
          <a:p>
            <a:pPr marL="1069340" indent="-11430" fontAlgn="auto">
              <a:lnSpc>
                <a:spcPct val="100000"/>
              </a:lnSpc>
              <a:spcBef>
                <a:spcPts val="0"/>
              </a:spcBef>
              <a:buNone/>
            </a:pPr>
            <a:r>
              <a:rPr lang="en-US" altLang="zh-CN" dirty="0"/>
              <a:t>3.</a:t>
            </a:r>
            <a:r>
              <a:rPr lang="zh-CN" altLang="en-US" dirty="0"/>
              <a:t>水泥胶砂强度；</a:t>
            </a:r>
          </a:p>
          <a:p>
            <a:pPr marL="1069340" indent="-11430" fontAlgn="auto">
              <a:lnSpc>
                <a:spcPct val="100000"/>
              </a:lnSpc>
              <a:spcBef>
                <a:spcPts val="0"/>
              </a:spcBef>
              <a:buNone/>
            </a:pPr>
            <a:r>
              <a:rPr lang="en-US" altLang="zh-CN" dirty="0"/>
              <a:t>4.</a:t>
            </a:r>
            <a:r>
              <a:rPr lang="zh-CN" altLang="en-US" dirty="0"/>
              <a:t>混凝土抗渗试验；</a:t>
            </a:r>
          </a:p>
          <a:p>
            <a:pPr marL="1069340" indent="-11430" fontAlgn="auto">
              <a:lnSpc>
                <a:spcPct val="100000"/>
              </a:lnSpc>
              <a:spcBef>
                <a:spcPts val="0"/>
              </a:spcBef>
              <a:buNone/>
            </a:pPr>
            <a:r>
              <a:rPr lang="en-US" altLang="zh-CN" dirty="0"/>
              <a:t>5.</a:t>
            </a:r>
            <a:r>
              <a:rPr lang="zh-CN" altLang="en-US" dirty="0"/>
              <a:t>保温材料的导热系数、燃烧性能（包括单体燃烧、燃烧热值、不燃性、可燃性、氧指数）；</a:t>
            </a:r>
          </a:p>
          <a:p>
            <a:pPr marL="1069340" indent="-11430" fontAlgn="auto">
              <a:lnSpc>
                <a:spcPct val="100000"/>
              </a:lnSpc>
              <a:spcBef>
                <a:spcPts val="0"/>
              </a:spcBef>
              <a:buNone/>
            </a:pPr>
            <a:r>
              <a:rPr lang="en-US" altLang="zh-CN" dirty="0"/>
              <a:t>6.</a:t>
            </a:r>
            <a:r>
              <a:rPr lang="zh-CN" altLang="en-US" dirty="0"/>
              <a:t>防水卷材的可溶物含量；</a:t>
            </a:r>
          </a:p>
          <a:p>
            <a:pPr marL="1069340" indent="-11430" fontAlgn="auto">
              <a:lnSpc>
                <a:spcPct val="100000"/>
              </a:lnSpc>
              <a:spcBef>
                <a:spcPts val="0"/>
              </a:spcBef>
              <a:buNone/>
            </a:pPr>
            <a:r>
              <a:rPr lang="en-US" altLang="zh-CN" dirty="0"/>
              <a:t>7.</a:t>
            </a:r>
            <a:r>
              <a:rPr lang="zh-CN" altLang="en-US" dirty="0"/>
              <a:t>门窗的气密性能、水密性能、抗风压性能、保温性能；</a:t>
            </a:r>
          </a:p>
          <a:p>
            <a:pPr marL="1069340" indent="-11430" fontAlgn="auto">
              <a:lnSpc>
                <a:spcPct val="100000"/>
              </a:lnSpc>
              <a:spcBef>
                <a:spcPts val="0"/>
              </a:spcBef>
              <a:buNone/>
            </a:pPr>
            <a:r>
              <a:rPr lang="en-US" altLang="zh-CN" dirty="0"/>
              <a:t>8.</a:t>
            </a:r>
            <a:r>
              <a:rPr lang="zh-CN" altLang="en-US" dirty="0"/>
              <a:t>玻璃幕墙的气密性能、水密性能、抗风压性能、平面变形性能；</a:t>
            </a:r>
          </a:p>
          <a:p>
            <a:pPr marL="1069340" indent="-11430" fontAlgn="auto">
              <a:lnSpc>
                <a:spcPct val="100000"/>
              </a:lnSpc>
              <a:spcBef>
                <a:spcPts val="0"/>
              </a:spcBef>
              <a:buNone/>
            </a:pPr>
            <a:r>
              <a:rPr lang="en-US" altLang="zh-CN" dirty="0"/>
              <a:t>9.</a:t>
            </a:r>
            <a:r>
              <a:rPr lang="zh-CN" altLang="en-US" dirty="0"/>
              <a:t>简易土工试验；</a:t>
            </a:r>
          </a:p>
          <a:p>
            <a:pPr marL="1069340" indent="-11430" fontAlgn="auto">
              <a:lnSpc>
                <a:spcPct val="100000"/>
              </a:lnSpc>
              <a:spcBef>
                <a:spcPts val="0"/>
              </a:spcBef>
              <a:buNone/>
            </a:pPr>
            <a:r>
              <a:rPr lang="en-US" altLang="zh-CN" dirty="0"/>
              <a:t>10.</a:t>
            </a:r>
            <a:r>
              <a:rPr lang="zh-CN" altLang="en-US" dirty="0"/>
              <a:t>砂石常规检验；</a:t>
            </a:r>
          </a:p>
        </p:txBody>
      </p:sp>
    </p:spTree>
  </p:cSld>
  <p:clrMapOvr>
    <a:masterClrMapping/>
  </p:clrMapOvr>
  <p:transition spd="slow">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609600" y="548640"/>
            <a:ext cx="10205720" cy="5802630"/>
          </a:xfrm>
        </p:spPr>
        <p:txBody>
          <a:bodyPr>
            <a:normAutofit lnSpcReduction="10000"/>
          </a:bodyPr>
          <a:lstStyle/>
          <a:p>
            <a:pPr marL="0" indent="0" fontAlgn="auto">
              <a:lnSpc>
                <a:spcPct val="100000"/>
              </a:lnSpc>
              <a:spcBef>
                <a:spcPts val="0"/>
              </a:spcBef>
              <a:buNone/>
            </a:pPr>
            <a:r>
              <a:rPr lang="zh-CN" altLang="en-US" dirty="0"/>
              <a:t>应对以下检测项目采用录屏或摄像的方式记录检测数据的采集过程</a:t>
            </a:r>
          </a:p>
          <a:p>
            <a:pPr marL="0" indent="0" fontAlgn="auto">
              <a:lnSpc>
                <a:spcPct val="100000"/>
              </a:lnSpc>
              <a:spcBef>
                <a:spcPts val="0"/>
              </a:spcBef>
              <a:buNone/>
            </a:pPr>
            <a:endParaRPr lang="zh-CN" altLang="en-US" dirty="0"/>
          </a:p>
          <a:p>
            <a:pPr marL="0" indent="0" fontAlgn="auto">
              <a:lnSpc>
                <a:spcPct val="100000"/>
              </a:lnSpc>
              <a:spcBef>
                <a:spcPts val="0"/>
              </a:spcBef>
              <a:buNone/>
            </a:pPr>
            <a:r>
              <a:rPr lang="zh-CN" altLang="en-US" dirty="0"/>
              <a:t>现场类：</a:t>
            </a:r>
            <a:endParaRPr lang="en-US" altLang="zh-CN" dirty="0"/>
          </a:p>
          <a:p>
            <a:pPr marL="0" indent="1046480" fontAlgn="auto">
              <a:lnSpc>
                <a:spcPct val="100000"/>
              </a:lnSpc>
              <a:spcBef>
                <a:spcPts val="0"/>
              </a:spcBef>
              <a:buNone/>
            </a:pPr>
            <a:r>
              <a:rPr lang="zh-CN" altLang="en-US" dirty="0">
                <a:sym typeface="+mn-ea"/>
              </a:rPr>
              <a:t>回弹法检测混凝土抗压强度。</a:t>
            </a:r>
            <a:endParaRPr lang="zh-CN" altLang="en-US" dirty="0"/>
          </a:p>
          <a:p>
            <a:pPr marL="0" indent="0" fontAlgn="auto">
              <a:lnSpc>
                <a:spcPct val="100000"/>
              </a:lnSpc>
              <a:spcBef>
                <a:spcPts val="0"/>
              </a:spcBef>
              <a:buNone/>
            </a:pPr>
            <a:endParaRPr lang="en-US" altLang="zh-CN" dirty="0"/>
          </a:p>
          <a:p>
            <a:pPr marL="0" indent="0" fontAlgn="auto">
              <a:lnSpc>
                <a:spcPct val="150000"/>
              </a:lnSpc>
              <a:spcBef>
                <a:spcPts val="0"/>
              </a:spcBef>
              <a:buNone/>
            </a:pPr>
            <a:r>
              <a:rPr lang="zh-CN" altLang="en-US" dirty="0"/>
              <a:t>试验类：</a:t>
            </a:r>
            <a:endParaRPr lang="en-US" altLang="zh-CN" dirty="0"/>
          </a:p>
          <a:p>
            <a:pPr marL="1069340" indent="-11430" fontAlgn="auto">
              <a:lnSpc>
                <a:spcPct val="150000"/>
              </a:lnSpc>
              <a:spcBef>
                <a:spcPts val="0"/>
              </a:spcBef>
              <a:buNone/>
            </a:pPr>
            <a:r>
              <a:rPr lang="en-US" altLang="zh-CN" dirty="0"/>
              <a:t>1.</a:t>
            </a:r>
            <a:r>
              <a:rPr lang="zh-CN" altLang="en-US" dirty="0"/>
              <a:t>混凝土抗压强度；</a:t>
            </a:r>
          </a:p>
          <a:p>
            <a:pPr marL="1069340" indent="-11430" fontAlgn="auto">
              <a:lnSpc>
                <a:spcPct val="150000"/>
              </a:lnSpc>
              <a:spcBef>
                <a:spcPts val="0"/>
              </a:spcBef>
              <a:buNone/>
            </a:pPr>
            <a:r>
              <a:rPr lang="en-US" altLang="zh-CN" dirty="0"/>
              <a:t>2.</a:t>
            </a:r>
            <a:r>
              <a:rPr lang="zh-CN" altLang="en-US" dirty="0"/>
              <a:t>钢筋、钢筋接头拉伸性能；</a:t>
            </a:r>
          </a:p>
          <a:p>
            <a:pPr marL="1069340" indent="-11430" fontAlgn="auto">
              <a:lnSpc>
                <a:spcPct val="150000"/>
              </a:lnSpc>
              <a:spcBef>
                <a:spcPts val="0"/>
              </a:spcBef>
              <a:buNone/>
            </a:pPr>
            <a:r>
              <a:rPr lang="en-US" altLang="zh-CN" dirty="0"/>
              <a:t>3.</a:t>
            </a:r>
            <a:r>
              <a:rPr lang="zh-CN" altLang="en-US" dirty="0"/>
              <a:t>水泥胶砂强度；</a:t>
            </a:r>
          </a:p>
          <a:p>
            <a:pPr marL="1069340" indent="-11430" fontAlgn="auto">
              <a:lnSpc>
                <a:spcPct val="150000"/>
              </a:lnSpc>
              <a:spcBef>
                <a:spcPts val="0"/>
              </a:spcBef>
              <a:buNone/>
            </a:pPr>
            <a:r>
              <a:rPr lang="en-US" altLang="zh-CN" dirty="0"/>
              <a:t>4.</a:t>
            </a:r>
            <a:r>
              <a:rPr lang="zh-CN" altLang="en-US" dirty="0"/>
              <a:t>防水材料拉伸性能；</a:t>
            </a:r>
          </a:p>
          <a:p>
            <a:pPr marL="1069340" indent="-11430" fontAlgn="auto">
              <a:lnSpc>
                <a:spcPct val="150000"/>
              </a:lnSpc>
              <a:spcBef>
                <a:spcPts val="0"/>
              </a:spcBef>
              <a:buNone/>
            </a:pPr>
            <a:r>
              <a:rPr lang="en-US" altLang="zh-CN" dirty="0"/>
              <a:t>5.</a:t>
            </a:r>
            <a:r>
              <a:rPr lang="zh-CN" altLang="en-US" dirty="0"/>
              <a:t>保温材料的导热系数、单体燃烧、燃烧热值、不燃性；</a:t>
            </a:r>
          </a:p>
          <a:p>
            <a:pPr marL="1069340" indent="-11430" fontAlgn="auto">
              <a:lnSpc>
                <a:spcPct val="150000"/>
              </a:lnSpc>
              <a:spcBef>
                <a:spcPts val="0"/>
              </a:spcBef>
              <a:buNone/>
            </a:pPr>
            <a:r>
              <a:rPr lang="en-US" altLang="zh-CN" dirty="0"/>
              <a:t>6.</a:t>
            </a:r>
            <a:r>
              <a:rPr lang="zh-CN" altLang="en-US" dirty="0"/>
              <a:t>门窗的气密性能、水密性能、抗风压性能、保温性能；</a:t>
            </a:r>
          </a:p>
          <a:p>
            <a:pPr marL="1069340" indent="-11430" fontAlgn="auto">
              <a:lnSpc>
                <a:spcPct val="150000"/>
              </a:lnSpc>
              <a:spcBef>
                <a:spcPts val="0"/>
              </a:spcBef>
              <a:buNone/>
            </a:pPr>
            <a:r>
              <a:rPr lang="en-US" altLang="zh-CN" dirty="0"/>
              <a:t>7.</a:t>
            </a:r>
            <a:r>
              <a:rPr lang="zh-CN" altLang="en-US" dirty="0"/>
              <a:t>玻璃幕墙的气密性能、水密性能、抗风压性能、平面变形性能；</a:t>
            </a:r>
          </a:p>
        </p:txBody>
      </p:sp>
    </p:spTree>
  </p:cSld>
  <p:clrMapOvr>
    <a:masterClrMapping/>
  </p:clrMapOvr>
  <p:transition spd="slow">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文本占位符 2"/>
          <p:cNvSpPr>
            <a:spLocks noGrp="1"/>
          </p:cNvSpPr>
          <p:nvPr>
            <p:ph type="body" sz="half" idx="1"/>
          </p:nvPr>
        </p:nvSpPr>
        <p:spPr>
          <a:xfrm>
            <a:off x="1343472" y="836712"/>
            <a:ext cx="9865096" cy="4752528"/>
          </a:xfrm>
        </p:spPr>
        <p:txBody>
          <a:bodyPr vert="horz" wrap="square" lIns="91440" tIns="45720" rIns="91440" bIns="45720" anchor="t" anchorCtr="0">
            <a:normAutofit/>
          </a:bodyPr>
          <a:lstStyle/>
          <a:p>
            <a:pPr marL="0" indent="0" eaLnBrk="1" hangingPunct="1">
              <a:buClr>
                <a:schemeClr val="tx2"/>
              </a:buClr>
              <a:buSzPct val="50000"/>
              <a:buFont typeface="Wingdings 2" panose="05020102010507070707" pitchFamily="18" charset="2"/>
              <a:buNone/>
            </a:pPr>
            <a:r>
              <a:rPr lang="en-US" altLang="zh-CN" sz="2400" dirty="0"/>
              <a:t>7. </a:t>
            </a:r>
            <a:r>
              <a:rPr lang="zh-CN" altLang="en-US" sz="2400" dirty="0"/>
              <a:t>碳化深度测试</a:t>
            </a:r>
            <a:endParaRPr lang="en-US" altLang="zh-CN" sz="2400" dirty="0"/>
          </a:p>
          <a:p>
            <a:pPr marL="0" indent="0" eaLnBrk="1" hangingPunct="1">
              <a:lnSpc>
                <a:spcPct val="150000"/>
              </a:lnSpc>
              <a:buClr>
                <a:schemeClr val="tx2"/>
              </a:buClr>
              <a:buSzPct val="50000"/>
              <a:buFont typeface="Wingdings 2" panose="05020102010507070707" pitchFamily="18" charset="2"/>
              <a:buNone/>
            </a:pPr>
            <a:r>
              <a:rPr lang="zh-CN" altLang="en-US" sz="2400" dirty="0"/>
              <a:t>　数量：</a:t>
            </a:r>
            <a:r>
              <a:rPr lang="en-US" altLang="zh-CN" sz="2400" dirty="0"/>
              <a:t>30%</a:t>
            </a:r>
            <a:r>
              <a:rPr lang="zh-CN" altLang="en-US" sz="2400" dirty="0"/>
              <a:t>测区数；碳化极差大于</a:t>
            </a:r>
            <a:r>
              <a:rPr lang="en-US" altLang="zh-CN" sz="2400" dirty="0"/>
              <a:t>2mm</a:t>
            </a:r>
            <a:r>
              <a:rPr lang="zh-CN" altLang="en-US" sz="2400" dirty="0"/>
              <a:t>时，全部测区都要测碳化。</a:t>
            </a:r>
            <a:endParaRPr lang="en-US" altLang="zh-CN" sz="2400" dirty="0"/>
          </a:p>
          <a:p>
            <a:pPr marL="0" indent="0" eaLnBrk="1" hangingPunct="1">
              <a:lnSpc>
                <a:spcPct val="150000"/>
              </a:lnSpc>
              <a:buClr>
                <a:schemeClr val="tx2"/>
              </a:buClr>
              <a:buSzPct val="50000"/>
              <a:buFont typeface="Wingdings 2" panose="05020102010507070707" pitchFamily="18" charset="2"/>
              <a:buNone/>
            </a:pPr>
            <a:r>
              <a:rPr lang="zh-CN" altLang="en-US" sz="2400" dirty="0"/>
              <a:t>　方法：用钢钎在测区表面形成直径约</a:t>
            </a:r>
            <a:r>
              <a:rPr lang="en-US" altLang="zh-CN" sz="2400" dirty="0"/>
              <a:t>15mm</a:t>
            </a:r>
            <a:r>
              <a:rPr lang="zh-CN" altLang="en-US" sz="2400" dirty="0"/>
              <a:t>孔洞，深度约</a:t>
            </a:r>
            <a:r>
              <a:rPr lang="en-US" altLang="zh-CN" sz="2400" dirty="0"/>
              <a:t>10mm</a:t>
            </a:r>
            <a:r>
              <a:rPr lang="zh-CN" altLang="en-US" sz="2400" dirty="0"/>
              <a:t>或大于碳化深度，用皮老虎吹干净碎屑，在孔洞内壁的上边缘滴上浓度为</a:t>
            </a:r>
            <a:r>
              <a:rPr lang="en-US" altLang="zh-CN" sz="2400" dirty="0"/>
              <a:t>1</a:t>
            </a:r>
            <a:r>
              <a:rPr lang="zh-CN" altLang="en-US" sz="2400" dirty="0">
                <a:latin typeface="宋体" panose="02010600030101010101" pitchFamily="2" charset="-122"/>
                <a:ea typeface="宋体" panose="02010600030101010101" pitchFamily="2" charset="-122"/>
              </a:rPr>
              <a:t>～</a:t>
            </a:r>
            <a:r>
              <a:rPr lang="en-US" altLang="zh-CN" sz="2400" dirty="0"/>
              <a:t>2%</a:t>
            </a:r>
            <a:r>
              <a:rPr lang="zh-CN" altLang="en-US" sz="2400" dirty="0"/>
              <a:t>酚酞酒精溶液。</a:t>
            </a:r>
            <a:endParaRPr lang="en-US" altLang="zh-CN" sz="2400" dirty="0"/>
          </a:p>
          <a:p>
            <a:pPr marL="0" indent="0" eaLnBrk="1" hangingPunct="1">
              <a:lnSpc>
                <a:spcPct val="150000"/>
              </a:lnSpc>
              <a:buClr>
                <a:schemeClr val="tx2"/>
              </a:buClr>
              <a:buSzPct val="50000"/>
              <a:buFont typeface="Wingdings 2" panose="05020102010507070707" pitchFamily="18" charset="2"/>
              <a:buNone/>
            </a:pPr>
            <a:r>
              <a:rPr lang="en-US" altLang="zh-CN" sz="2400" dirty="0"/>
              <a:t>   </a:t>
            </a:r>
            <a:r>
              <a:rPr lang="zh-CN" altLang="en-US" sz="2400" dirty="0"/>
              <a:t>测试：界限清楚后每个测区测</a:t>
            </a:r>
            <a:r>
              <a:rPr lang="en-US" altLang="zh-CN" sz="2400" dirty="0"/>
              <a:t>3</a:t>
            </a:r>
            <a:r>
              <a:rPr lang="zh-CN" altLang="en-US" sz="2400" dirty="0"/>
              <a:t>次并记录，精确到</a:t>
            </a:r>
            <a:r>
              <a:rPr lang="en-US" altLang="zh-CN" sz="2400" dirty="0"/>
              <a:t>0.25mm</a:t>
            </a:r>
            <a:r>
              <a:rPr lang="zh-CN" altLang="en-US" sz="2400" dirty="0"/>
              <a:t>，取三次平均值作为该测区碳化深度，精确到</a:t>
            </a:r>
            <a:r>
              <a:rPr lang="en-US" altLang="zh-CN" sz="2400" dirty="0"/>
              <a:t>0.5mm</a:t>
            </a:r>
            <a:r>
              <a:rPr lang="zh-CN" altLang="en-US" sz="2400" dirty="0"/>
              <a:t>。</a:t>
            </a:r>
          </a:p>
        </p:txBody>
      </p:sp>
    </p:spTree>
  </p:cSld>
  <p:clrMapOvr>
    <a:masterClrMapping/>
  </p:clrMapOvr>
  <p:transition spd="slow">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1343472" y="908050"/>
            <a:ext cx="9186098" cy="5001895"/>
          </a:xfrm>
        </p:spPr>
        <p:txBody>
          <a:bodyPr vert="horz" wrap="square" lIns="91440" tIns="45720" rIns="91440" bIns="45720" numCol="1" rtlCol="0" anchor="t" anchorCtr="0" compatLnSpc="1">
            <a:noAutofit/>
          </a:bodyPr>
          <a:lstStyle/>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lang="zh-CN" altLang="en-US" sz="2300" b="0" dirty="0">
                <a:solidFill>
                  <a:schemeClr val="tx1"/>
                </a:solidFill>
                <a:latin typeface="宋体" panose="02010600030101010101" pitchFamily="2" charset="-122"/>
                <a:ea typeface="宋体" panose="02010600030101010101" pitchFamily="2" charset="-122"/>
                <a:cs typeface="宋体" panose="02010600030101010101" pitchFamily="2" charset="-122"/>
              </a:rPr>
              <a:t>用不用的</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设备</a:t>
            </a:r>
            <a:endPar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    </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碳化深度尺</a:t>
            </a:r>
            <a:r>
              <a:rPr kumimoji="0" 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设备精度</a:t>
            </a:r>
            <a:r>
              <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0.25mm</a:t>
            </a: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                </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绿色标签、检定日期</a:t>
            </a:r>
            <a:endPar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                </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外观质量、活动能力、“</a:t>
            </a:r>
            <a:r>
              <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0</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”点检查</a:t>
            </a:r>
            <a:endPar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    </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酚酞试剂：</a:t>
            </a:r>
            <a:r>
              <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酚酞酒精溶液</a:t>
            </a: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 </a:t>
            </a:r>
            <a:r>
              <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                     </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标签（配制日期、浓度）</a:t>
            </a:r>
            <a:endPar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    钢直尺、卷尺、测距仪（有绿色标签）</a:t>
            </a:r>
            <a:r>
              <a:rPr kumimoji="0" lang="en-US" altLang="zh-CN" sz="23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a:t>
            </a:r>
            <a:r>
              <a:rPr kumimoji="0" lang="zh-CN" altLang="en-US" sz="23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宋体" panose="02010600030101010101" pitchFamily="2" charset="-122"/>
              </a:rPr>
              <a:t>设备精度？</a:t>
            </a: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endParaRPr lang="en-US" altLang="zh-CN" sz="2300" b="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其他设备</a:t>
            </a:r>
            <a:endPar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a:buNone/>
              <a:defRPr/>
            </a:pPr>
            <a:r>
              <a:rPr lang="en-US" altLang="zh-CN" sz="2300" b="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kumimoji="0" lang="zh-CN" altLang="en-US"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铁锤、钢钎、粉笔、记号笔、照明设备、安全防护设备</a:t>
            </a:r>
            <a:endParaRPr kumimoji="0" lang="en-US" altLang="zh-CN" sz="23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slow">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1919288" y="333375"/>
            <a:ext cx="2592387" cy="1008063"/>
          </a:xfrm>
        </p:spPr>
        <p:txBody>
          <a:bodyPr vert="horz" wrap="square" lIns="91440" tIns="45720" rIns="91440" bIns="45720" anchor="ctr" anchorCtr="0"/>
          <a:lstStyle/>
          <a:p>
            <a:pPr algn="l"/>
            <a:r>
              <a:rPr lang="zh-CN" altLang="en-US" sz="2800" dirty="0"/>
              <a:t>碳化深度测试</a:t>
            </a:r>
          </a:p>
        </p:txBody>
      </p:sp>
      <p:sp>
        <p:nvSpPr>
          <p:cNvPr id="59395" name="文本占位符 2"/>
          <p:cNvSpPr>
            <a:spLocks noGrp="1"/>
          </p:cNvSpPr>
          <p:nvPr>
            <p:ph type="body" sz="half" idx="1"/>
          </p:nvPr>
        </p:nvSpPr>
        <p:spPr>
          <a:xfrm>
            <a:off x="5430520" y="1498600"/>
            <a:ext cx="5935980" cy="1543050"/>
          </a:xfrm>
        </p:spPr>
        <p:txBody>
          <a:bodyPr vert="horz" wrap="square" lIns="91440" tIns="45720" rIns="91440" bIns="45720" anchor="t" anchorCtr="0"/>
          <a:lstStyle/>
          <a:p>
            <a:pPr marL="0" indent="0">
              <a:buClr>
                <a:schemeClr val="tx2"/>
              </a:buClr>
              <a:buSzPct val="50000"/>
              <a:buFont typeface="Wingdings 2" panose="05020102010507070707" pitchFamily="18" charset="2"/>
              <a:buNone/>
            </a:pPr>
            <a:r>
              <a:rPr lang="zh-CN" altLang="en-US" dirty="0"/>
              <a:t>上、左、右各测一次，每次精确到</a:t>
            </a:r>
            <a:r>
              <a:rPr lang="en-US" altLang="zh-CN" dirty="0"/>
              <a:t>0.25mm</a:t>
            </a:r>
          </a:p>
          <a:p>
            <a:pPr marL="0" indent="0">
              <a:buClr>
                <a:schemeClr val="tx2"/>
              </a:buClr>
              <a:buSzPct val="50000"/>
              <a:buFont typeface="Wingdings 2" panose="05020102010507070707" pitchFamily="18" charset="2"/>
              <a:buNone/>
            </a:pPr>
            <a:r>
              <a:rPr lang="zh-CN" altLang="en-US" dirty="0"/>
              <a:t>不宜在孔洞下方测试</a:t>
            </a:r>
          </a:p>
        </p:txBody>
      </p:sp>
      <p:sp>
        <p:nvSpPr>
          <p:cNvPr id="6" name="下箭头 5"/>
          <p:cNvSpPr/>
          <p:nvPr/>
        </p:nvSpPr>
        <p:spPr>
          <a:xfrm>
            <a:off x="3937000" y="2501900"/>
            <a:ext cx="144463" cy="5397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右箭头 6"/>
          <p:cNvSpPr/>
          <p:nvPr/>
        </p:nvSpPr>
        <p:spPr>
          <a:xfrm>
            <a:off x="2727325" y="4021138"/>
            <a:ext cx="503238" cy="1809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左箭头 7"/>
          <p:cNvSpPr/>
          <p:nvPr/>
        </p:nvSpPr>
        <p:spPr>
          <a:xfrm>
            <a:off x="4913313" y="3763963"/>
            <a:ext cx="576263" cy="25082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 name="任意多边形 19"/>
          <p:cNvSpPr/>
          <p:nvPr/>
        </p:nvSpPr>
        <p:spPr>
          <a:xfrm>
            <a:off x="3230563" y="3057525"/>
            <a:ext cx="1666875" cy="1884363"/>
          </a:xfrm>
          <a:custGeom>
            <a:avLst/>
            <a:gdLst>
              <a:gd name="connsiteX0" fmla="*/ 586232 w 1665524"/>
              <a:gd name="connsiteY0" fmla="*/ 59961 h 1693889"/>
              <a:gd name="connsiteX1" fmla="*/ 406350 w 1665524"/>
              <a:gd name="connsiteY1" fmla="*/ 89941 h 1693889"/>
              <a:gd name="connsiteX2" fmla="*/ 376370 w 1665524"/>
              <a:gd name="connsiteY2" fmla="*/ 119922 h 1693889"/>
              <a:gd name="connsiteX3" fmla="*/ 286429 w 1665524"/>
              <a:gd name="connsiteY3" fmla="*/ 179882 h 1693889"/>
              <a:gd name="connsiteX4" fmla="*/ 256448 w 1665524"/>
              <a:gd name="connsiteY4" fmla="*/ 209863 h 1693889"/>
              <a:gd name="connsiteX5" fmla="*/ 211478 w 1665524"/>
              <a:gd name="connsiteY5" fmla="*/ 224853 h 1693889"/>
              <a:gd name="connsiteX6" fmla="*/ 196488 w 1665524"/>
              <a:gd name="connsiteY6" fmla="*/ 269823 h 1693889"/>
              <a:gd name="connsiteX7" fmla="*/ 166507 w 1665524"/>
              <a:gd name="connsiteY7" fmla="*/ 299804 h 1693889"/>
              <a:gd name="connsiteX8" fmla="*/ 136527 w 1665524"/>
              <a:gd name="connsiteY8" fmla="*/ 389745 h 1693889"/>
              <a:gd name="connsiteX9" fmla="*/ 121537 w 1665524"/>
              <a:gd name="connsiteY9" fmla="*/ 434715 h 1693889"/>
              <a:gd name="connsiteX10" fmla="*/ 106547 w 1665524"/>
              <a:gd name="connsiteY10" fmla="*/ 479686 h 1693889"/>
              <a:gd name="connsiteX11" fmla="*/ 91557 w 1665524"/>
              <a:gd name="connsiteY11" fmla="*/ 524656 h 1693889"/>
              <a:gd name="connsiteX12" fmla="*/ 106547 w 1665524"/>
              <a:gd name="connsiteY12" fmla="*/ 599607 h 1693889"/>
              <a:gd name="connsiteX13" fmla="*/ 136527 w 1665524"/>
              <a:gd name="connsiteY13" fmla="*/ 644577 h 1693889"/>
              <a:gd name="connsiteX14" fmla="*/ 61576 w 1665524"/>
              <a:gd name="connsiteY14" fmla="*/ 764499 h 1693889"/>
              <a:gd name="connsiteX15" fmla="*/ 31596 w 1665524"/>
              <a:gd name="connsiteY15" fmla="*/ 854440 h 1693889"/>
              <a:gd name="connsiteX16" fmla="*/ 16606 w 1665524"/>
              <a:gd name="connsiteY16" fmla="*/ 899410 h 1693889"/>
              <a:gd name="connsiteX17" fmla="*/ 16606 w 1665524"/>
              <a:gd name="connsiteY17" fmla="*/ 1154243 h 1693889"/>
              <a:gd name="connsiteX18" fmla="*/ 31596 w 1665524"/>
              <a:gd name="connsiteY18" fmla="*/ 1199214 h 1693889"/>
              <a:gd name="connsiteX19" fmla="*/ 121537 w 1665524"/>
              <a:gd name="connsiteY19" fmla="*/ 1244184 h 1693889"/>
              <a:gd name="connsiteX20" fmla="*/ 196488 w 1665524"/>
              <a:gd name="connsiteY20" fmla="*/ 1304145 h 1693889"/>
              <a:gd name="connsiteX21" fmla="*/ 241458 w 1665524"/>
              <a:gd name="connsiteY21" fmla="*/ 1334125 h 1693889"/>
              <a:gd name="connsiteX22" fmla="*/ 301419 w 1665524"/>
              <a:gd name="connsiteY22" fmla="*/ 1394086 h 1693889"/>
              <a:gd name="connsiteX23" fmla="*/ 316409 w 1665524"/>
              <a:gd name="connsiteY23" fmla="*/ 1439056 h 1693889"/>
              <a:gd name="connsiteX24" fmla="*/ 406350 w 1665524"/>
              <a:gd name="connsiteY24" fmla="*/ 1499017 h 1693889"/>
              <a:gd name="connsiteX25" fmla="*/ 466311 w 1665524"/>
              <a:gd name="connsiteY25" fmla="*/ 1558977 h 1693889"/>
              <a:gd name="connsiteX26" fmla="*/ 541262 w 1665524"/>
              <a:gd name="connsiteY26" fmla="*/ 1633928 h 1693889"/>
              <a:gd name="connsiteX27" fmla="*/ 706153 w 1665524"/>
              <a:gd name="connsiteY27" fmla="*/ 1678899 h 1693889"/>
              <a:gd name="connsiteX28" fmla="*/ 751124 w 1665524"/>
              <a:gd name="connsiteY28" fmla="*/ 1693889 h 1693889"/>
              <a:gd name="connsiteX29" fmla="*/ 1140868 w 1665524"/>
              <a:gd name="connsiteY29" fmla="*/ 1678899 h 1693889"/>
              <a:gd name="connsiteX30" fmla="*/ 1185839 w 1665524"/>
              <a:gd name="connsiteY30" fmla="*/ 1663909 h 1693889"/>
              <a:gd name="connsiteX31" fmla="*/ 1215819 w 1665524"/>
              <a:gd name="connsiteY31" fmla="*/ 1573968 h 1693889"/>
              <a:gd name="connsiteX32" fmla="*/ 1365721 w 1665524"/>
              <a:gd name="connsiteY32" fmla="*/ 1454046 h 1693889"/>
              <a:gd name="connsiteX33" fmla="*/ 1410691 w 1665524"/>
              <a:gd name="connsiteY33" fmla="*/ 1439056 h 1693889"/>
              <a:gd name="connsiteX34" fmla="*/ 1500632 w 1665524"/>
              <a:gd name="connsiteY34" fmla="*/ 1364105 h 1693889"/>
              <a:gd name="connsiteX35" fmla="*/ 1530612 w 1665524"/>
              <a:gd name="connsiteY35" fmla="*/ 1259174 h 1693889"/>
              <a:gd name="connsiteX36" fmla="*/ 1545603 w 1665524"/>
              <a:gd name="connsiteY36" fmla="*/ 1199214 h 1693889"/>
              <a:gd name="connsiteX37" fmla="*/ 1575583 w 1665524"/>
              <a:gd name="connsiteY37" fmla="*/ 1169233 h 1693889"/>
              <a:gd name="connsiteX38" fmla="*/ 1605563 w 1665524"/>
              <a:gd name="connsiteY38" fmla="*/ 1079292 h 1693889"/>
              <a:gd name="connsiteX39" fmla="*/ 1620553 w 1665524"/>
              <a:gd name="connsiteY39" fmla="*/ 1034322 h 1693889"/>
              <a:gd name="connsiteX40" fmla="*/ 1635544 w 1665524"/>
              <a:gd name="connsiteY40" fmla="*/ 974361 h 1693889"/>
              <a:gd name="connsiteX41" fmla="*/ 1665524 w 1665524"/>
              <a:gd name="connsiteY41" fmla="*/ 884420 h 1693889"/>
              <a:gd name="connsiteX42" fmla="*/ 1635544 w 1665524"/>
              <a:gd name="connsiteY42" fmla="*/ 779489 h 1693889"/>
              <a:gd name="connsiteX43" fmla="*/ 1605563 w 1665524"/>
              <a:gd name="connsiteY43" fmla="*/ 749509 h 1693889"/>
              <a:gd name="connsiteX44" fmla="*/ 1515622 w 1665524"/>
              <a:gd name="connsiteY44" fmla="*/ 704538 h 1693889"/>
              <a:gd name="connsiteX45" fmla="*/ 1470652 w 1665524"/>
              <a:gd name="connsiteY45" fmla="*/ 494676 h 1693889"/>
              <a:gd name="connsiteX46" fmla="*/ 1440671 w 1665524"/>
              <a:gd name="connsiteY46" fmla="*/ 404735 h 1693889"/>
              <a:gd name="connsiteX47" fmla="*/ 1350730 w 1665524"/>
              <a:gd name="connsiteY47" fmla="*/ 359764 h 1693889"/>
              <a:gd name="connsiteX48" fmla="*/ 1260789 w 1665524"/>
              <a:gd name="connsiteY48" fmla="*/ 314794 h 1693889"/>
              <a:gd name="connsiteX49" fmla="*/ 1155858 w 1665524"/>
              <a:gd name="connsiteY49" fmla="*/ 224853 h 1693889"/>
              <a:gd name="connsiteX50" fmla="*/ 1080907 w 1665524"/>
              <a:gd name="connsiteY50" fmla="*/ 134912 h 1693889"/>
              <a:gd name="connsiteX51" fmla="*/ 1050927 w 1665524"/>
              <a:gd name="connsiteY51" fmla="*/ 89941 h 1693889"/>
              <a:gd name="connsiteX52" fmla="*/ 1005957 w 1665524"/>
              <a:gd name="connsiteY52" fmla="*/ 74951 h 1693889"/>
              <a:gd name="connsiteX53" fmla="*/ 975976 w 1665524"/>
              <a:gd name="connsiteY53" fmla="*/ 44971 h 1693889"/>
              <a:gd name="connsiteX54" fmla="*/ 826075 w 1665524"/>
              <a:gd name="connsiteY54" fmla="*/ 14991 h 1693889"/>
              <a:gd name="connsiteX55" fmla="*/ 736134 w 1665524"/>
              <a:gd name="connsiteY55" fmla="*/ 0 h 1693889"/>
              <a:gd name="connsiteX56" fmla="*/ 511281 w 1665524"/>
              <a:gd name="connsiteY56" fmla="*/ 29981 h 1693889"/>
              <a:gd name="connsiteX57" fmla="*/ 451321 w 1665524"/>
              <a:gd name="connsiteY57" fmla="*/ 44971 h 1693889"/>
              <a:gd name="connsiteX58" fmla="*/ 451321 w 1665524"/>
              <a:gd name="connsiteY58" fmla="*/ 74951 h 169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665524" h="1693889">
                <a:moveTo>
                  <a:pt x="586232" y="59961"/>
                </a:moveTo>
                <a:cubicBezTo>
                  <a:pt x="572909" y="61441"/>
                  <a:pt x="446301" y="65970"/>
                  <a:pt x="406350" y="89941"/>
                </a:cubicBezTo>
                <a:cubicBezTo>
                  <a:pt x="394231" y="97212"/>
                  <a:pt x="387676" y="111442"/>
                  <a:pt x="376370" y="119922"/>
                </a:cubicBezTo>
                <a:cubicBezTo>
                  <a:pt x="347545" y="141541"/>
                  <a:pt x="311907" y="154404"/>
                  <a:pt x="286429" y="179882"/>
                </a:cubicBezTo>
                <a:cubicBezTo>
                  <a:pt x="276435" y="189876"/>
                  <a:pt x="268567" y="202591"/>
                  <a:pt x="256448" y="209863"/>
                </a:cubicBezTo>
                <a:cubicBezTo>
                  <a:pt x="242899" y="217993"/>
                  <a:pt x="226468" y="219856"/>
                  <a:pt x="211478" y="224853"/>
                </a:cubicBezTo>
                <a:cubicBezTo>
                  <a:pt x="206481" y="239843"/>
                  <a:pt x="204618" y="256274"/>
                  <a:pt x="196488" y="269823"/>
                </a:cubicBezTo>
                <a:cubicBezTo>
                  <a:pt x="189216" y="281942"/>
                  <a:pt x="172828" y="287163"/>
                  <a:pt x="166507" y="299804"/>
                </a:cubicBezTo>
                <a:cubicBezTo>
                  <a:pt x="152374" y="328070"/>
                  <a:pt x="146520" y="359765"/>
                  <a:pt x="136527" y="389745"/>
                </a:cubicBezTo>
                <a:lnTo>
                  <a:pt x="121537" y="434715"/>
                </a:lnTo>
                <a:lnTo>
                  <a:pt x="106547" y="479686"/>
                </a:lnTo>
                <a:lnTo>
                  <a:pt x="91557" y="524656"/>
                </a:lnTo>
                <a:cubicBezTo>
                  <a:pt x="96554" y="549640"/>
                  <a:pt x="97601" y="575751"/>
                  <a:pt x="106547" y="599607"/>
                </a:cubicBezTo>
                <a:cubicBezTo>
                  <a:pt x="112873" y="616476"/>
                  <a:pt x="136527" y="626561"/>
                  <a:pt x="136527" y="644577"/>
                </a:cubicBezTo>
                <a:cubicBezTo>
                  <a:pt x="136527" y="727825"/>
                  <a:pt x="112502" y="730548"/>
                  <a:pt x="61576" y="764499"/>
                </a:cubicBezTo>
                <a:lnTo>
                  <a:pt x="31596" y="854440"/>
                </a:lnTo>
                <a:lnTo>
                  <a:pt x="16606" y="899410"/>
                </a:lnTo>
                <a:cubicBezTo>
                  <a:pt x="-4451" y="1025753"/>
                  <a:pt x="-6595" y="991836"/>
                  <a:pt x="16606" y="1154243"/>
                </a:cubicBezTo>
                <a:cubicBezTo>
                  <a:pt x="18841" y="1169885"/>
                  <a:pt x="21725" y="1186875"/>
                  <a:pt x="31596" y="1199214"/>
                </a:cubicBezTo>
                <a:cubicBezTo>
                  <a:pt x="60235" y="1235013"/>
                  <a:pt x="85330" y="1226081"/>
                  <a:pt x="121537" y="1244184"/>
                </a:cubicBezTo>
                <a:cubicBezTo>
                  <a:pt x="183053" y="1274942"/>
                  <a:pt x="150013" y="1266965"/>
                  <a:pt x="196488" y="1304145"/>
                </a:cubicBezTo>
                <a:cubicBezTo>
                  <a:pt x="210556" y="1315399"/>
                  <a:pt x="227779" y="1322401"/>
                  <a:pt x="241458" y="1334125"/>
                </a:cubicBezTo>
                <a:cubicBezTo>
                  <a:pt x="262919" y="1352520"/>
                  <a:pt x="301419" y="1394086"/>
                  <a:pt x="301419" y="1394086"/>
                </a:cubicBezTo>
                <a:cubicBezTo>
                  <a:pt x="306416" y="1409076"/>
                  <a:pt x="305236" y="1427883"/>
                  <a:pt x="316409" y="1439056"/>
                </a:cubicBezTo>
                <a:cubicBezTo>
                  <a:pt x="341887" y="1464534"/>
                  <a:pt x="406350" y="1499017"/>
                  <a:pt x="406350" y="1499017"/>
                </a:cubicBezTo>
                <a:cubicBezTo>
                  <a:pt x="439056" y="1597134"/>
                  <a:pt x="393631" y="1500833"/>
                  <a:pt x="466311" y="1558977"/>
                </a:cubicBezTo>
                <a:cubicBezTo>
                  <a:pt x="547512" y="1623938"/>
                  <a:pt x="440073" y="1588955"/>
                  <a:pt x="541262" y="1633928"/>
                </a:cubicBezTo>
                <a:cubicBezTo>
                  <a:pt x="623959" y="1670682"/>
                  <a:pt x="625541" y="1658746"/>
                  <a:pt x="706153" y="1678899"/>
                </a:cubicBezTo>
                <a:cubicBezTo>
                  <a:pt x="721482" y="1682731"/>
                  <a:pt x="736134" y="1688892"/>
                  <a:pt x="751124" y="1693889"/>
                </a:cubicBezTo>
                <a:cubicBezTo>
                  <a:pt x="881039" y="1688892"/>
                  <a:pt x="1011165" y="1687844"/>
                  <a:pt x="1140868" y="1678899"/>
                </a:cubicBezTo>
                <a:cubicBezTo>
                  <a:pt x="1156632" y="1677812"/>
                  <a:pt x="1176655" y="1676767"/>
                  <a:pt x="1185839" y="1663909"/>
                </a:cubicBezTo>
                <a:cubicBezTo>
                  <a:pt x="1204207" y="1638193"/>
                  <a:pt x="1193473" y="1596314"/>
                  <a:pt x="1215819" y="1573968"/>
                </a:cubicBezTo>
                <a:cubicBezTo>
                  <a:pt x="1256755" y="1533032"/>
                  <a:pt x="1308992" y="1472956"/>
                  <a:pt x="1365721" y="1454046"/>
                </a:cubicBezTo>
                <a:cubicBezTo>
                  <a:pt x="1380711" y="1449049"/>
                  <a:pt x="1396558" y="1446122"/>
                  <a:pt x="1410691" y="1439056"/>
                </a:cubicBezTo>
                <a:cubicBezTo>
                  <a:pt x="1452433" y="1418185"/>
                  <a:pt x="1467478" y="1397260"/>
                  <a:pt x="1500632" y="1364105"/>
                </a:cubicBezTo>
                <a:cubicBezTo>
                  <a:pt x="1547479" y="1176715"/>
                  <a:pt x="1487613" y="1409668"/>
                  <a:pt x="1530612" y="1259174"/>
                </a:cubicBezTo>
                <a:cubicBezTo>
                  <a:pt x="1536272" y="1239365"/>
                  <a:pt x="1536389" y="1217641"/>
                  <a:pt x="1545603" y="1199214"/>
                </a:cubicBezTo>
                <a:cubicBezTo>
                  <a:pt x="1551924" y="1186573"/>
                  <a:pt x="1565590" y="1179227"/>
                  <a:pt x="1575583" y="1169233"/>
                </a:cubicBezTo>
                <a:lnTo>
                  <a:pt x="1605563" y="1079292"/>
                </a:lnTo>
                <a:cubicBezTo>
                  <a:pt x="1610560" y="1064302"/>
                  <a:pt x="1616721" y="1049651"/>
                  <a:pt x="1620553" y="1034322"/>
                </a:cubicBezTo>
                <a:cubicBezTo>
                  <a:pt x="1625550" y="1014335"/>
                  <a:pt x="1629624" y="994094"/>
                  <a:pt x="1635544" y="974361"/>
                </a:cubicBezTo>
                <a:cubicBezTo>
                  <a:pt x="1644625" y="944092"/>
                  <a:pt x="1665524" y="884420"/>
                  <a:pt x="1665524" y="884420"/>
                </a:cubicBezTo>
                <a:cubicBezTo>
                  <a:pt x="1662724" y="873220"/>
                  <a:pt x="1644761" y="794850"/>
                  <a:pt x="1635544" y="779489"/>
                </a:cubicBezTo>
                <a:cubicBezTo>
                  <a:pt x="1628273" y="767370"/>
                  <a:pt x="1616599" y="758338"/>
                  <a:pt x="1605563" y="749509"/>
                </a:cubicBezTo>
                <a:cubicBezTo>
                  <a:pt x="1564048" y="716297"/>
                  <a:pt x="1563123" y="720371"/>
                  <a:pt x="1515622" y="704538"/>
                </a:cubicBezTo>
                <a:cubicBezTo>
                  <a:pt x="1443232" y="487366"/>
                  <a:pt x="1527385" y="759425"/>
                  <a:pt x="1470652" y="494676"/>
                </a:cubicBezTo>
                <a:cubicBezTo>
                  <a:pt x="1464030" y="463775"/>
                  <a:pt x="1466966" y="422265"/>
                  <a:pt x="1440671" y="404735"/>
                </a:cubicBezTo>
                <a:cubicBezTo>
                  <a:pt x="1311795" y="318818"/>
                  <a:pt x="1474853" y="421826"/>
                  <a:pt x="1350730" y="359764"/>
                </a:cubicBezTo>
                <a:cubicBezTo>
                  <a:pt x="1234502" y="301649"/>
                  <a:pt x="1373819" y="352470"/>
                  <a:pt x="1260789" y="314794"/>
                </a:cubicBezTo>
                <a:cubicBezTo>
                  <a:pt x="1220103" y="287670"/>
                  <a:pt x="1184937" y="268472"/>
                  <a:pt x="1155858" y="224853"/>
                </a:cubicBezTo>
                <a:cubicBezTo>
                  <a:pt x="1081423" y="113198"/>
                  <a:pt x="1177090" y="250331"/>
                  <a:pt x="1080907" y="134912"/>
                </a:cubicBezTo>
                <a:cubicBezTo>
                  <a:pt x="1069373" y="121072"/>
                  <a:pt x="1064995" y="101196"/>
                  <a:pt x="1050927" y="89941"/>
                </a:cubicBezTo>
                <a:cubicBezTo>
                  <a:pt x="1038589" y="80070"/>
                  <a:pt x="1020947" y="79948"/>
                  <a:pt x="1005957" y="74951"/>
                </a:cubicBezTo>
                <a:cubicBezTo>
                  <a:pt x="995963" y="64958"/>
                  <a:pt x="988095" y="52242"/>
                  <a:pt x="975976" y="44971"/>
                </a:cubicBezTo>
                <a:cubicBezTo>
                  <a:pt x="943071" y="25228"/>
                  <a:pt x="844718" y="17859"/>
                  <a:pt x="826075" y="14991"/>
                </a:cubicBezTo>
                <a:cubicBezTo>
                  <a:pt x="796035" y="10369"/>
                  <a:pt x="766114" y="4997"/>
                  <a:pt x="736134" y="0"/>
                </a:cubicBezTo>
                <a:cubicBezTo>
                  <a:pt x="449076" y="23923"/>
                  <a:pt x="637344" y="-6037"/>
                  <a:pt x="511281" y="29981"/>
                </a:cubicBezTo>
                <a:cubicBezTo>
                  <a:pt x="491472" y="35641"/>
                  <a:pt x="467802" y="32610"/>
                  <a:pt x="451321" y="44971"/>
                </a:cubicBezTo>
                <a:cubicBezTo>
                  <a:pt x="443326" y="50967"/>
                  <a:pt x="451321" y="64958"/>
                  <a:pt x="451321" y="74951"/>
                </a:cubicBezTo>
              </a:path>
            </a:pathLst>
          </a:custGeom>
          <a:pattFill prst="pct40">
            <a:fgClr>
              <a:srgbClr val="FF0000"/>
            </a:fgClr>
            <a:bgClr>
              <a:schemeClr val="bg1"/>
            </a:bgClr>
          </a:patt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1" name="任意多边形 20"/>
          <p:cNvSpPr/>
          <p:nvPr/>
        </p:nvSpPr>
        <p:spPr>
          <a:xfrm>
            <a:off x="2933700" y="2728913"/>
            <a:ext cx="2203450" cy="2352675"/>
          </a:xfrm>
          <a:custGeom>
            <a:avLst/>
            <a:gdLst>
              <a:gd name="connsiteX0" fmla="*/ 644577 w 2203555"/>
              <a:gd name="connsiteY0" fmla="*/ 89941 h 2353456"/>
              <a:gd name="connsiteX1" fmla="*/ 614597 w 2203555"/>
              <a:gd name="connsiteY1" fmla="*/ 164892 h 2353456"/>
              <a:gd name="connsiteX2" fmla="*/ 569627 w 2203555"/>
              <a:gd name="connsiteY2" fmla="*/ 194872 h 2353456"/>
              <a:gd name="connsiteX3" fmla="*/ 539646 w 2203555"/>
              <a:gd name="connsiteY3" fmla="*/ 224852 h 2353456"/>
              <a:gd name="connsiteX4" fmla="*/ 449705 w 2203555"/>
              <a:gd name="connsiteY4" fmla="*/ 269823 h 2353456"/>
              <a:gd name="connsiteX5" fmla="*/ 404735 w 2203555"/>
              <a:gd name="connsiteY5" fmla="*/ 299803 h 2353456"/>
              <a:gd name="connsiteX6" fmla="*/ 374755 w 2203555"/>
              <a:gd name="connsiteY6" fmla="*/ 344774 h 2353456"/>
              <a:gd name="connsiteX7" fmla="*/ 344774 w 2203555"/>
              <a:gd name="connsiteY7" fmla="*/ 374754 h 2353456"/>
              <a:gd name="connsiteX8" fmla="*/ 329784 w 2203555"/>
              <a:gd name="connsiteY8" fmla="*/ 419724 h 2353456"/>
              <a:gd name="connsiteX9" fmla="*/ 224853 w 2203555"/>
              <a:gd name="connsiteY9" fmla="*/ 509665 h 2353456"/>
              <a:gd name="connsiteX10" fmla="*/ 164892 w 2203555"/>
              <a:gd name="connsiteY10" fmla="*/ 569626 h 2353456"/>
              <a:gd name="connsiteX11" fmla="*/ 119922 w 2203555"/>
              <a:gd name="connsiteY11" fmla="*/ 614597 h 2353456"/>
              <a:gd name="connsiteX12" fmla="*/ 89941 w 2203555"/>
              <a:gd name="connsiteY12" fmla="*/ 644577 h 2353456"/>
              <a:gd name="connsiteX13" fmla="*/ 59961 w 2203555"/>
              <a:gd name="connsiteY13" fmla="*/ 689547 h 2353456"/>
              <a:gd name="connsiteX14" fmla="*/ 44971 w 2203555"/>
              <a:gd name="connsiteY14" fmla="*/ 1169233 h 2353456"/>
              <a:gd name="connsiteX15" fmla="*/ 14991 w 2203555"/>
              <a:gd name="connsiteY15" fmla="*/ 1214203 h 2353456"/>
              <a:gd name="connsiteX16" fmla="*/ 0 w 2203555"/>
              <a:gd name="connsiteY16" fmla="*/ 1304144 h 2353456"/>
              <a:gd name="connsiteX17" fmla="*/ 14991 w 2203555"/>
              <a:gd name="connsiteY17" fmla="*/ 1588957 h 2353456"/>
              <a:gd name="connsiteX18" fmla="*/ 29981 w 2203555"/>
              <a:gd name="connsiteY18" fmla="*/ 1693888 h 2353456"/>
              <a:gd name="connsiteX19" fmla="*/ 59961 w 2203555"/>
              <a:gd name="connsiteY19" fmla="*/ 1723869 h 2353456"/>
              <a:gd name="connsiteX20" fmla="*/ 104932 w 2203555"/>
              <a:gd name="connsiteY20" fmla="*/ 1798820 h 2353456"/>
              <a:gd name="connsiteX21" fmla="*/ 164892 w 2203555"/>
              <a:gd name="connsiteY21" fmla="*/ 1888760 h 2353456"/>
              <a:gd name="connsiteX22" fmla="*/ 209863 w 2203555"/>
              <a:gd name="connsiteY22" fmla="*/ 1963711 h 2353456"/>
              <a:gd name="connsiteX23" fmla="*/ 269823 w 2203555"/>
              <a:gd name="connsiteY23" fmla="*/ 2053652 h 2353456"/>
              <a:gd name="connsiteX24" fmla="*/ 329784 w 2203555"/>
              <a:gd name="connsiteY24" fmla="*/ 2128603 h 2353456"/>
              <a:gd name="connsiteX25" fmla="*/ 359764 w 2203555"/>
              <a:gd name="connsiteY25" fmla="*/ 2173574 h 2353456"/>
              <a:gd name="connsiteX26" fmla="*/ 449705 w 2203555"/>
              <a:gd name="connsiteY26" fmla="*/ 2203554 h 2353456"/>
              <a:gd name="connsiteX27" fmla="*/ 509666 w 2203555"/>
              <a:gd name="connsiteY27" fmla="*/ 2233534 h 2353456"/>
              <a:gd name="connsiteX28" fmla="*/ 539646 w 2203555"/>
              <a:gd name="connsiteY28" fmla="*/ 2263515 h 2353456"/>
              <a:gd name="connsiteX29" fmla="*/ 1034322 w 2203555"/>
              <a:gd name="connsiteY29" fmla="*/ 2308485 h 2353456"/>
              <a:gd name="connsiteX30" fmla="*/ 1124263 w 2203555"/>
              <a:gd name="connsiteY30" fmla="*/ 2338465 h 2353456"/>
              <a:gd name="connsiteX31" fmla="*/ 1169233 w 2203555"/>
              <a:gd name="connsiteY31" fmla="*/ 2353456 h 2353456"/>
              <a:gd name="connsiteX32" fmla="*/ 1424066 w 2203555"/>
              <a:gd name="connsiteY32" fmla="*/ 2338465 h 2353456"/>
              <a:gd name="connsiteX33" fmla="*/ 1514007 w 2203555"/>
              <a:gd name="connsiteY33" fmla="*/ 2308485 h 2353456"/>
              <a:gd name="connsiteX34" fmla="*/ 1558977 w 2203555"/>
              <a:gd name="connsiteY34" fmla="*/ 2293495 h 2353456"/>
              <a:gd name="connsiteX35" fmla="*/ 1603948 w 2203555"/>
              <a:gd name="connsiteY35" fmla="*/ 2203554 h 2353456"/>
              <a:gd name="connsiteX36" fmla="*/ 1738859 w 2203555"/>
              <a:gd name="connsiteY36" fmla="*/ 2128603 h 2353456"/>
              <a:gd name="connsiteX37" fmla="*/ 1768840 w 2203555"/>
              <a:gd name="connsiteY37" fmla="*/ 2098623 h 2353456"/>
              <a:gd name="connsiteX38" fmla="*/ 1798820 w 2203555"/>
              <a:gd name="connsiteY38" fmla="*/ 1993692 h 2353456"/>
              <a:gd name="connsiteX39" fmla="*/ 1813810 w 2203555"/>
              <a:gd name="connsiteY39" fmla="*/ 1948721 h 2353456"/>
              <a:gd name="connsiteX40" fmla="*/ 1873771 w 2203555"/>
              <a:gd name="connsiteY40" fmla="*/ 1888760 h 2353456"/>
              <a:gd name="connsiteX41" fmla="*/ 1948722 w 2203555"/>
              <a:gd name="connsiteY41" fmla="*/ 1828800 h 2353456"/>
              <a:gd name="connsiteX42" fmla="*/ 2038663 w 2203555"/>
              <a:gd name="connsiteY42" fmla="*/ 1708879 h 2353456"/>
              <a:gd name="connsiteX43" fmla="*/ 2053653 w 2203555"/>
              <a:gd name="connsiteY43" fmla="*/ 1663908 h 2353456"/>
              <a:gd name="connsiteX44" fmla="*/ 2113614 w 2203555"/>
              <a:gd name="connsiteY44" fmla="*/ 1588957 h 2353456"/>
              <a:gd name="connsiteX45" fmla="*/ 2143594 w 2203555"/>
              <a:gd name="connsiteY45" fmla="*/ 1543987 h 2353456"/>
              <a:gd name="connsiteX46" fmla="*/ 2158584 w 2203555"/>
              <a:gd name="connsiteY46" fmla="*/ 1454046 h 2353456"/>
              <a:gd name="connsiteX47" fmla="*/ 2173574 w 2203555"/>
              <a:gd name="connsiteY47" fmla="*/ 1319134 h 2353456"/>
              <a:gd name="connsiteX48" fmla="*/ 2203555 w 2203555"/>
              <a:gd name="connsiteY48" fmla="*/ 1229193 h 2353456"/>
              <a:gd name="connsiteX49" fmla="*/ 2158584 w 2203555"/>
              <a:gd name="connsiteY49" fmla="*/ 1109272 h 2353456"/>
              <a:gd name="connsiteX50" fmla="*/ 2113614 w 2203555"/>
              <a:gd name="connsiteY50" fmla="*/ 1094282 h 2353456"/>
              <a:gd name="connsiteX51" fmla="*/ 2083633 w 2203555"/>
              <a:gd name="connsiteY51" fmla="*/ 1064301 h 2353456"/>
              <a:gd name="connsiteX52" fmla="*/ 2038663 w 2203555"/>
              <a:gd name="connsiteY52" fmla="*/ 1034321 h 2353456"/>
              <a:gd name="connsiteX53" fmla="*/ 1993692 w 2203555"/>
              <a:gd name="connsiteY53" fmla="*/ 884420 h 2353456"/>
              <a:gd name="connsiteX54" fmla="*/ 1978702 w 2203555"/>
              <a:gd name="connsiteY54" fmla="*/ 809469 h 2353456"/>
              <a:gd name="connsiteX55" fmla="*/ 1948722 w 2203555"/>
              <a:gd name="connsiteY55" fmla="*/ 764498 h 2353456"/>
              <a:gd name="connsiteX56" fmla="*/ 1933732 w 2203555"/>
              <a:gd name="connsiteY56" fmla="*/ 719528 h 2353456"/>
              <a:gd name="connsiteX57" fmla="*/ 1903751 w 2203555"/>
              <a:gd name="connsiteY57" fmla="*/ 689547 h 2353456"/>
              <a:gd name="connsiteX58" fmla="*/ 1813810 w 2203555"/>
              <a:gd name="connsiteY58" fmla="*/ 569626 h 2353456"/>
              <a:gd name="connsiteX59" fmla="*/ 1783830 w 2203555"/>
              <a:gd name="connsiteY59" fmla="*/ 479685 h 2353456"/>
              <a:gd name="connsiteX60" fmla="*/ 1753850 w 2203555"/>
              <a:gd name="connsiteY60" fmla="*/ 434715 h 2353456"/>
              <a:gd name="connsiteX61" fmla="*/ 1708879 w 2203555"/>
              <a:gd name="connsiteY61" fmla="*/ 344774 h 2353456"/>
              <a:gd name="connsiteX62" fmla="*/ 1648918 w 2203555"/>
              <a:gd name="connsiteY62" fmla="*/ 284813 h 2353456"/>
              <a:gd name="connsiteX63" fmla="*/ 1603948 w 2203555"/>
              <a:gd name="connsiteY63" fmla="*/ 239842 h 2353456"/>
              <a:gd name="connsiteX64" fmla="*/ 1558977 w 2203555"/>
              <a:gd name="connsiteY64" fmla="*/ 194872 h 2353456"/>
              <a:gd name="connsiteX65" fmla="*/ 1514007 w 2203555"/>
              <a:gd name="connsiteY65" fmla="*/ 164892 h 2353456"/>
              <a:gd name="connsiteX66" fmla="*/ 1454046 w 2203555"/>
              <a:gd name="connsiteY66" fmla="*/ 104931 h 2353456"/>
              <a:gd name="connsiteX67" fmla="*/ 1409076 w 2203555"/>
              <a:gd name="connsiteY67" fmla="*/ 74951 h 2353456"/>
              <a:gd name="connsiteX68" fmla="*/ 1379095 w 2203555"/>
              <a:gd name="connsiteY68" fmla="*/ 44970 h 2353456"/>
              <a:gd name="connsiteX69" fmla="*/ 1289155 w 2203555"/>
              <a:gd name="connsiteY69" fmla="*/ 14990 h 2353456"/>
              <a:gd name="connsiteX70" fmla="*/ 1244184 w 2203555"/>
              <a:gd name="connsiteY70" fmla="*/ 0 h 2353456"/>
              <a:gd name="connsiteX71" fmla="*/ 899410 w 2203555"/>
              <a:gd name="connsiteY71" fmla="*/ 14990 h 2353456"/>
              <a:gd name="connsiteX72" fmla="*/ 824459 w 2203555"/>
              <a:gd name="connsiteY72" fmla="*/ 74951 h 2353456"/>
              <a:gd name="connsiteX73" fmla="*/ 644577 w 2203555"/>
              <a:gd name="connsiteY73" fmla="*/ 89941 h 2353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203555" h="2353456">
                <a:moveTo>
                  <a:pt x="644577" y="89941"/>
                </a:moveTo>
                <a:cubicBezTo>
                  <a:pt x="609600" y="104931"/>
                  <a:pt x="630237" y="142996"/>
                  <a:pt x="614597" y="164892"/>
                </a:cubicBezTo>
                <a:cubicBezTo>
                  <a:pt x="604126" y="179552"/>
                  <a:pt x="583695" y="183618"/>
                  <a:pt x="569627" y="194872"/>
                </a:cubicBezTo>
                <a:cubicBezTo>
                  <a:pt x="558591" y="203701"/>
                  <a:pt x="550682" y="216023"/>
                  <a:pt x="539646" y="224852"/>
                </a:cubicBezTo>
                <a:cubicBezTo>
                  <a:pt x="498131" y="258064"/>
                  <a:pt x="497206" y="253990"/>
                  <a:pt x="449705" y="269823"/>
                </a:cubicBezTo>
                <a:cubicBezTo>
                  <a:pt x="434715" y="279816"/>
                  <a:pt x="417474" y="287064"/>
                  <a:pt x="404735" y="299803"/>
                </a:cubicBezTo>
                <a:cubicBezTo>
                  <a:pt x="391996" y="312542"/>
                  <a:pt x="386010" y="330706"/>
                  <a:pt x="374755" y="344774"/>
                </a:cubicBezTo>
                <a:cubicBezTo>
                  <a:pt x="365926" y="355810"/>
                  <a:pt x="354768" y="364761"/>
                  <a:pt x="344774" y="374754"/>
                </a:cubicBezTo>
                <a:cubicBezTo>
                  <a:pt x="339777" y="389744"/>
                  <a:pt x="338968" y="406866"/>
                  <a:pt x="329784" y="419724"/>
                </a:cubicBezTo>
                <a:cubicBezTo>
                  <a:pt x="272948" y="499294"/>
                  <a:pt x="283230" y="459627"/>
                  <a:pt x="224853" y="509665"/>
                </a:cubicBezTo>
                <a:cubicBezTo>
                  <a:pt x="203392" y="528060"/>
                  <a:pt x="184879" y="549639"/>
                  <a:pt x="164892" y="569626"/>
                </a:cubicBezTo>
                <a:lnTo>
                  <a:pt x="119922" y="614597"/>
                </a:lnTo>
                <a:cubicBezTo>
                  <a:pt x="109928" y="624591"/>
                  <a:pt x="97781" y="632818"/>
                  <a:pt x="89941" y="644577"/>
                </a:cubicBezTo>
                <a:lnTo>
                  <a:pt x="59961" y="689547"/>
                </a:lnTo>
                <a:cubicBezTo>
                  <a:pt x="54964" y="849442"/>
                  <a:pt x="58633" y="1009844"/>
                  <a:pt x="44971" y="1169233"/>
                </a:cubicBezTo>
                <a:cubicBezTo>
                  <a:pt x="43432" y="1187183"/>
                  <a:pt x="20688" y="1197112"/>
                  <a:pt x="14991" y="1214203"/>
                </a:cubicBezTo>
                <a:cubicBezTo>
                  <a:pt x="5379" y="1243037"/>
                  <a:pt x="4997" y="1274164"/>
                  <a:pt x="0" y="1304144"/>
                </a:cubicBezTo>
                <a:cubicBezTo>
                  <a:pt x="4997" y="1399082"/>
                  <a:pt x="7699" y="1494168"/>
                  <a:pt x="14991" y="1588957"/>
                </a:cubicBezTo>
                <a:cubicBezTo>
                  <a:pt x="17701" y="1624185"/>
                  <a:pt x="18808" y="1660369"/>
                  <a:pt x="29981" y="1693888"/>
                </a:cubicBezTo>
                <a:cubicBezTo>
                  <a:pt x="34450" y="1707296"/>
                  <a:pt x="49968" y="1713875"/>
                  <a:pt x="59961" y="1723869"/>
                </a:cubicBezTo>
                <a:cubicBezTo>
                  <a:pt x="88622" y="1809852"/>
                  <a:pt x="55547" y="1732974"/>
                  <a:pt x="104932" y="1798820"/>
                </a:cubicBezTo>
                <a:cubicBezTo>
                  <a:pt x="126551" y="1827645"/>
                  <a:pt x="164892" y="1888760"/>
                  <a:pt x="164892" y="1888760"/>
                </a:cubicBezTo>
                <a:cubicBezTo>
                  <a:pt x="207356" y="2016156"/>
                  <a:pt x="148132" y="1860827"/>
                  <a:pt x="209863" y="1963711"/>
                </a:cubicBezTo>
                <a:cubicBezTo>
                  <a:pt x="274947" y="2072184"/>
                  <a:pt x="155466" y="1939295"/>
                  <a:pt x="269823" y="2053652"/>
                </a:cubicBezTo>
                <a:cubicBezTo>
                  <a:pt x="299008" y="2141203"/>
                  <a:pt x="261979" y="2060797"/>
                  <a:pt x="329784" y="2128603"/>
                </a:cubicBezTo>
                <a:cubicBezTo>
                  <a:pt x="342523" y="2141342"/>
                  <a:pt x="344486" y="2164025"/>
                  <a:pt x="359764" y="2173574"/>
                </a:cubicBezTo>
                <a:cubicBezTo>
                  <a:pt x="386562" y="2190323"/>
                  <a:pt x="421439" y="2189421"/>
                  <a:pt x="449705" y="2203554"/>
                </a:cubicBezTo>
                <a:lnTo>
                  <a:pt x="509666" y="2233534"/>
                </a:lnTo>
                <a:cubicBezTo>
                  <a:pt x="519659" y="2243528"/>
                  <a:pt x="527005" y="2257195"/>
                  <a:pt x="539646" y="2263515"/>
                </a:cubicBezTo>
                <a:cubicBezTo>
                  <a:pt x="679174" y="2333280"/>
                  <a:pt x="933313" y="2304744"/>
                  <a:pt x="1034322" y="2308485"/>
                </a:cubicBezTo>
                <a:lnTo>
                  <a:pt x="1124263" y="2338465"/>
                </a:lnTo>
                <a:lnTo>
                  <a:pt x="1169233" y="2353456"/>
                </a:lnTo>
                <a:cubicBezTo>
                  <a:pt x="1254177" y="2348459"/>
                  <a:pt x="1339690" y="2349471"/>
                  <a:pt x="1424066" y="2338465"/>
                </a:cubicBezTo>
                <a:cubicBezTo>
                  <a:pt x="1455403" y="2334378"/>
                  <a:pt x="1484027" y="2318478"/>
                  <a:pt x="1514007" y="2308485"/>
                </a:cubicBezTo>
                <a:lnTo>
                  <a:pt x="1558977" y="2293495"/>
                </a:lnTo>
                <a:cubicBezTo>
                  <a:pt x="1569670" y="2261418"/>
                  <a:pt x="1576599" y="2227484"/>
                  <a:pt x="1603948" y="2203554"/>
                </a:cubicBezTo>
                <a:cubicBezTo>
                  <a:pt x="1667387" y="2148044"/>
                  <a:pt x="1677093" y="2149192"/>
                  <a:pt x="1738859" y="2128603"/>
                </a:cubicBezTo>
                <a:cubicBezTo>
                  <a:pt x="1748853" y="2118610"/>
                  <a:pt x="1761569" y="2110742"/>
                  <a:pt x="1768840" y="2098623"/>
                </a:cubicBezTo>
                <a:cubicBezTo>
                  <a:pt x="1778641" y="2082288"/>
                  <a:pt x="1795257" y="2006163"/>
                  <a:pt x="1798820" y="1993692"/>
                </a:cubicBezTo>
                <a:cubicBezTo>
                  <a:pt x="1803161" y="1978499"/>
                  <a:pt x="1804626" y="1961579"/>
                  <a:pt x="1813810" y="1948721"/>
                </a:cubicBezTo>
                <a:cubicBezTo>
                  <a:pt x="1830239" y="1925720"/>
                  <a:pt x="1850252" y="1904439"/>
                  <a:pt x="1873771" y="1888760"/>
                </a:cubicBezTo>
                <a:cubicBezTo>
                  <a:pt x="1903269" y="1869094"/>
                  <a:pt x="1927364" y="1857277"/>
                  <a:pt x="1948722" y="1828800"/>
                </a:cubicBezTo>
                <a:cubicBezTo>
                  <a:pt x="2050422" y="1693200"/>
                  <a:pt x="1969906" y="1777634"/>
                  <a:pt x="2038663" y="1708879"/>
                </a:cubicBezTo>
                <a:cubicBezTo>
                  <a:pt x="2043660" y="1693889"/>
                  <a:pt x="2046587" y="1678041"/>
                  <a:pt x="2053653" y="1663908"/>
                </a:cubicBezTo>
                <a:cubicBezTo>
                  <a:pt x="2084410" y="1602393"/>
                  <a:pt x="2076434" y="1635431"/>
                  <a:pt x="2113614" y="1588957"/>
                </a:cubicBezTo>
                <a:cubicBezTo>
                  <a:pt x="2124868" y="1574889"/>
                  <a:pt x="2133601" y="1558977"/>
                  <a:pt x="2143594" y="1543987"/>
                </a:cubicBezTo>
                <a:cubicBezTo>
                  <a:pt x="2148591" y="1514007"/>
                  <a:pt x="2154567" y="1484173"/>
                  <a:pt x="2158584" y="1454046"/>
                </a:cubicBezTo>
                <a:cubicBezTo>
                  <a:pt x="2164564" y="1409196"/>
                  <a:pt x="2164700" y="1363503"/>
                  <a:pt x="2173574" y="1319134"/>
                </a:cubicBezTo>
                <a:cubicBezTo>
                  <a:pt x="2179772" y="1288146"/>
                  <a:pt x="2203555" y="1229193"/>
                  <a:pt x="2203555" y="1229193"/>
                </a:cubicBezTo>
                <a:cubicBezTo>
                  <a:pt x="2195429" y="1188565"/>
                  <a:pt x="2195344" y="1138680"/>
                  <a:pt x="2158584" y="1109272"/>
                </a:cubicBezTo>
                <a:cubicBezTo>
                  <a:pt x="2146246" y="1099401"/>
                  <a:pt x="2128604" y="1099279"/>
                  <a:pt x="2113614" y="1094282"/>
                </a:cubicBezTo>
                <a:cubicBezTo>
                  <a:pt x="2103620" y="1084288"/>
                  <a:pt x="2094669" y="1073130"/>
                  <a:pt x="2083633" y="1064301"/>
                </a:cubicBezTo>
                <a:cubicBezTo>
                  <a:pt x="2069565" y="1053047"/>
                  <a:pt x="2048211" y="1049598"/>
                  <a:pt x="2038663" y="1034321"/>
                </a:cubicBezTo>
                <a:cubicBezTo>
                  <a:pt x="2025777" y="1013703"/>
                  <a:pt x="2000955" y="917105"/>
                  <a:pt x="1993692" y="884420"/>
                </a:cubicBezTo>
                <a:cubicBezTo>
                  <a:pt x="1988165" y="859548"/>
                  <a:pt x="1987648" y="833325"/>
                  <a:pt x="1978702" y="809469"/>
                </a:cubicBezTo>
                <a:cubicBezTo>
                  <a:pt x="1972376" y="792600"/>
                  <a:pt x="1956779" y="780612"/>
                  <a:pt x="1948722" y="764498"/>
                </a:cubicBezTo>
                <a:cubicBezTo>
                  <a:pt x="1941656" y="750365"/>
                  <a:pt x="1941862" y="733077"/>
                  <a:pt x="1933732" y="719528"/>
                </a:cubicBezTo>
                <a:cubicBezTo>
                  <a:pt x="1926460" y="707409"/>
                  <a:pt x="1912231" y="700854"/>
                  <a:pt x="1903751" y="689547"/>
                </a:cubicBezTo>
                <a:cubicBezTo>
                  <a:pt x="1802054" y="553950"/>
                  <a:pt x="1882566" y="638379"/>
                  <a:pt x="1813810" y="569626"/>
                </a:cubicBezTo>
                <a:cubicBezTo>
                  <a:pt x="1803817" y="539646"/>
                  <a:pt x="1801360" y="505979"/>
                  <a:pt x="1783830" y="479685"/>
                </a:cubicBezTo>
                <a:cubicBezTo>
                  <a:pt x="1773837" y="464695"/>
                  <a:pt x="1761907" y="450829"/>
                  <a:pt x="1753850" y="434715"/>
                </a:cubicBezTo>
                <a:cubicBezTo>
                  <a:pt x="1721931" y="370878"/>
                  <a:pt x="1760428" y="404915"/>
                  <a:pt x="1708879" y="344774"/>
                </a:cubicBezTo>
                <a:cubicBezTo>
                  <a:pt x="1690484" y="323313"/>
                  <a:pt x="1668905" y="304800"/>
                  <a:pt x="1648918" y="284813"/>
                </a:cubicBezTo>
                <a:lnTo>
                  <a:pt x="1603948" y="239842"/>
                </a:lnTo>
                <a:cubicBezTo>
                  <a:pt x="1588958" y="224852"/>
                  <a:pt x="1576616" y="206631"/>
                  <a:pt x="1558977" y="194872"/>
                </a:cubicBezTo>
                <a:cubicBezTo>
                  <a:pt x="1543987" y="184879"/>
                  <a:pt x="1527686" y="176616"/>
                  <a:pt x="1514007" y="164892"/>
                </a:cubicBezTo>
                <a:cubicBezTo>
                  <a:pt x="1492546" y="146497"/>
                  <a:pt x="1477565" y="120610"/>
                  <a:pt x="1454046" y="104931"/>
                </a:cubicBezTo>
                <a:cubicBezTo>
                  <a:pt x="1439056" y="94938"/>
                  <a:pt x="1423144" y="86205"/>
                  <a:pt x="1409076" y="74951"/>
                </a:cubicBezTo>
                <a:cubicBezTo>
                  <a:pt x="1398040" y="66122"/>
                  <a:pt x="1391736" y="51291"/>
                  <a:pt x="1379095" y="44970"/>
                </a:cubicBezTo>
                <a:cubicBezTo>
                  <a:pt x="1350830" y="30837"/>
                  <a:pt x="1319135" y="24983"/>
                  <a:pt x="1289155" y="14990"/>
                </a:cubicBezTo>
                <a:lnTo>
                  <a:pt x="1244184" y="0"/>
                </a:lnTo>
                <a:cubicBezTo>
                  <a:pt x="1129259" y="4997"/>
                  <a:pt x="1013685" y="1805"/>
                  <a:pt x="899410" y="14990"/>
                </a:cubicBezTo>
                <a:cubicBezTo>
                  <a:pt x="862267" y="19276"/>
                  <a:pt x="851814" y="58538"/>
                  <a:pt x="824459" y="74951"/>
                </a:cubicBezTo>
                <a:cubicBezTo>
                  <a:pt x="773141" y="105742"/>
                  <a:pt x="679554" y="74951"/>
                  <a:pt x="644577" y="89941"/>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5384800" cy="558899"/>
          </a:xfrm>
        </p:spPr>
        <p:txBody>
          <a:bodyPr/>
          <a:lstStyle/>
          <a:p>
            <a:r>
              <a:rPr lang="zh-CN" altLang="en-US" dirty="0"/>
              <a:t>数字修约问题</a:t>
            </a:r>
          </a:p>
        </p:txBody>
      </p:sp>
      <p:sp>
        <p:nvSpPr>
          <p:cNvPr id="3" name="文本占位符 2"/>
          <p:cNvSpPr>
            <a:spLocks noGrp="1"/>
          </p:cNvSpPr>
          <p:nvPr>
            <p:ph type="body" sz="half" idx="1"/>
          </p:nvPr>
        </p:nvSpPr>
        <p:spPr>
          <a:xfrm>
            <a:off x="609600" y="980728"/>
            <a:ext cx="11031016" cy="5184576"/>
          </a:xfrm>
        </p:spPr>
        <p:txBody>
          <a:bodyPr>
            <a:normAutofit lnSpcReduction="10000"/>
          </a:bodyPr>
          <a:lstStyle/>
          <a:p>
            <a:pPr marL="0" marR="0" indent="0" algn="just">
              <a:spcBef>
                <a:spcPts val="0"/>
              </a:spcBef>
              <a:spcAft>
                <a:spcPts val="0"/>
              </a:spcAft>
              <a:buNone/>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工作中主要参考以下几种做法：</a:t>
            </a:r>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66675" algn="just">
              <a:spcBef>
                <a:spcPts val="0"/>
              </a:spcBef>
              <a:spcAft>
                <a:spcPts val="0"/>
              </a:spcAft>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）小数的保留位数</a:t>
            </a:r>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混凝土强度相关数据，如强度换算值、强度平均值、强度推定值、推定区间上下限值等，精确到</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0.1MPa</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样本标准差精确到</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0.01MPa</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在计算推定区间时，</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查表得到的</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推定系数（</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en-US" altLang="zh-CN"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en-US" altLang="zh-CN"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）小数点后位数保留不动，直接代入相关公式中进行计算，计算结果</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精确到</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0.1MPa</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marR="0" indent="0" algn="just">
              <a:spcBef>
                <a:spcPts val="0"/>
              </a:spcBef>
              <a:spcAft>
                <a:spcPts val="0"/>
              </a:spcAft>
              <a:buNone/>
            </a:pPr>
            <a:endPar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a:p>
            <a:pPr marL="0" marR="0" indent="0" algn="just">
              <a:spcBef>
                <a:spcPts val="0"/>
              </a:spcBef>
              <a:spcAft>
                <a:spcPts val="0"/>
              </a:spcAft>
              <a:buNone/>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）常用修约规则</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采用更为科学合理的</a:t>
            </a:r>
            <a:r>
              <a:rPr lang="zh-CN" altLang="en-US" sz="2800"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四舍六入五看前，奇进偶不进</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的方法。</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方法为：对有效保留位数的后一位数字进行判断，如果数字不大于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则全部舍去；如果大于等于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6</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则向前进一位；如果等于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5</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则需要考虑几种情况。</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5</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后面有不等于零的数据时直接进位，即保留数字的末位加一。</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5</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后面全部为零的情况，看</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5</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前面的数字为偶数时不进位，为奇数时向前进位。</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indent="0">
              <a:buNone/>
            </a:pPr>
            <a:endParaRPr lang="zh-CN" altLang="en-US" dirty="0"/>
          </a:p>
        </p:txBody>
      </p:sp>
    </p:spTree>
  </p:cSld>
  <p:clrMapOvr>
    <a:masterClrMapping/>
  </p:clrMapOvr>
  <p:transition spd="slow">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1199456" y="764704"/>
            <a:ext cx="9433048" cy="5184576"/>
          </a:xfrm>
        </p:spPr>
        <p:txBody>
          <a:bodyPr>
            <a:normAutofit/>
          </a:bodyPr>
          <a:lstStyle/>
          <a:p>
            <a:pPr marL="0" marR="0" indent="26670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例如：精确到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0.1</a:t>
            </a:r>
          </a:p>
          <a:p>
            <a:pPr marL="0" marR="0" indent="266700" algn="just">
              <a:spcBef>
                <a:spcPts val="0"/>
              </a:spcBef>
              <a:spcAft>
                <a:spcPts val="0"/>
              </a:spcAft>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35.44000</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35.4  </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四舍</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35.48000</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35.5  </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六入</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35.25001</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35.3  </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五后有数要进位</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35.25000</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35.2  </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五前偶数不进位</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35.25000</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35.3  </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五前奇数要进位</a:t>
            </a:r>
            <a:endPar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a:p>
            <a:pPr marL="0" marR="0" indent="0" algn="just">
              <a:spcBef>
                <a:spcPts val="0"/>
              </a:spcBef>
              <a:spcAft>
                <a:spcPts val="0"/>
              </a:spcAft>
              <a:buNone/>
            </a:pPr>
            <a:endPar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a:p>
            <a:pPr marL="0" marR="0" indent="0" algn="just">
              <a:spcBef>
                <a:spcPts val="0"/>
              </a:spcBef>
              <a:spcAft>
                <a:spcPts val="0"/>
              </a:spcAft>
              <a:buNone/>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）碳化深度修约规则</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对于碳化深度的量测，大部分检测标准要求精确到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0.5mm</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。而回弹法新规程</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JGJ/T 23-2011</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规定碳化深度要量测</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次，每次读数要精确至</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0.25mm</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，然后取三次测量的平均值作为检测结果，并应精确到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0.5mm</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。如果修约不正确，碳化深度经常会出现差</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0.5mm</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的现象，对检测结果有显著影响。</a:t>
            </a:r>
          </a:p>
          <a:p>
            <a:r>
              <a:rPr lang="zh-CN" altLang="en-US" sz="18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涉及到不同的修约间隔问题</a:t>
            </a:r>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18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修约间隔就是</a:t>
            </a:r>
            <a:r>
              <a:rPr lang="en-US" altLang="zh-CN" sz="18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0.5</a:t>
            </a:r>
            <a:r>
              <a:rPr lang="zh-CN" altLang="en-US" sz="18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，常用的</a:t>
            </a:r>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修约间隔是</a:t>
            </a:r>
            <a:r>
              <a:rPr lang="en-US" altLang="zh-CN" sz="1800" kern="100" dirty="0">
                <a:latin typeface="Calibri" panose="020F0502020204030204" pitchFamily="34" charset="0"/>
                <a:ea typeface="宋体" panose="02010600030101010101" pitchFamily="2" charset="-122"/>
                <a:cs typeface="Times New Roman" panose="02020603050405020304" pitchFamily="18" charset="0"/>
              </a:rPr>
              <a:t>0.1</a:t>
            </a:r>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介绍和使用起来更加繁琐，使用起来很不方便。</a:t>
            </a:r>
            <a:endParaRPr lang="zh-CN" altLang="en-US" dirty="0"/>
          </a:p>
        </p:txBody>
      </p:sp>
    </p:spTree>
  </p:cSld>
  <p:clrMapOvr>
    <a:masterClrMapping/>
  </p:clrMapOvr>
  <p:transition spd="slow">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1127448" y="526368"/>
            <a:ext cx="9577064" cy="4990864"/>
          </a:xfrm>
        </p:spPr>
        <p:txBody>
          <a:bodyPr>
            <a:normAutofit/>
          </a:bodyPr>
          <a:lstStyle/>
          <a:p>
            <a:pPr marL="0" marR="0" indent="0" algn="just">
              <a:lnSpc>
                <a:spcPct val="150000"/>
              </a:lnSpc>
              <a:spcBef>
                <a:spcPts val="0"/>
              </a:spcBef>
              <a:spcAft>
                <a:spcPts val="0"/>
              </a:spcAft>
              <a:buNone/>
            </a:pPr>
            <a:r>
              <a:rPr lang="zh-CN" altLang="en-US" sz="32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碳化深度修约简化方法</a:t>
            </a:r>
            <a:endParaRPr lang="en-US" altLang="zh-CN" sz="32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marR="0" indent="266700" algn="just">
              <a:lnSpc>
                <a:spcPct val="150000"/>
              </a:lnSpc>
              <a:spcBef>
                <a:spcPts val="0"/>
              </a:spcBef>
              <a:spcAft>
                <a:spcPts val="0"/>
              </a:spcAft>
            </a:pP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碳化深度数据要</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精确到</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0.5mm</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，小数点后的数字</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以</a:t>
            </a:r>
            <a:r>
              <a:rPr lang="en-US" alt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的一半，即</a:t>
            </a:r>
            <a:r>
              <a:rPr lang="en-US" alt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0.25</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为中间点，</a:t>
            </a:r>
            <a:endParaRPr lang="en-US" altLang="zh-CN"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marR="0" indent="266700" algn="just">
              <a:lnSpc>
                <a:spcPct val="150000"/>
              </a:lnSpc>
              <a:spcBef>
                <a:spcPts val="0"/>
              </a:spcBef>
              <a:spcAft>
                <a:spcPts val="0"/>
              </a:spcAft>
            </a:pP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0.25</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的向下靠近，＞</a:t>
            </a:r>
            <a:r>
              <a:rPr lang="en-US" alt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0.25</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的向上靠近，</a:t>
            </a:r>
            <a:r>
              <a:rPr lang="en-US" altLang="zh-CN"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0.75</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的向上靠近。</a:t>
            </a:r>
            <a:endPar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lnSpc>
                <a:spcPct val="150000"/>
              </a:lnSpc>
              <a:spcBef>
                <a:spcPts val="0"/>
              </a:spcBef>
              <a:spcAft>
                <a:spcPts val="0"/>
              </a:spcAft>
            </a:pP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例如：</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精确到</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0.5</a:t>
            </a:r>
          </a:p>
          <a:p>
            <a:pPr marL="0" marR="0" indent="266700" algn="just">
              <a:lnSpc>
                <a:spcPct val="150000"/>
              </a:lnSpc>
              <a:spcBef>
                <a:spcPts val="0"/>
              </a:spcBef>
              <a:spcAft>
                <a:spcPts val="0"/>
              </a:spcAft>
            </a:pP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0.17</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0.0  </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小于</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0.25</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向下靠近</a:t>
            </a:r>
            <a:endPar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lnSpc>
                <a:spcPct val="150000"/>
              </a:lnSpc>
              <a:spcBef>
                <a:spcPts val="0"/>
              </a:spcBef>
              <a:spcAft>
                <a:spcPts val="0"/>
              </a:spcAft>
            </a:pP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0.33</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0.5  </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大于</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0.25</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向上靠近</a:t>
            </a:r>
            <a:endPar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lnSpc>
                <a:spcPct val="150000"/>
              </a:lnSpc>
              <a:spcBef>
                <a:spcPts val="0"/>
              </a:spcBef>
              <a:spcAft>
                <a:spcPts val="0"/>
              </a:spcAft>
            </a:pP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1.67</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1.5  </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小于</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0.25</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向下靠近</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(0.67-0.5=0.17</a:t>
            </a:r>
            <a:r>
              <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rPr>
              <a:t>，先减去</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0.5)</a:t>
            </a:r>
          </a:p>
          <a:p>
            <a:pPr marL="0" marR="0" indent="266700" algn="just">
              <a:lnSpc>
                <a:spcPct val="150000"/>
              </a:lnSpc>
              <a:spcBef>
                <a:spcPts val="0"/>
              </a:spcBef>
              <a:spcAft>
                <a:spcPts val="0"/>
              </a:spcAft>
            </a:pP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1.83</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2.0  </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大于</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0.25</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向上靠近</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(0.83-0.5=0.33</a:t>
            </a:r>
            <a:r>
              <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rPr>
              <a:t>，先减去</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0.5)</a:t>
            </a:r>
          </a:p>
          <a:p>
            <a:pPr marL="0" marR="0" indent="266700" algn="just">
              <a:lnSpc>
                <a:spcPct val="150000"/>
              </a:lnSpc>
              <a:spcBef>
                <a:spcPts val="0"/>
              </a:spcBef>
              <a:spcAft>
                <a:spcPts val="0"/>
              </a:spcAft>
            </a:pP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1.25</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1.0  </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等于</a:t>
            </a:r>
            <a:r>
              <a:rPr lang="en-US" alt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0.25</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的向下靠近</a:t>
            </a:r>
            <a:endPar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lnSpc>
                <a:spcPct val="150000"/>
              </a:lnSpc>
              <a:spcBef>
                <a:spcPts val="0"/>
              </a:spcBef>
              <a:spcAft>
                <a:spcPts val="0"/>
              </a:spcAft>
            </a:pP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1.75</a:t>
            </a:r>
            <a:r>
              <a:rPr lang="zh-CN" altLang="en-US" sz="20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effectLst/>
                <a:latin typeface="Calibri" panose="020F0502020204030204" pitchFamily="34" charset="0"/>
                <a:ea typeface="宋体" panose="02010600030101010101" pitchFamily="2" charset="-122"/>
                <a:cs typeface="Times New Roman" panose="02020603050405020304" pitchFamily="18" charset="0"/>
              </a:rPr>
              <a:t>2.0</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等于</a:t>
            </a:r>
            <a:r>
              <a:rPr lang="en-US" alt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0.75</a:t>
            </a:r>
            <a:r>
              <a:rPr lang="zh-CN" alt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的向上靠近</a:t>
            </a:r>
            <a:endParaRPr lang="zh-CN" altLang="en-US" sz="20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transition spd="slow">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911424" y="277813"/>
            <a:ext cx="5256584" cy="919162"/>
          </a:xfrm>
        </p:spPr>
        <p:txBody>
          <a:bodyPr vert="horz" wrap="square" lIns="91440" tIns="45720" rIns="91440" bIns="45720" anchor="ctr" anchorCtr="0">
            <a:normAutofit/>
          </a:bodyPr>
          <a:lstStyle/>
          <a:p>
            <a:pPr algn="l"/>
            <a:r>
              <a:rPr lang="en-US" altLang="zh-CN" sz="3600" dirty="0"/>
              <a:t>8.</a:t>
            </a:r>
            <a:r>
              <a:rPr lang="zh-CN" altLang="en-US" sz="3600" dirty="0"/>
              <a:t>回弹强度的计算</a:t>
            </a:r>
          </a:p>
        </p:txBody>
      </p:sp>
      <p:sp>
        <p:nvSpPr>
          <p:cNvPr id="61443" name="文本占位符 2"/>
          <p:cNvSpPr>
            <a:spLocks noGrp="1"/>
          </p:cNvSpPr>
          <p:nvPr>
            <p:ph type="body" sz="half" idx="1"/>
          </p:nvPr>
        </p:nvSpPr>
        <p:spPr>
          <a:xfrm>
            <a:off x="767408" y="1844824"/>
            <a:ext cx="8435975" cy="2520057"/>
          </a:xfrm>
        </p:spPr>
        <p:txBody>
          <a:bodyPr vert="horz" wrap="square" lIns="91440" tIns="45720" rIns="91440" bIns="45720" anchor="t" anchorCtr="0"/>
          <a:lstStyle/>
          <a:p>
            <a:pPr marL="0" indent="0">
              <a:buClr>
                <a:schemeClr val="tx2"/>
              </a:buClr>
              <a:buSzPct val="50000"/>
              <a:buFont typeface="Wingdings 2" panose="05020102010507070707" pitchFamily="18" charset="2"/>
              <a:buNone/>
            </a:pPr>
            <a:r>
              <a:rPr lang="en-US" altLang="zh-CN" dirty="0"/>
              <a:t>    </a:t>
            </a:r>
            <a:r>
              <a:rPr lang="zh-CN" altLang="en-US" dirty="0"/>
              <a:t>查表法</a:t>
            </a:r>
            <a:r>
              <a:rPr lang="en-US" altLang="zh-CN" dirty="0"/>
              <a:t>——</a:t>
            </a:r>
            <a:r>
              <a:rPr lang="zh-CN" altLang="en-US" dirty="0"/>
              <a:t>结果与标准一致</a:t>
            </a:r>
            <a:endParaRPr lang="en-US" altLang="zh-CN" dirty="0"/>
          </a:p>
          <a:p>
            <a:pPr marL="0" indent="0">
              <a:buClr>
                <a:schemeClr val="tx2"/>
              </a:buClr>
              <a:buSzPct val="50000"/>
              <a:buFont typeface="Wingdings 2" panose="05020102010507070707" pitchFamily="18" charset="2"/>
              <a:buNone/>
            </a:pPr>
            <a:r>
              <a:rPr lang="en-US" altLang="zh-CN" dirty="0"/>
              <a:t>    </a:t>
            </a:r>
            <a:r>
              <a:rPr lang="zh-CN" altLang="en-US" dirty="0"/>
              <a:t>公式法（回归方程）</a:t>
            </a:r>
            <a:endParaRPr lang="en-US" altLang="zh-CN" dirty="0"/>
          </a:p>
          <a:p>
            <a:pPr marL="0" indent="0">
              <a:buClr>
                <a:schemeClr val="tx2"/>
              </a:buClr>
              <a:buSzPct val="50000"/>
              <a:buFont typeface="Wingdings 2" panose="05020102010507070707" pitchFamily="18" charset="2"/>
              <a:buNone/>
            </a:pPr>
            <a:r>
              <a:rPr lang="zh-CN" altLang="en-US" dirty="0"/>
              <a:t>    专业处理软件（要经过验证）</a:t>
            </a:r>
            <a:endParaRPr lang="en-US" altLang="zh-CN" dirty="0"/>
          </a:p>
          <a:p>
            <a:pPr marL="0" indent="0">
              <a:buClr>
                <a:schemeClr val="tx2"/>
              </a:buClr>
              <a:buSzPct val="50000"/>
              <a:buFont typeface="Wingdings 2" panose="05020102010507070707" pitchFamily="18" charset="2"/>
              <a:buNone/>
            </a:pPr>
            <a:r>
              <a:rPr lang="en-US" altLang="zh-CN" dirty="0"/>
              <a:t>    </a:t>
            </a:r>
            <a:r>
              <a:rPr lang="zh-CN" altLang="en-US" dirty="0"/>
              <a:t>自编计算公式（</a:t>
            </a:r>
            <a:r>
              <a:rPr lang="en-US" altLang="zh-CN" dirty="0"/>
              <a:t>Excel</a:t>
            </a:r>
            <a:r>
              <a:rPr lang="zh-CN" altLang="en-US" dirty="0"/>
              <a:t>公式）</a:t>
            </a:r>
          </a:p>
        </p:txBody>
      </p:sp>
      <p:sp>
        <p:nvSpPr>
          <p:cNvPr id="3" name="文本占位符 2"/>
          <p:cNvSpPr>
            <a:spLocks noGrp="1" noRot="1" noChangeAspect="1" noMove="1" noResize="1" noEditPoints="1" noAdjustHandles="1" noChangeArrowheads="1" noChangeShapeType="1" noTextEdit="1"/>
          </p:cNvSpPr>
          <p:nvPr/>
        </p:nvSpPr>
        <p:spPr bwMode="auto">
          <a:xfrm>
            <a:off x="7392035" y="1628775"/>
            <a:ext cx="5052060" cy="1215390"/>
          </a:xfrm>
          <a:prstGeom prst="rect">
            <a:avLst/>
          </a:prstGeom>
          <a:blipFill rotWithShape="1">
            <a:blip r:embed="rId2"/>
            <a:stretch>
              <a:fillRect l="-1879" t="-2388" b="-37313"/>
            </a:stretch>
          </a:blipFill>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3"/>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r>
              <a:rPr kumimoji="0" lang="zh-CN" altLang="en-US" sz="3200" b="0" i="0" u="none" strike="noStrike" kern="1200" cap="none" spc="0" normalizeH="0" baseline="0" noProof="0">
                <a:ln>
                  <a:noFill/>
                </a:ln>
                <a:noFill/>
                <a:effectLst/>
                <a:uLnTx/>
                <a:uFillTx/>
                <a:latin typeface="+mn-lt"/>
                <a:ea typeface="+mn-ea"/>
                <a:cs typeface="+mn-cs"/>
              </a:rPr>
              <a:t> </a:t>
            </a:r>
          </a:p>
        </p:txBody>
      </p:sp>
    </p:spTree>
  </p:cSld>
  <p:clrMapOvr>
    <a:masterClrMapping/>
  </p:clrMapOvr>
  <p:transition spd="slow">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文本占位符 2"/>
          <p:cNvSpPr>
            <a:spLocks noGrp="1"/>
          </p:cNvSpPr>
          <p:nvPr>
            <p:ph type="body" sz="half" idx="1"/>
          </p:nvPr>
        </p:nvSpPr>
        <p:spPr>
          <a:xfrm>
            <a:off x="1631315" y="958215"/>
            <a:ext cx="7705045" cy="4559017"/>
          </a:xfrm>
        </p:spPr>
        <p:txBody>
          <a:bodyPr vert="horz" wrap="square" lIns="91440" tIns="45720" rIns="91440" bIns="45720" anchor="t" anchorCtr="0">
            <a:normAutofit/>
          </a:bodyPr>
          <a:lstStyle/>
          <a:p>
            <a:pPr marL="0" indent="0" eaLnBrk="1" hangingPunct="1">
              <a:buClr>
                <a:schemeClr val="tx2"/>
              </a:buClr>
              <a:buSzPct val="50000"/>
              <a:buFont typeface="Wingdings 2" panose="05020102010507070707" pitchFamily="18" charset="2"/>
              <a:buNone/>
            </a:pPr>
            <a:r>
              <a:rPr lang="zh-CN" altLang="en-US" dirty="0"/>
              <a:t>计算进要选择的参数</a:t>
            </a:r>
            <a:endParaRPr lang="en-US" altLang="zh-CN" dirty="0"/>
          </a:p>
          <a:p>
            <a:pPr marL="0" indent="0" eaLnBrk="1" hangingPunct="1">
              <a:buClr>
                <a:schemeClr val="tx2"/>
              </a:buClr>
              <a:buSzPct val="50000"/>
              <a:buFont typeface="Wingdings 2" panose="05020102010507070707" pitchFamily="18" charset="2"/>
              <a:buNone/>
            </a:pPr>
            <a:r>
              <a:rPr lang="en-US" altLang="zh-CN" dirty="0"/>
              <a:t>    </a:t>
            </a:r>
            <a:r>
              <a:rPr lang="zh-CN" altLang="en-US" dirty="0"/>
              <a:t>方法标准（新、旧；行、地、企、高强、泵送）</a:t>
            </a:r>
            <a:endParaRPr lang="en-US" altLang="zh-CN" dirty="0"/>
          </a:p>
          <a:p>
            <a:pPr marL="0" indent="0" eaLnBrk="1" hangingPunct="1">
              <a:buClr>
                <a:schemeClr val="tx2"/>
              </a:buClr>
              <a:buSzPct val="50000"/>
              <a:buFont typeface="Wingdings 2" panose="05020102010507070707" pitchFamily="18" charset="2"/>
              <a:buNone/>
            </a:pPr>
            <a:r>
              <a:rPr lang="en-US" altLang="zh-CN" dirty="0"/>
              <a:t>    </a:t>
            </a:r>
            <a:r>
              <a:rPr lang="zh-CN" altLang="en-US" dirty="0"/>
              <a:t>测试面： 侧面、表面、底面</a:t>
            </a:r>
            <a:endParaRPr lang="en-US" altLang="zh-CN" dirty="0"/>
          </a:p>
          <a:p>
            <a:pPr marL="0" indent="0" eaLnBrk="1" hangingPunct="1">
              <a:buClr>
                <a:schemeClr val="tx2"/>
              </a:buClr>
              <a:buSzPct val="50000"/>
              <a:buFont typeface="Wingdings 2" panose="05020102010507070707" pitchFamily="18" charset="2"/>
              <a:buNone/>
            </a:pPr>
            <a:r>
              <a:rPr lang="en-US" altLang="zh-CN" dirty="0"/>
              <a:t>    </a:t>
            </a:r>
            <a:r>
              <a:rPr lang="zh-CN" altLang="en-US" dirty="0"/>
              <a:t>弹击角度：水平、向下、向上、其它角度</a:t>
            </a:r>
            <a:endParaRPr lang="en-US" altLang="zh-CN" dirty="0"/>
          </a:p>
          <a:p>
            <a:pPr marL="0" indent="0" eaLnBrk="1" hangingPunct="1">
              <a:buClr>
                <a:schemeClr val="tx2"/>
              </a:buClr>
              <a:buSzPct val="50000"/>
              <a:buFont typeface="Wingdings 2" panose="05020102010507070707" pitchFamily="18" charset="2"/>
              <a:buNone/>
            </a:pPr>
            <a:r>
              <a:rPr lang="en-US" altLang="zh-CN" dirty="0"/>
              <a:t>    </a:t>
            </a:r>
            <a:r>
              <a:rPr lang="zh-CN" altLang="en-US" dirty="0"/>
              <a:t>碳化深度确认：</a:t>
            </a:r>
          </a:p>
          <a:p>
            <a:pPr marL="0" indent="0" eaLnBrk="1" hangingPunct="1">
              <a:buClr>
                <a:schemeClr val="tx2"/>
              </a:buClr>
              <a:buSzPct val="50000"/>
              <a:buFont typeface="Wingdings 2" panose="05020102010507070707" pitchFamily="18" charset="2"/>
              <a:buNone/>
            </a:pPr>
            <a:r>
              <a:rPr lang="zh-CN" altLang="en-US" dirty="0"/>
              <a:t> </a:t>
            </a:r>
            <a:r>
              <a:rPr lang="en-US" altLang="zh-CN" dirty="0"/>
              <a:t>   </a:t>
            </a:r>
            <a:r>
              <a:rPr lang="zh-CN" altLang="en-US" dirty="0"/>
              <a:t>是否泵送</a:t>
            </a:r>
            <a:endParaRPr lang="en-US" altLang="zh-CN" dirty="0"/>
          </a:p>
          <a:p>
            <a:pPr marL="0" indent="0" eaLnBrk="1" hangingPunct="1">
              <a:buClr>
                <a:schemeClr val="tx2"/>
              </a:buClr>
              <a:buSzPct val="50000"/>
              <a:buFont typeface="Wingdings 2" panose="05020102010507070707" pitchFamily="18" charset="2"/>
              <a:buNone/>
            </a:pPr>
            <a:r>
              <a:rPr lang="en-US" altLang="zh-CN" dirty="0"/>
              <a:t>    </a:t>
            </a:r>
            <a:r>
              <a:rPr lang="zh-CN" altLang="en-US" dirty="0"/>
              <a:t>修正：修正量或修正系数</a:t>
            </a:r>
            <a:r>
              <a:rPr lang="en-US" altLang="zh-CN" dirty="0"/>
              <a:t> </a:t>
            </a:r>
            <a:endParaRPr lang="zh-CN" altLang="en-US" sz="2400" dirty="0"/>
          </a:p>
        </p:txBody>
      </p:sp>
    </p:spTree>
  </p:cSld>
  <p:clrMapOvr>
    <a:masterClrMapping/>
  </p:clrMapOvr>
  <p:transition spd="slow">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文本占位符 2"/>
          <p:cNvSpPr>
            <a:spLocks noGrp="1"/>
          </p:cNvSpPr>
          <p:nvPr>
            <p:ph type="body" sz="half" idx="1"/>
          </p:nvPr>
        </p:nvSpPr>
        <p:spPr>
          <a:xfrm>
            <a:off x="695401" y="404664"/>
            <a:ext cx="3096344" cy="2448272"/>
          </a:xfrm>
        </p:spPr>
        <p:txBody>
          <a:bodyPr vert="horz" wrap="square" lIns="91440" tIns="45720" rIns="91440" bIns="45720" anchor="t" anchorCtr="0">
            <a:normAutofit/>
          </a:bodyPr>
          <a:lstStyle/>
          <a:p>
            <a:pPr marL="0" indent="0" eaLnBrk="1" hangingPunct="1">
              <a:buClr>
                <a:schemeClr val="tx2"/>
              </a:buClr>
              <a:buSzPct val="50000"/>
              <a:buFont typeface="Wingdings 2" panose="05020102010507070707" pitchFamily="18" charset="2"/>
              <a:buNone/>
            </a:pPr>
            <a:r>
              <a:rPr lang="zh-CN" altLang="en-US" dirty="0"/>
              <a:t>打印成果</a:t>
            </a:r>
            <a:endParaRPr lang="en-US" altLang="zh-CN" dirty="0"/>
          </a:p>
          <a:p>
            <a:pPr marL="0" indent="0" eaLnBrk="1" hangingPunct="1">
              <a:buClr>
                <a:schemeClr val="tx2"/>
              </a:buClr>
              <a:buSzPct val="50000"/>
              <a:buFont typeface="Wingdings 2" panose="05020102010507070707" pitchFamily="18" charset="2"/>
              <a:buNone/>
            </a:pPr>
            <a:r>
              <a:rPr lang="en-US" altLang="zh-CN" dirty="0"/>
              <a:t>    </a:t>
            </a:r>
            <a:r>
              <a:rPr lang="zh-CN" altLang="en-US" dirty="0"/>
              <a:t>回弹数据表</a:t>
            </a:r>
            <a:endParaRPr lang="en-US" altLang="zh-CN" dirty="0"/>
          </a:p>
          <a:p>
            <a:pPr marL="0" indent="0" eaLnBrk="1" hangingPunct="1">
              <a:buClr>
                <a:schemeClr val="tx2"/>
              </a:buClr>
              <a:buSzPct val="50000"/>
              <a:buFont typeface="Wingdings 2" panose="05020102010507070707" pitchFamily="18" charset="2"/>
              <a:buNone/>
            </a:pPr>
            <a:r>
              <a:rPr lang="en-US" altLang="zh-CN" dirty="0"/>
              <a:t>    </a:t>
            </a:r>
            <a:r>
              <a:rPr lang="zh-CN" altLang="en-US" dirty="0"/>
              <a:t>强度换算表</a:t>
            </a:r>
            <a:endParaRPr lang="en-US" altLang="zh-CN" dirty="0"/>
          </a:p>
          <a:p>
            <a:pPr marL="0" indent="0" eaLnBrk="1" hangingPunct="1">
              <a:buClr>
                <a:schemeClr val="tx2"/>
              </a:buClr>
              <a:buSzPct val="50000"/>
              <a:buFont typeface="Wingdings 2" panose="05020102010507070707" pitchFamily="18" charset="2"/>
              <a:buNone/>
            </a:pPr>
            <a:r>
              <a:rPr lang="en-US" altLang="zh-CN" dirty="0"/>
              <a:t>    </a:t>
            </a:r>
            <a:r>
              <a:rPr lang="zh-CN" altLang="en-US" dirty="0"/>
              <a:t>构件强度汇总表</a:t>
            </a:r>
            <a:endParaRPr lang="en-US" altLang="zh-CN" dirty="0"/>
          </a:p>
        </p:txBody>
      </p:sp>
      <p:pic>
        <p:nvPicPr>
          <p:cNvPr id="4" name="图片 3">
            <a:extLst>
              <a:ext uri="{FF2B5EF4-FFF2-40B4-BE49-F238E27FC236}">
                <a16:creationId xmlns:a16="http://schemas.microsoft.com/office/drawing/2014/main" id="{7197B7F7-C3D7-4285-9B8E-771B672656DA}"/>
              </a:ext>
            </a:extLst>
          </p:cNvPr>
          <p:cNvPicPr>
            <a:picLocks noChangeAspect="1"/>
          </p:cNvPicPr>
          <p:nvPr/>
        </p:nvPicPr>
        <p:blipFill>
          <a:blip r:embed="rId2"/>
          <a:stretch>
            <a:fillRect/>
          </a:stretch>
        </p:blipFill>
        <p:spPr>
          <a:xfrm>
            <a:off x="705766" y="2996952"/>
            <a:ext cx="10874333" cy="2778174"/>
          </a:xfrm>
          <a:prstGeom prst="rect">
            <a:avLst/>
          </a:prstGeom>
        </p:spPr>
      </p:pic>
    </p:spTree>
  </p:cSld>
  <p:clrMapOvr>
    <a:masterClrMapping/>
  </p:clrMapOvr>
  <p:transition spd="slow">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Rectangle 3"/>
          <p:cNvSpPr>
            <a:spLocks noGrp="1" noChangeArrowheads="1"/>
          </p:cNvSpPr>
          <p:nvPr>
            <p:ph idx="1"/>
          </p:nvPr>
        </p:nvSpPr>
        <p:spPr>
          <a:xfrm>
            <a:off x="1775460" y="620395"/>
            <a:ext cx="9196070" cy="5616575"/>
          </a:xfrm>
        </p:spPr>
        <p:txBody>
          <a:bodyPr vert="horz" wrap="square" lIns="91440" tIns="45720" rIns="91440" bIns="45720" numCol="1" rtlCol="0" anchor="t" anchorCtr="0" compatLnSpc="1">
            <a:normAutofit fontScale="72500" lnSpcReduction="20000"/>
          </a:bodyPr>
          <a:lstStyle/>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altLang="en-US" sz="4400" b="0" i="0" u="none" strike="noStrike" kern="1200" cap="none" spc="0" normalizeH="0" baseline="0" noProof="0" dirty="0" err="1">
                <a:ln>
                  <a:noFill/>
                </a:ln>
                <a:solidFill>
                  <a:schemeClr val="tx1"/>
                </a:solidFill>
                <a:effectLst/>
                <a:uLnTx/>
                <a:uFillTx/>
                <a:latin typeface="黑体" panose="02010609060101010101" pitchFamily="49" charset="-122"/>
                <a:ea typeface="黑体" panose="02010609060101010101" pitchFamily="49" charset="-122"/>
                <a:cs typeface="+mn-cs"/>
              </a:rPr>
              <a:t>非标准状态的修正</a:t>
            </a:r>
            <a:endParaRPr kumimoji="0" lang="en-US" altLang="zh-CN" sz="4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endParaRPr kumimoji="0" lang="en-US" altLang="en-US" sz="4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altLang="en-US" sz="2800" b="0" i="0" u="none" strike="noStrike" kern="1200" cap="none" spc="0" normalizeH="0" baseline="0" noProof="0" dirty="0" err="1">
                <a:ln>
                  <a:noFill/>
                </a:ln>
                <a:solidFill>
                  <a:schemeClr val="tx1"/>
                </a:solidFill>
                <a:effectLst/>
                <a:uLnTx/>
                <a:uFillTx/>
                <a:latin typeface="黑体" panose="02010609060101010101" pitchFamily="49" charset="-122"/>
                <a:ea typeface="黑体" panose="02010609060101010101" pitchFamily="49" charset="-122"/>
                <a:cs typeface="+mn-cs"/>
              </a:rPr>
              <a:t>角度修正</a:t>
            </a: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en-US"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altLang="en-US" sz="2800" b="0" i="0" u="none" strike="noStrike" kern="1200" cap="none" spc="0" normalizeH="0" baseline="0" noProof="0" dirty="0" err="1">
                <a:ln>
                  <a:noFill/>
                </a:ln>
                <a:solidFill>
                  <a:schemeClr val="tx1"/>
                </a:solidFill>
                <a:effectLst/>
                <a:uLnTx/>
                <a:uFillTx/>
                <a:latin typeface="黑体" panose="02010609060101010101" pitchFamily="49" charset="-122"/>
                <a:ea typeface="黑体" panose="02010609060101010101" pitchFamily="49" charset="-122"/>
                <a:cs typeface="+mn-cs"/>
              </a:rPr>
              <a:t>对重力影响的修正，向下为加，向上为减</a:t>
            </a:r>
            <a:endParaRPr kumimoji="0" lang="en-US"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endPar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altLang="en-US" sz="2800" b="0" i="0" u="none" strike="noStrike" kern="1200" cap="none" spc="0" normalizeH="0" baseline="0" noProof="0" dirty="0" err="1">
                <a:ln>
                  <a:noFill/>
                </a:ln>
                <a:solidFill>
                  <a:schemeClr val="tx1"/>
                </a:solidFill>
                <a:effectLst/>
                <a:uLnTx/>
                <a:uFillTx/>
                <a:latin typeface="黑体" panose="02010609060101010101" pitchFamily="49" charset="-122"/>
                <a:ea typeface="黑体" panose="02010609060101010101" pitchFamily="49" charset="-122"/>
                <a:cs typeface="+mn-cs"/>
              </a:rPr>
              <a:t>浇筑面的修正</a:t>
            </a: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en-US"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altLang="en-US" sz="2800" b="0" i="0" u="none" strike="noStrike" kern="1200" cap="none" spc="0" normalizeH="0" baseline="0" noProof="0" dirty="0" err="1">
                <a:ln>
                  <a:noFill/>
                </a:ln>
                <a:solidFill>
                  <a:schemeClr val="tx1"/>
                </a:solidFill>
                <a:effectLst/>
                <a:uLnTx/>
                <a:uFillTx/>
                <a:latin typeface="黑体" panose="02010609060101010101" pitchFamily="49" charset="-122"/>
                <a:ea typeface="黑体" panose="02010609060101010101" pitchFamily="49" charset="-122"/>
                <a:cs typeface="+mn-cs"/>
              </a:rPr>
              <a:t>表面水泥浆多，底面石子多，表面为加，底面为减</a:t>
            </a:r>
            <a:endParaRPr kumimoji="0" lang="en-US"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endParaRPr kumimoji="0" lang="en-US"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rPr>
              <a:t> </a:t>
            </a:r>
            <a:r>
              <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rPr>
              <a:t>碳化修正：</a:t>
            </a:r>
            <a:endPar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endPar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rPr>
              <a:t> 泵送修正：（北京地区曲线、行业标准两个曲线）</a:t>
            </a:r>
            <a:endPar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rPr>
              <a:t> </a:t>
            </a: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2" panose="05020102010507070707" pitchFamily="18" charset="2"/>
              <a:buNone/>
              <a:defRPr/>
            </a:pPr>
            <a:r>
              <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rPr>
              <a:t> 芯样或同条件试块修正</a:t>
            </a: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en-US"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修正顺序：</a:t>
            </a: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角度</a:t>
            </a:r>
            <a:r>
              <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rPr>
              <a:t>—</a:t>
            </a: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浇筑面</a:t>
            </a:r>
            <a:r>
              <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rPr>
              <a:t>—</a:t>
            </a: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碳化</a:t>
            </a:r>
            <a:r>
              <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rPr>
              <a:t>—</a:t>
            </a: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芯样</a:t>
            </a:r>
            <a:r>
              <a:rPr kumimoji="0" lang="en-US" altLang="zh-CN" sz="2800" b="0" i="0" u="none" strike="noStrike" kern="1200" cap="none" spc="0" normalizeH="0" baseline="0" noProof="0" dirty="0">
                <a:ln>
                  <a:noFill/>
                </a:ln>
                <a:solidFill>
                  <a:schemeClr val="tx1"/>
                </a:solidFill>
                <a:effectLst/>
                <a:uLnTx/>
                <a:uFillTx/>
                <a:latin typeface="黑体" panose="02010609060101010101" pitchFamily="49" charset="-122"/>
                <a:ea typeface="+mn-ea"/>
                <a:cs typeface="+mn-cs"/>
              </a:rPr>
              <a:t>/</a:t>
            </a:r>
            <a:r>
              <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同条件试块</a:t>
            </a: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endParaRPr kumimoji="0"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auto" latinLnBrk="0" hangingPunct="1">
              <a:lnSpc>
                <a:spcPct val="100000"/>
              </a:lnSpc>
              <a:spcBef>
                <a:spcPct val="20000"/>
              </a:spcBef>
              <a:spcAft>
                <a:spcPts val="0"/>
              </a:spcAft>
              <a:buClr>
                <a:schemeClr val="tx2"/>
              </a:buClr>
              <a:buSzPct val="50000"/>
              <a:buFont typeface="Wingdings" panose="05000000000000000000" pitchFamily="2" charset="2"/>
              <a:buNone/>
              <a:defRPr/>
            </a:pPr>
            <a:r>
              <a:rPr kumimoji="0" lang="en-US" sz="28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  </a:t>
            </a:r>
            <a:r>
              <a:rPr kumimoji="0" lang="zh-CN" altLang="en-US" sz="28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问题：采用芯样修正时，是否还需要角度和浇筑面修正？</a:t>
            </a:r>
          </a:p>
        </p:txBody>
      </p:sp>
      <p:sp>
        <p:nvSpPr>
          <p:cNvPr id="2" name="文本框 1"/>
          <p:cNvSpPr txBox="1"/>
          <p:nvPr/>
        </p:nvSpPr>
        <p:spPr>
          <a:xfrm>
            <a:off x="1256665" y="3422650"/>
            <a:ext cx="4064000" cy="370840"/>
          </a:xfrm>
          <a:prstGeom prst="rect">
            <a:avLst/>
          </a:prstGeom>
          <a:noFill/>
        </p:spPr>
        <p:txBody>
          <a:bodyPr wrap="square" rtlCol="0">
            <a:spAutoFit/>
          </a:bodyPr>
          <a:lstStyle/>
          <a:p>
            <a:pPr>
              <a:lnSpc>
                <a:spcPct val="130000"/>
              </a:lnSpc>
            </a:pPr>
            <a:endParaRPr lang="zh-CN" altLang="en-US" sz="1400" dirty="0">
              <a:latin typeface="Arial" panose="020B0604020202020204" pitchFamily="34" charset="0"/>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p:cNvSpPr>
          <p:nvPr>
            <p:ph type="title"/>
          </p:nvPr>
        </p:nvSpPr>
        <p:spPr>
          <a:xfrm>
            <a:off x="1981200" y="692150"/>
            <a:ext cx="8229600" cy="725488"/>
          </a:xfrm>
        </p:spPr>
        <p:txBody>
          <a:bodyPr vert="horz" wrap="square" lIns="91440" tIns="45720" rIns="91440" bIns="45720" anchor="ctr" anchorCtr="0"/>
          <a:lstStyle/>
          <a:p>
            <a:pPr algn="l" eaLnBrk="1" hangingPunct="1"/>
            <a:r>
              <a:rPr lang="zh-CN" altLang="en-US" sz="3600" dirty="0">
                <a:latin typeface="黑体" panose="02010609060101010101" pitchFamily="49" charset="-122"/>
                <a:ea typeface="黑体" panose="02010609060101010101" pitchFamily="49" charset="-122"/>
              </a:rPr>
              <a:t>强度推定值</a:t>
            </a:r>
          </a:p>
        </p:txBody>
      </p:sp>
      <p:sp>
        <p:nvSpPr>
          <p:cNvPr id="121858" name="Rectangle 2"/>
          <p:cNvSpPr>
            <a:spLocks noGrp="1" noRot="1" noChangeAspect="1" noMove="1" noResize="1" noEditPoints="1" noAdjustHandles="1" noChangeArrowheads="1" noChangeShapeType="1" noTextEdit="1"/>
          </p:cNvSpPr>
          <p:nvPr>
            <p:ph idx="1"/>
          </p:nvPr>
        </p:nvSpPr>
        <p:spPr bwMode="auto">
          <a:xfrm>
            <a:off x="2207568" y="1916113"/>
            <a:ext cx="8136904" cy="3817143"/>
          </a:xfrm>
          <a:blipFill rotWithShape="1">
            <a:blip r:embed="rId2"/>
            <a:stretch>
              <a:fillRect t="-3834" r="-1348"/>
            </a:stretch>
          </a:blipFill>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00000"/>
              </a:lnSpc>
              <a:spcBef>
                <a:spcPct val="20000"/>
              </a:spcBef>
              <a:spcAft>
                <a:spcPts val="0"/>
              </a:spcAft>
              <a:buClr>
                <a:schemeClr val="tx2"/>
              </a:buClr>
              <a:buSzPct val="50000"/>
              <a:buFont typeface="Wingdings 2" panose="05020102010507070707" pitchFamily="18" charset="2"/>
              <a:buNone/>
              <a:defRPr/>
            </a:pPr>
            <a:r>
              <a:rPr kumimoji="0" altLang="en-US" sz="3200" b="0" i="0" u="none" strike="noStrike" kern="1200" cap="none" spc="0" normalizeH="0" baseline="0" noProof="0" dirty="0">
                <a:ln>
                  <a:noFill/>
                </a:ln>
                <a:noFill/>
                <a:effectLst/>
                <a:uLnTx/>
                <a:uFillTx/>
                <a:latin typeface="+mn-lt"/>
                <a:ea typeface="+mn-ea"/>
                <a:cs typeface="+mn-cs"/>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70" y="404495"/>
            <a:ext cx="6408738" cy="865188"/>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chemeClr val="bg2"/>
                </a:solidFill>
                <a:effectLst/>
                <a:uLnTx/>
                <a:uFillTx/>
                <a:latin typeface="+mn-ea"/>
                <a:ea typeface="+mn-ea"/>
                <a:cs typeface="+mj-cs"/>
              </a:rPr>
              <a:t>批构件混凝土强度的推定</a:t>
            </a:r>
          </a:p>
        </p:txBody>
      </p:sp>
      <p:sp>
        <p:nvSpPr>
          <p:cNvPr id="81923" name="文本占位符 2"/>
          <p:cNvSpPr>
            <a:spLocks noGrp="1"/>
          </p:cNvSpPr>
          <p:nvPr>
            <p:ph type="body" sz="half" idx="1"/>
          </p:nvPr>
        </p:nvSpPr>
        <p:spPr>
          <a:xfrm>
            <a:off x="629920" y="1600200"/>
            <a:ext cx="11111865" cy="4530725"/>
          </a:xfrm>
        </p:spPr>
        <p:txBody>
          <a:bodyPr vert="horz" wrap="square" lIns="91440" tIns="45720" rIns="91440" bIns="45720" anchor="t" anchorCtr="0">
            <a:normAutofit/>
          </a:bodyPr>
          <a:lstStyle/>
          <a:p>
            <a:pPr marL="0" indent="0">
              <a:lnSpc>
                <a:spcPct val="100000"/>
              </a:lnSpc>
              <a:spcBef>
                <a:spcPts val="0"/>
              </a:spcBef>
              <a:buClr>
                <a:schemeClr val="tx2"/>
              </a:buClr>
              <a:buSzPct val="50000"/>
              <a:buFont typeface="Wingdings 2" panose="05020102010507070707" pitchFamily="18" charset="2"/>
              <a:buNone/>
            </a:pPr>
            <a:r>
              <a:rPr lang="zh-CN" altLang="en-US" sz="2000" dirty="0"/>
              <a:t>（</a:t>
            </a:r>
            <a:r>
              <a:rPr lang="en-US" altLang="zh-CN" sz="2000" dirty="0"/>
              <a:t>1</a:t>
            </a:r>
            <a:r>
              <a:rPr lang="zh-CN" altLang="en-US" sz="2000" dirty="0"/>
              <a:t>）混凝土强度推定值的计算：</a:t>
            </a:r>
            <a:endParaRPr lang="en-US" altLang="zh-CN" sz="2000" dirty="0"/>
          </a:p>
          <a:p>
            <a:pPr marL="0" indent="0">
              <a:lnSpc>
                <a:spcPct val="100000"/>
              </a:lnSpc>
              <a:spcBef>
                <a:spcPts val="0"/>
              </a:spcBef>
              <a:buClr>
                <a:schemeClr val="tx2"/>
              </a:buClr>
              <a:buSzPct val="50000"/>
              <a:buFont typeface="Wingdings 2" panose="05020102010507070707" pitchFamily="18" charset="2"/>
              <a:buNone/>
            </a:pPr>
            <a:r>
              <a:rPr lang="zh-CN" altLang="en-US" sz="2000" dirty="0"/>
              <a:t>构件测区数小于</a:t>
            </a:r>
            <a:r>
              <a:rPr lang="en-US" altLang="zh-CN" sz="2000" dirty="0"/>
              <a:t>10</a:t>
            </a:r>
            <a:r>
              <a:rPr lang="zh-CN" altLang="en-US" sz="2000" dirty="0"/>
              <a:t>个时：取最小值</a:t>
            </a:r>
            <a:endParaRPr lang="en-US" altLang="zh-CN" sz="2000" dirty="0"/>
          </a:p>
          <a:p>
            <a:pPr marL="0" indent="0">
              <a:lnSpc>
                <a:spcPct val="100000"/>
              </a:lnSpc>
              <a:spcBef>
                <a:spcPts val="0"/>
              </a:spcBef>
              <a:buClr>
                <a:schemeClr val="tx2"/>
              </a:buClr>
              <a:buSzPct val="50000"/>
              <a:buFont typeface="Wingdings 2" panose="05020102010507070707" pitchFamily="18" charset="2"/>
              <a:buNone/>
            </a:pPr>
            <a:r>
              <a:rPr lang="zh-CN" altLang="en-US" sz="2000" dirty="0"/>
              <a:t>构件测区数不少于</a:t>
            </a:r>
            <a:r>
              <a:rPr lang="en-US" altLang="zh-CN" sz="2000" dirty="0"/>
              <a:t>10</a:t>
            </a:r>
            <a:r>
              <a:rPr lang="zh-CN" altLang="en-US" sz="2000" dirty="0"/>
              <a:t>个时：平均值－ </a:t>
            </a:r>
            <a:r>
              <a:rPr lang="en-US" altLang="zh-CN" sz="2000" dirty="0"/>
              <a:t>1.645×</a:t>
            </a:r>
            <a:r>
              <a:rPr lang="zh-CN" altLang="en-US" sz="2000" dirty="0"/>
              <a:t>标准差</a:t>
            </a:r>
            <a:endParaRPr lang="en-US" altLang="zh-CN" sz="2000" dirty="0"/>
          </a:p>
          <a:p>
            <a:pPr marL="0" indent="0">
              <a:lnSpc>
                <a:spcPct val="100000"/>
              </a:lnSpc>
              <a:spcBef>
                <a:spcPts val="0"/>
              </a:spcBef>
              <a:buClr>
                <a:schemeClr val="tx2"/>
              </a:buClr>
              <a:buSzPct val="50000"/>
              <a:buFont typeface="Wingdings 2" panose="05020102010507070707" pitchFamily="18" charset="2"/>
              <a:buNone/>
            </a:pPr>
            <a:r>
              <a:rPr lang="en-US" altLang="zh-CN" sz="2000" dirty="0"/>
              <a:t>    </a:t>
            </a:r>
            <a:r>
              <a:rPr lang="zh-CN" altLang="en-US" sz="2000" dirty="0"/>
              <a:t>个别测区强度换算值小于</a:t>
            </a:r>
            <a:r>
              <a:rPr lang="en-US" altLang="zh-CN" sz="2000" dirty="0"/>
              <a:t>10MPa</a:t>
            </a:r>
            <a:r>
              <a:rPr lang="zh-CN" altLang="en-US" sz="2000" dirty="0"/>
              <a:t>： 结论是小于</a:t>
            </a:r>
            <a:r>
              <a:rPr lang="en-US" altLang="zh-CN" sz="2000" dirty="0"/>
              <a:t>10MPa</a:t>
            </a:r>
          </a:p>
          <a:p>
            <a:pPr marL="0" indent="0">
              <a:lnSpc>
                <a:spcPct val="100000"/>
              </a:lnSpc>
              <a:spcBef>
                <a:spcPts val="0"/>
              </a:spcBef>
              <a:buClr>
                <a:schemeClr val="tx2"/>
              </a:buClr>
              <a:buSzPct val="50000"/>
              <a:buFont typeface="Wingdings 2" panose="05020102010507070707" pitchFamily="18" charset="2"/>
              <a:buNone/>
            </a:pPr>
            <a:endParaRPr lang="zh-CN" altLang="en-US" sz="2000" dirty="0"/>
          </a:p>
          <a:p>
            <a:pPr marL="0" indent="0">
              <a:lnSpc>
                <a:spcPct val="100000"/>
              </a:lnSpc>
              <a:spcBef>
                <a:spcPts val="0"/>
              </a:spcBef>
              <a:buClr>
                <a:schemeClr val="tx2"/>
              </a:buClr>
              <a:buSzPct val="50000"/>
              <a:buFont typeface="Wingdings 2" panose="05020102010507070707" pitchFamily="18" charset="2"/>
              <a:buNone/>
            </a:pPr>
            <a:r>
              <a:rPr lang="zh-CN" altLang="en-US" sz="2000" dirty="0"/>
              <a:t>按批构件检测时：平均值－</a:t>
            </a:r>
            <a:r>
              <a:rPr lang="en-US" altLang="zh-CN" sz="2000" dirty="0"/>
              <a:t>1.645× </a:t>
            </a:r>
            <a:r>
              <a:rPr lang="zh-CN" altLang="en-US" sz="2000" dirty="0"/>
              <a:t>标准差</a:t>
            </a:r>
            <a:endParaRPr lang="en-US" altLang="zh-CN" sz="2000" dirty="0"/>
          </a:p>
          <a:p>
            <a:pPr marL="0" indent="0">
              <a:lnSpc>
                <a:spcPct val="100000"/>
              </a:lnSpc>
              <a:spcBef>
                <a:spcPts val="0"/>
              </a:spcBef>
              <a:buClr>
                <a:schemeClr val="tx2"/>
              </a:buClr>
              <a:buSzPct val="50000"/>
              <a:buFont typeface="Wingdings 2" panose="05020102010507070707" pitchFamily="18" charset="2"/>
              <a:buNone/>
            </a:pPr>
            <a:endParaRPr lang="en-US" altLang="zh-CN" sz="2000" dirty="0"/>
          </a:p>
          <a:p>
            <a:pPr marL="0" indent="0">
              <a:lnSpc>
                <a:spcPct val="100000"/>
              </a:lnSpc>
              <a:spcBef>
                <a:spcPts val="0"/>
              </a:spcBef>
              <a:buClr>
                <a:schemeClr val="tx2"/>
              </a:buClr>
              <a:buSzPct val="50000"/>
              <a:buFont typeface="Wingdings 2" panose="05020102010507070707" pitchFamily="18" charset="2"/>
              <a:buNone/>
            </a:pPr>
            <a:r>
              <a:rPr lang="zh-CN" altLang="en-US" sz="2000" dirty="0"/>
              <a:t>不能按批构件处理的情况： </a:t>
            </a:r>
            <a:endParaRPr lang="en-US" altLang="zh-CN" sz="2000" dirty="0"/>
          </a:p>
          <a:p>
            <a:pPr marL="0" indent="0">
              <a:lnSpc>
                <a:spcPct val="100000"/>
              </a:lnSpc>
              <a:spcBef>
                <a:spcPts val="0"/>
              </a:spcBef>
              <a:buClr>
                <a:schemeClr val="tx2"/>
              </a:buClr>
              <a:buSzPct val="50000"/>
              <a:buFont typeface="Wingdings 2" panose="05020102010507070707" pitchFamily="18" charset="2"/>
              <a:buNone/>
            </a:pPr>
            <a:r>
              <a:rPr lang="zh-CN" altLang="en-US" sz="2000" dirty="0"/>
              <a:t>      换算强度平均值    标准差限制          行标</a:t>
            </a:r>
            <a:endParaRPr lang="en-US" altLang="zh-CN" sz="2000" dirty="0"/>
          </a:p>
          <a:p>
            <a:pPr marL="0" indent="0">
              <a:lnSpc>
                <a:spcPct val="100000"/>
              </a:lnSpc>
              <a:spcBef>
                <a:spcPts val="0"/>
              </a:spcBef>
              <a:buClr>
                <a:schemeClr val="tx2"/>
              </a:buClr>
              <a:buSzPct val="50000"/>
              <a:buFont typeface="Wingdings 2" panose="05020102010507070707" pitchFamily="18" charset="2"/>
              <a:buNone/>
            </a:pPr>
            <a:r>
              <a:rPr lang="en-US" altLang="zh-CN" sz="2000" dirty="0"/>
              <a:t>               &lt; 25MPa         &gt;4.5MPa</a:t>
            </a:r>
          </a:p>
          <a:p>
            <a:pPr marL="0" indent="0">
              <a:lnSpc>
                <a:spcPct val="100000"/>
              </a:lnSpc>
              <a:spcBef>
                <a:spcPts val="0"/>
              </a:spcBef>
              <a:buClr>
                <a:schemeClr val="tx2"/>
              </a:buClr>
              <a:buSzPct val="50000"/>
              <a:buFont typeface="Wingdings 2" panose="05020102010507070707" pitchFamily="18" charset="2"/>
              <a:buNone/>
            </a:pPr>
            <a:r>
              <a:rPr lang="en-US" altLang="zh-CN" sz="2000" dirty="0"/>
              <a:t>               25</a:t>
            </a:r>
            <a:r>
              <a:rPr lang="zh-CN" altLang="en-US" sz="2000" dirty="0">
                <a:latin typeface="宋体" panose="02010600030101010101" pitchFamily="2" charset="-122"/>
                <a:ea typeface="宋体" panose="02010600030101010101" pitchFamily="2" charset="-122"/>
              </a:rPr>
              <a:t>～</a:t>
            </a:r>
            <a:r>
              <a:rPr lang="en-US" altLang="zh-CN" sz="2000" dirty="0"/>
              <a:t>50MPa       &gt;5.5MPa       25</a:t>
            </a:r>
            <a:r>
              <a:rPr lang="zh-CN" altLang="en-US" sz="2000" dirty="0">
                <a:latin typeface="宋体" panose="02010600030101010101" pitchFamily="2" charset="-122"/>
                <a:ea typeface="宋体" panose="02010600030101010101" pitchFamily="2" charset="-122"/>
              </a:rPr>
              <a:t>～</a:t>
            </a:r>
            <a:r>
              <a:rPr lang="en-US" altLang="zh-CN" sz="2000" dirty="0"/>
              <a:t>60MPa   &gt;5.5MPa </a:t>
            </a:r>
          </a:p>
          <a:p>
            <a:pPr marL="0" indent="0">
              <a:lnSpc>
                <a:spcPct val="100000"/>
              </a:lnSpc>
              <a:spcBef>
                <a:spcPts val="0"/>
              </a:spcBef>
              <a:buClr>
                <a:schemeClr val="tx2"/>
              </a:buClr>
              <a:buSzPct val="50000"/>
              <a:buFont typeface="Wingdings 2" panose="05020102010507070707" pitchFamily="18" charset="2"/>
              <a:buNone/>
            </a:pPr>
            <a:r>
              <a:rPr lang="en-US" altLang="zh-CN" sz="2000" dirty="0"/>
              <a:t>               &gt; 50MPa         &gt;6.5MPa</a:t>
            </a:r>
            <a:endParaRPr lang="zh-CN" altLang="en-US" sz="2000" dirty="0"/>
          </a:p>
        </p:txBody>
      </p:sp>
    </p:spTree>
  </p:cSld>
  <p:clrMapOvr>
    <a:masterClrMapping/>
  </p:clrMapOvr>
  <p:transition spd="slow">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idx="4294967295"/>
          </p:nvPr>
        </p:nvSpPr>
        <p:spPr>
          <a:xfrm>
            <a:off x="1055370" y="404179"/>
            <a:ext cx="8857054" cy="756284"/>
          </a:xfrm>
        </p:spPr>
        <p:txBody>
          <a:bodyPr vert="horz" wrap="square" lIns="91440" tIns="45720" rIns="91440" bIns="45720" anchor="ctr" anchorCtr="0">
            <a:normAutofit fontScale="90000"/>
          </a:bodyPr>
          <a:lstStyle/>
          <a:p>
            <a:pPr algn="l"/>
            <a:r>
              <a:rPr lang="zh-CN" altLang="en-US" sz="3600" dirty="0"/>
              <a:t>推定区间 </a:t>
            </a:r>
            <a:r>
              <a:rPr lang="en-US" altLang="zh-CN" sz="3600" dirty="0"/>
              <a:t>—— </a:t>
            </a:r>
            <a:r>
              <a:rPr lang="zh-CN" altLang="en-US" sz="3600" dirty="0">
                <a:solidFill>
                  <a:schemeClr val="tx1"/>
                </a:solidFill>
                <a:ea typeface="楷体_GB2312" pitchFamily="49" charset="-122"/>
              </a:rPr>
              <a:t>检测结果不确定性</a:t>
            </a:r>
            <a:br>
              <a:rPr lang="zh-CN" altLang="en-US" sz="3600" dirty="0">
                <a:solidFill>
                  <a:schemeClr val="tx1"/>
                </a:solidFill>
                <a:ea typeface="楷体_GB2312" pitchFamily="49" charset="-122"/>
              </a:rPr>
            </a:br>
            <a:r>
              <a:rPr lang="zh-CN" altLang="en-US" sz="3600" dirty="0">
                <a:solidFill>
                  <a:schemeClr val="tx1"/>
                </a:solidFill>
                <a:ea typeface="楷体_GB2312" pitchFamily="49" charset="-122"/>
              </a:rPr>
              <a:t>    </a:t>
            </a:r>
            <a:r>
              <a:rPr lang="zh-CN" altLang="en-US" sz="3200" dirty="0">
                <a:solidFill>
                  <a:schemeClr val="tx1"/>
                </a:solidFill>
                <a:ea typeface="楷体_GB2312" pitchFamily="49" charset="-122"/>
              </a:rPr>
              <a:t>给出推定区间，而不是一个确定数值</a:t>
            </a:r>
            <a:endParaRPr lang="zh-CN" altLang="en-US" sz="3200" dirty="0">
              <a:solidFill>
                <a:srgbClr val="FF0000"/>
              </a:solidFill>
              <a:ea typeface="楷体_GB2312" pitchFamily="49" charset="-122"/>
            </a:endParaRPr>
          </a:p>
        </p:txBody>
      </p:sp>
      <p:sp>
        <p:nvSpPr>
          <p:cNvPr id="195587" name="Rectangle 3"/>
          <p:cNvSpPr>
            <a:spLocks noGrp="1" noChangeArrowheads="1"/>
          </p:cNvSpPr>
          <p:nvPr>
            <p:ph type="body" sz="half" idx="4294967295"/>
          </p:nvPr>
        </p:nvSpPr>
        <p:spPr>
          <a:xfrm>
            <a:off x="1127760" y="2060575"/>
            <a:ext cx="6120368" cy="4022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panose="05000000000000000000" pitchFamily="2" charset="2"/>
              <a:buNone/>
              <a:defRPr/>
            </a:pPr>
            <a:r>
              <a:rPr kumimoji="0" lang="zh-CN" altLang="en-US" sz="3200" b="0" i="0" u="none" strike="noStrike" kern="1200" cap="none" spc="0" normalizeH="0" baseline="0" noProof="0" dirty="0">
                <a:ln>
                  <a:noFill/>
                </a:ln>
                <a:solidFill>
                  <a:srgbClr val="FF0000"/>
                </a:solidFill>
                <a:effectLst/>
                <a:uLnTx/>
                <a:uFillTx/>
                <a:latin typeface="+mn-lt"/>
                <a:ea typeface="楷体_GB2312" pitchFamily="49" charset="-122"/>
                <a:cs typeface="+mn-cs"/>
              </a:rPr>
              <a:t>检测批的平均值</a:t>
            </a: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3200" b="0" i="0" u="none" strike="noStrike" kern="1200" cap="none" spc="0" normalizeH="0" baseline="0" noProof="0" dirty="0">
                <a:ln>
                  <a:noFill/>
                </a:ln>
                <a:solidFill>
                  <a:srgbClr val="FF0000"/>
                </a:solidFill>
                <a:effectLst/>
                <a:uLnTx/>
                <a:uFillTx/>
                <a:latin typeface="+mn-lt"/>
                <a:ea typeface="楷体_GB2312" pitchFamily="49" charset="-122"/>
                <a:cs typeface="+mn-cs"/>
              </a:rPr>
              <a:t>平均值</a:t>
            </a: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600" b="0" i="0" u="none" strike="noStrike" kern="1200" cap="none" spc="0" normalizeH="0" baseline="0" noProof="0" dirty="0">
                <a:ln>
                  <a:noFill/>
                </a:ln>
                <a:solidFill>
                  <a:schemeClr val="tx1"/>
                </a:solidFill>
                <a:effectLst/>
                <a:uLnTx/>
                <a:uFillTx/>
                <a:latin typeface="+mn-lt"/>
                <a:ea typeface="楷体_GB2312" pitchFamily="49" charset="-122"/>
                <a:cs typeface="+mn-cs"/>
              </a:rPr>
              <a:t>       </a:t>
            </a:r>
          </a:p>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r>
              <a:rPr kumimoji="0" lang="zh-CN" altLang="en-US" sz="2600" b="0" i="0" u="none" strike="noStrike" kern="1200" cap="none" spc="0" normalizeH="0" baseline="0" noProof="0" dirty="0">
                <a:ln>
                  <a:noFill/>
                </a:ln>
                <a:solidFill>
                  <a:srgbClr val="FF0000"/>
                </a:solidFill>
                <a:effectLst/>
                <a:uLnTx/>
                <a:uFillTx/>
                <a:latin typeface="+mn-lt"/>
                <a:ea typeface="楷体_GB2312" pitchFamily="49" charset="-122"/>
                <a:cs typeface="+mn-cs"/>
              </a:rPr>
              <a:t>平均值的推定区间</a:t>
            </a:r>
            <a:r>
              <a:rPr kumimoji="0" lang="zh-CN" altLang="en-US" sz="2600" b="0" i="0" u="none" strike="noStrike" kern="1200" cap="none" spc="0" normalizeH="0" baseline="0" noProof="0" dirty="0">
                <a:ln>
                  <a:noFill/>
                </a:ln>
                <a:solidFill>
                  <a:schemeClr val="tx1"/>
                </a:solidFill>
                <a:effectLst/>
                <a:uLnTx/>
                <a:uFillTx/>
                <a:latin typeface="+mn-lt"/>
                <a:ea typeface="+mn-ea"/>
                <a:cs typeface="+mn-cs"/>
              </a:rPr>
              <a:t> </a:t>
            </a:r>
            <a:endParaRPr kumimoji="0" lang="zh-CN" altLang="en-US" sz="2600" b="0" i="0" u="none" strike="noStrike" kern="1200" cap="none" spc="0" normalizeH="0" baseline="0" noProof="0" dirty="0">
              <a:ln>
                <a:noFill/>
              </a:ln>
              <a:solidFill>
                <a:schemeClr val="tx1"/>
              </a:solidFill>
              <a:effectLst/>
              <a:uLnTx/>
              <a:uFillTx/>
              <a:latin typeface="+mn-lt"/>
              <a:ea typeface="楷体_GB2312" pitchFamily="49" charset="-122"/>
              <a:cs typeface="+mn-cs"/>
            </a:endParaRPr>
          </a:p>
        </p:txBody>
      </p:sp>
      <p:graphicFrame>
        <p:nvGraphicFramePr>
          <p:cNvPr id="82948" name="Object 4"/>
          <p:cNvGraphicFramePr>
            <a:graphicFrameLocks noGrp="1" noChangeAspect="1"/>
          </p:cNvGraphicFramePr>
          <p:nvPr>
            <p:ph sz="quarter" idx="4294967295"/>
          </p:nvPr>
        </p:nvGraphicFramePr>
        <p:xfrm>
          <a:off x="1415415" y="4437063"/>
          <a:ext cx="2776538" cy="573087"/>
        </p:xfrm>
        <a:graphic>
          <a:graphicData uri="http://schemas.openxmlformats.org/presentationml/2006/ole">
            <mc:AlternateContent xmlns:mc="http://schemas.openxmlformats.org/markup-compatibility/2006">
              <mc:Choice xmlns:v="urn:schemas-microsoft-com:vml" Requires="v">
                <p:oleObj spid="_x0000_s5196" r:id="rId3" imgW="989965" imgH="203200" progId="Equation.3">
                  <p:embed/>
                </p:oleObj>
              </mc:Choice>
              <mc:Fallback>
                <p:oleObj r:id="rId3" imgW="989965" imgH="203200" progId="Equation.3">
                  <p:embed/>
                  <p:pic>
                    <p:nvPicPr>
                      <p:cNvPr id="0" name="Object 4"/>
                      <p:cNvPicPr/>
                      <p:nvPr/>
                    </p:nvPicPr>
                    <p:blipFill>
                      <a:blip r:embed="rId4"/>
                      <a:srcRect/>
                      <a:stretch>
                        <a:fillRect/>
                      </a:stretch>
                    </p:blipFill>
                    <p:spPr>
                      <a:xfrm>
                        <a:off x="1415415" y="4437063"/>
                        <a:ext cx="2776538" cy="573087"/>
                      </a:xfrm>
                      <a:prstGeom prst="rect">
                        <a:avLst/>
                      </a:prstGeom>
                      <a:noFill/>
                      <a:ln w="38100">
                        <a:miter/>
                      </a:ln>
                    </p:spPr>
                  </p:pic>
                </p:oleObj>
              </mc:Fallback>
            </mc:AlternateContent>
          </a:graphicData>
        </a:graphic>
      </p:graphicFrame>
      <p:graphicFrame>
        <p:nvGraphicFramePr>
          <p:cNvPr id="82963" name="Object 19"/>
          <p:cNvGraphicFramePr>
            <a:graphicFrameLocks noGrp="1" noChangeAspect="1"/>
          </p:cNvGraphicFramePr>
          <p:nvPr>
            <p:ph sz="quarter" idx="4294967295"/>
          </p:nvPr>
        </p:nvGraphicFramePr>
        <p:xfrm>
          <a:off x="7770813" y="3500438"/>
          <a:ext cx="4421187" cy="2614612"/>
        </p:xfrm>
        <a:graphic>
          <a:graphicData uri="http://schemas.openxmlformats.org/presentationml/2006/ole">
            <mc:AlternateContent xmlns:mc="http://schemas.openxmlformats.org/markup-compatibility/2006">
              <mc:Choice xmlns:v="urn:schemas-microsoft-com:vml" Requires="v">
                <p:oleObj spid="_x0000_s5197" r:id="rId5" imgW="3917315" imgH="2235200" progId="Visio.Drawing.6">
                  <p:embed/>
                </p:oleObj>
              </mc:Choice>
              <mc:Fallback>
                <p:oleObj r:id="rId5" imgW="3917315" imgH="2235200" progId="Visio.Drawing.6">
                  <p:embed/>
                  <p:pic>
                    <p:nvPicPr>
                      <p:cNvPr id="0" name="Object 19"/>
                      <p:cNvPicPr/>
                      <p:nvPr/>
                    </p:nvPicPr>
                    <p:blipFill>
                      <a:blip r:embed="rId6"/>
                      <a:srcRect/>
                      <a:stretch>
                        <a:fillRect/>
                      </a:stretch>
                    </p:blipFill>
                    <p:spPr>
                      <a:xfrm>
                        <a:off x="7770813" y="3500438"/>
                        <a:ext cx="4421187" cy="2614612"/>
                      </a:xfrm>
                      <a:prstGeom prst="rect">
                        <a:avLst/>
                      </a:prstGeom>
                      <a:noFill/>
                      <a:ln w="38100">
                        <a:miter/>
                      </a:ln>
                    </p:spPr>
                  </p:pic>
                </p:oleObj>
              </mc:Fallback>
            </mc:AlternateContent>
          </a:graphicData>
        </a:graphic>
      </p:graphicFrame>
      <p:sp>
        <p:nvSpPr>
          <p:cNvPr id="82949" name="Rectangle 5"/>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50" name="Rectangle 6"/>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51" name="Rectangle 7"/>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graphicFrame>
        <p:nvGraphicFramePr>
          <p:cNvPr id="82952" name="Object 8"/>
          <p:cNvGraphicFramePr>
            <a:graphicFrameLocks noChangeAspect="1"/>
          </p:cNvGraphicFramePr>
          <p:nvPr/>
        </p:nvGraphicFramePr>
        <p:xfrm>
          <a:off x="3432175" y="2565400"/>
          <a:ext cx="3527425" cy="835025"/>
        </p:xfrm>
        <a:graphic>
          <a:graphicData uri="http://schemas.openxmlformats.org/presentationml/2006/ole">
            <mc:AlternateContent xmlns:mc="http://schemas.openxmlformats.org/markup-compatibility/2006">
              <mc:Choice xmlns:v="urn:schemas-microsoft-com:vml" Requires="v">
                <p:oleObj spid="_x0000_s5198" r:id="rId7" imgW="1651000" imgH="393700" progId="Equation.3">
                  <p:embed/>
                </p:oleObj>
              </mc:Choice>
              <mc:Fallback>
                <p:oleObj r:id="rId7" imgW="1651000" imgH="393700" progId="Equation.3">
                  <p:embed/>
                  <p:pic>
                    <p:nvPicPr>
                      <p:cNvPr id="0" name="Object 8"/>
                      <p:cNvPicPr/>
                      <p:nvPr/>
                    </p:nvPicPr>
                    <p:blipFill>
                      <a:blip r:embed="rId8"/>
                      <a:stretch>
                        <a:fillRect/>
                      </a:stretch>
                    </p:blipFill>
                    <p:spPr>
                      <a:xfrm>
                        <a:off x="3432175" y="2565400"/>
                        <a:ext cx="3527425" cy="835025"/>
                      </a:xfrm>
                      <a:prstGeom prst="rect">
                        <a:avLst/>
                      </a:prstGeom>
                      <a:noFill/>
                      <a:ln w="38100">
                        <a:noFill/>
                        <a:miter/>
                      </a:ln>
                    </p:spPr>
                  </p:pic>
                </p:oleObj>
              </mc:Fallback>
            </mc:AlternateContent>
          </a:graphicData>
        </a:graphic>
      </p:graphicFrame>
      <p:sp>
        <p:nvSpPr>
          <p:cNvPr id="82953" name="Rectangle 9"/>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54" name="Rectangle 10"/>
          <p:cNvSpPr/>
          <p:nvPr/>
        </p:nvSpPr>
        <p:spPr>
          <a:xfrm>
            <a:off x="1524000" y="3168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55" name="Rectangle 11"/>
          <p:cNvSpPr/>
          <p:nvPr/>
        </p:nvSpPr>
        <p:spPr>
          <a:xfrm>
            <a:off x="1524000" y="3168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56" name="Rectangle 12"/>
          <p:cNvSpPr/>
          <p:nvPr/>
        </p:nvSpPr>
        <p:spPr>
          <a:xfrm>
            <a:off x="1524000" y="3168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57" name="Rectangle 13"/>
          <p:cNvSpPr/>
          <p:nvPr/>
        </p:nvSpPr>
        <p:spPr>
          <a:xfrm>
            <a:off x="1524000" y="3168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58" name="Rectangle 14"/>
          <p:cNvSpPr/>
          <p:nvPr/>
        </p:nvSpPr>
        <p:spPr>
          <a:xfrm>
            <a:off x="1524000" y="3168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59" name="Rectangle 15"/>
          <p:cNvSpPr/>
          <p:nvPr/>
        </p:nvSpPr>
        <p:spPr>
          <a:xfrm>
            <a:off x="1524000" y="3168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60" name="Rectangle 16"/>
          <p:cNvSpPr/>
          <p:nvPr/>
        </p:nvSpPr>
        <p:spPr>
          <a:xfrm>
            <a:off x="1524000" y="3168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61" name="Rectangle 17"/>
          <p:cNvSpPr/>
          <p:nvPr/>
        </p:nvSpPr>
        <p:spPr>
          <a:xfrm>
            <a:off x="1524000" y="3168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2962" name="Rectangle 18"/>
          <p:cNvSpPr/>
          <p:nvPr/>
        </p:nvSpPr>
        <p:spPr>
          <a:xfrm>
            <a:off x="1524000" y="3168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1" name="Rectangle 3"/>
          <p:cNvSpPr>
            <a:spLocks noGrp="1" noRot="1" noChangeAspect="1" noMove="1" noResize="1" noEditPoints="1" noAdjustHandles="1" noChangeArrowheads="1" noChangeShapeType="1" noTextEdit="1"/>
          </p:cNvSpPr>
          <p:nvPr>
            <p:ph type="body" sz="half" idx="1"/>
          </p:nvPr>
        </p:nvSpPr>
        <p:spPr bwMode="auto">
          <a:xfrm>
            <a:off x="1847850" y="981075"/>
            <a:ext cx="8362950" cy="5543549"/>
          </a:xfrm>
          <a:blipFill rotWithShape="1">
            <a:blip r:embed="rId3"/>
            <a:stretch>
              <a:fillRect l="-1239" t="-1650" r="-292"/>
            </a:stretch>
          </a:blipFill>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r>
              <a:rPr kumimoji="0" lang="zh-CN" altLang="en-US" sz="3200" b="0" i="0" u="none" strike="noStrike" kern="1200" cap="none" spc="0" normalizeH="0" baseline="0" noProof="0">
                <a:ln>
                  <a:noFill/>
                </a:ln>
                <a:noFill/>
                <a:effectLst/>
                <a:uLnTx/>
                <a:uFillTx/>
                <a:latin typeface="+mn-lt"/>
                <a:ea typeface="+mn-ea"/>
                <a:cs typeface="+mn-cs"/>
              </a:rPr>
              <a:t> </a:t>
            </a:r>
          </a:p>
        </p:txBody>
      </p:sp>
      <p:graphicFrame>
        <p:nvGraphicFramePr>
          <p:cNvPr id="83971" name="Object 4"/>
          <p:cNvGraphicFramePr>
            <a:graphicFrameLocks noGrp="1" noChangeAspect="1"/>
          </p:cNvGraphicFramePr>
          <p:nvPr>
            <p:ph sz="half" idx="2"/>
          </p:nvPr>
        </p:nvGraphicFramePr>
        <p:xfrm>
          <a:off x="5303838" y="1412875"/>
          <a:ext cx="2289175" cy="522288"/>
        </p:xfrm>
        <a:graphic>
          <a:graphicData uri="http://schemas.openxmlformats.org/presentationml/2006/ole">
            <mc:AlternateContent xmlns:mc="http://schemas.openxmlformats.org/markup-compatibility/2006">
              <mc:Choice xmlns:v="urn:schemas-microsoft-com:vml" Requires="v">
                <p:oleObj spid="_x0000_s6196" r:id="rId4" imgW="1002665" imgH="228600" progId="Equation.3">
                  <p:embed/>
                </p:oleObj>
              </mc:Choice>
              <mc:Fallback>
                <p:oleObj r:id="rId4" imgW="1002665" imgH="228600" progId="Equation.3">
                  <p:embed/>
                  <p:pic>
                    <p:nvPicPr>
                      <p:cNvPr id="0" name="Object 4"/>
                      <p:cNvPicPr/>
                      <p:nvPr/>
                    </p:nvPicPr>
                    <p:blipFill>
                      <a:blip r:embed="rId5"/>
                      <a:srcRect/>
                      <a:stretch>
                        <a:fillRect/>
                      </a:stretch>
                    </p:blipFill>
                    <p:spPr>
                      <a:xfrm>
                        <a:off x="5303838" y="1412875"/>
                        <a:ext cx="2289175" cy="522288"/>
                      </a:xfrm>
                      <a:prstGeom prst="rect">
                        <a:avLst/>
                      </a:prstGeom>
                      <a:noFill/>
                      <a:ln w="38100">
                        <a:miter/>
                      </a:ln>
                    </p:spPr>
                  </p:pic>
                </p:oleObj>
              </mc:Fallback>
            </mc:AlternateContent>
          </a:graphicData>
        </a:graphic>
      </p:graphicFrame>
      <p:graphicFrame>
        <p:nvGraphicFramePr>
          <p:cNvPr id="83972" name="Object 8"/>
          <p:cNvGraphicFramePr>
            <a:graphicFrameLocks noChangeAspect="1"/>
          </p:cNvGraphicFramePr>
          <p:nvPr/>
        </p:nvGraphicFramePr>
        <p:xfrm>
          <a:off x="6383338" y="3429000"/>
          <a:ext cx="3851275" cy="2820988"/>
        </p:xfrm>
        <a:graphic>
          <a:graphicData uri="http://schemas.openxmlformats.org/presentationml/2006/ole">
            <mc:AlternateContent xmlns:mc="http://schemas.openxmlformats.org/markup-compatibility/2006">
              <mc:Choice xmlns:v="urn:schemas-microsoft-com:vml" Requires="v">
                <p:oleObj spid="_x0000_s6197" r:id="rId6" imgW="6718300" imgH="2540000" progId="Visio.Drawing.6">
                  <p:embed/>
                </p:oleObj>
              </mc:Choice>
              <mc:Fallback>
                <p:oleObj r:id="rId6" imgW="6718300" imgH="2540000" progId="Visio.Drawing.6">
                  <p:embed/>
                  <p:pic>
                    <p:nvPicPr>
                      <p:cNvPr id="0" name="Object 8"/>
                      <p:cNvPicPr/>
                      <p:nvPr/>
                    </p:nvPicPr>
                    <p:blipFill>
                      <a:blip r:embed="rId7">
                        <a:clrChange>
                          <a:clrFrom>
                            <a:srgbClr val="000000"/>
                          </a:clrFrom>
                          <a:clrTo>
                            <a:srgbClr val="FFFFFF"/>
                          </a:clrTo>
                        </a:clrChange>
                        <a:lum bright="-23999" contrast="-53999"/>
                      </a:blip>
                      <a:srcRect l="5301" r="22124" b="9721"/>
                      <a:stretch>
                        <a:fillRect/>
                      </a:stretch>
                    </p:blipFill>
                    <p:spPr>
                      <a:xfrm>
                        <a:off x="6383338" y="3429000"/>
                        <a:ext cx="3851275" cy="2820988"/>
                      </a:xfrm>
                      <a:prstGeom prst="rect">
                        <a:avLst/>
                      </a:prstGeom>
                      <a:noFill/>
                      <a:ln w="9525" cap="flat" cmpd="sng">
                        <a:solidFill>
                          <a:srgbClr val="000000"/>
                        </a:solidFill>
                        <a:prstDash val="solid"/>
                        <a:miter/>
                        <a:headEnd type="none" w="med" len="med"/>
                        <a:tailEnd type="none" w="med" len="med"/>
                      </a:ln>
                    </p:spPr>
                  </p:pic>
                </p:oleObj>
              </mc:Fallback>
            </mc:AlternateContent>
          </a:graphicData>
        </a:graphic>
      </p:graphicFrame>
    </p:spTree>
  </p:cSld>
  <p:clrMapOvr>
    <a:masterClrMapping/>
  </p:clrMapOvr>
  <p:transition spd="slow">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a:xfrm>
            <a:off x="1055370" y="764540"/>
            <a:ext cx="8817610" cy="699770"/>
          </a:xfrm>
        </p:spPr>
        <p:txBody>
          <a:bodyPr vert="horz" wrap="square" lIns="91440" tIns="45720" rIns="91440" bIns="45720" anchor="ctr" anchorCtr="0">
            <a:normAutofit/>
          </a:bodyPr>
          <a:lstStyle/>
          <a:p>
            <a:pPr algn="l"/>
            <a:r>
              <a:rPr lang="en-US" altLang="zh-CN" sz="2800" dirty="0"/>
              <a:t>K</a:t>
            </a:r>
            <a:r>
              <a:rPr lang="zh-CN" altLang="en-US" sz="2800" dirty="0"/>
              <a:t>、</a:t>
            </a:r>
            <a:r>
              <a:rPr lang="en-US" altLang="zh-CN" sz="2800" dirty="0"/>
              <a:t>K</a:t>
            </a:r>
            <a:r>
              <a:rPr lang="en-US" altLang="zh-CN" sz="2800" baseline="-25000" dirty="0"/>
              <a:t>1</a:t>
            </a:r>
            <a:r>
              <a:rPr lang="zh-CN" altLang="en-US" sz="2800" baseline="-25000" dirty="0"/>
              <a:t>、</a:t>
            </a:r>
            <a:r>
              <a:rPr lang="en-US" altLang="zh-CN" sz="2800" dirty="0"/>
              <a:t>K</a:t>
            </a:r>
            <a:r>
              <a:rPr lang="en-US" altLang="zh-CN" sz="2800" baseline="-25000" dirty="0"/>
              <a:t>2</a:t>
            </a:r>
            <a:r>
              <a:rPr lang="zh-CN" altLang="en-US" sz="2800" dirty="0"/>
              <a:t>的选取</a:t>
            </a:r>
            <a:r>
              <a:rPr lang="en-US" altLang="zh-CN" sz="2800" dirty="0"/>
              <a:t> ————GB/T 50344-2019</a:t>
            </a:r>
            <a:r>
              <a:rPr lang="zh-CN" altLang="en-US" sz="2800" dirty="0"/>
              <a:t>表</a:t>
            </a:r>
            <a:r>
              <a:rPr lang="en-US" altLang="zh-CN" sz="2800" dirty="0"/>
              <a:t>3.3.19</a:t>
            </a:r>
            <a:endParaRPr lang="en-US" altLang="zh-CN" sz="2800" baseline="-25000" dirty="0"/>
          </a:p>
        </p:txBody>
      </p:sp>
      <p:sp>
        <p:nvSpPr>
          <p:cNvPr id="84995" name="Rectangle 3"/>
          <p:cNvSpPr>
            <a:spLocks noGrp="1"/>
          </p:cNvSpPr>
          <p:nvPr>
            <p:ph idx="1"/>
          </p:nvPr>
        </p:nvSpPr>
        <p:spPr>
          <a:xfrm>
            <a:off x="1271905" y="1844675"/>
            <a:ext cx="9204325" cy="4164965"/>
          </a:xfrm>
        </p:spPr>
        <p:txBody>
          <a:bodyPr vert="horz" wrap="square" lIns="91440" tIns="45720" rIns="91440" bIns="45720" anchor="t" anchorCtr="0">
            <a:normAutofit lnSpcReduction="10000"/>
          </a:bodyPr>
          <a:lstStyle/>
          <a:p>
            <a:pPr>
              <a:lnSpc>
                <a:spcPct val="90000"/>
              </a:lnSpc>
              <a:buFont typeface="Wingdings" panose="05000000000000000000" pitchFamily="2" charset="2"/>
              <a:buNone/>
            </a:pPr>
            <a:r>
              <a:rPr lang="en-US" altLang="zh-CN" sz="2400" dirty="0">
                <a:solidFill>
                  <a:srgbClr val="FF0000"/>
                </a:solidFill>
                <a:latin typeface="楷体_GB2312" pitchFamily="49" charset="-122"/>
                <a:ea typeface="楷体_GB2312" pitchFamily="49" charset="-122"/>
              </a:rPr>
              <a:t>0.5</a:t>
            </a:r>
            <a:r>
              <a:rPr lang="zh-CN" altLang="en-US" sz="2400" dirty="0">
                <a:solidFill>
                  <a:srgbClr val="FF0000"/>
                </a:solidFill>
                <a:latin typeface="楷体_GB2312" pitchFamily="49" charset="-122"/>
                <a:ea typeface="楷体_GB2312" pitchFamily="49" charset="-122"/>
              </a:rPr>
              <a:t>分位值</a:t>
            </a:r>
            <a:r>
              <a:rPr lang="zh-CN" altLang="en-US" sz="2400" dirty="0">
                <a:latin typeface="楷体_GB2312" pitchFamily="49" charset="-122"/>
                <a:ea typeface="楷体_GB2312" pitchFamily="49" charset="-122"/>
              </a:rPr>
              <a:t>：计算</a:t>
            </a:r>
            <a:r>
              <a:rPr lang="zh-CN" altLang="en-US" sz="2400" dirty="0">
                <a:solidFill>
                  <a:srgbClr val="FF0000"/>
                </a:solidFill>
                <a:latin typeface="楷体_GB2312" pitchFamily="49" charset="-122"/>
                <a:ea typeface="楷体_GB2312" pitchFamily="49" charset="-122"/>
              </a:rPr>
              <a:t>平均值</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50%</a:t>
            </a:r>
            <a:r>
              <a:rPr lang="zh-CN" altLang="en-US" sz="2400" dirty="0">
                <a:latin typeface="楷体_GB2312" pitchFamily="49" charset="-122"/>
                <a:ea typeface="楷体_GB2312" pitchFamily="49" charset="-122"/>
              </a:rPr>
              <a:t>保证率）的推定区间时的系数</a:t>
            </a:r>
          </a:p>
          <a:p>
            <a:pPr>
              <a:lnSpc>
                <a:spcPct val="90000"/>
              </a:lnSpc>
              <a:buFont typeface="Wingdings" panose="05000000000000000000" pitchFamily="2" charset="2"/>
              <a:buNone/>
            </a:pPr>
            <a:r>
              <a:rPr lang="zh-CN" altLang="en-US" sz="2400" dirty="0">
                <a:latin typeface="楷体_GB2312" pitchFamily="49" charset="-122"/>
                <a:ea typeface="楷体_GB2312" pitchFamily="49" charset="-122"/>
              </a:rPr>
              <a:t>   置信度为</a:t>
            </a:r>
            <a:r>
              <a:rPr lang="en-US" altLang="zh-CN" sz="2400" dirty="0">
                <a:latin typeface="楷体_GB2312" pitchFamily="49" charset="-122"/>
                <a:ea typeface="楷体_GB2312" pitchFamily="49" charset="-122"/>
              </a:rPr>
              <a:t>0.90</a:t>
            </a:r>
            <a:r>
              <a:rPr lang="zh-CN" altLang="en-US" sz="2400" dirty="0">
                <a:latin typeface="楷体_GB2312" pitchFamily="49" charset="-122"/>
                <a:ea typeface="楷体_GB2312" pitchFamily="49" charset="-122"/>
              </a:rPr>
              <a:t>，错判概率和漏判概率均为</a:t>
            </a:r>
            <a:r>
              <a:rPr lang="en-US" altLang="zh-CN" sz="2400" dirty="0">
                <a:latin typeface="楷体_GB2312" pitchFamily="49" charset="-122"/>
                <a:ea typeface="楷体_GB2312" pitchFamily="49" charset="-122"/>
              </a:rPr>
              <a:t>0.05</a:t>
            </a:r>
            <a:r>
              <a:rPr lang="zh-CN" altLang="en-US" sz="2400" dirty="0">
                <a:latin typeface="楷体_GB2312" pitchFamily="49" charset="-122"/>
                <a:ea typeface="楷体_GB2312" pitchFamily="49" charset="-122"/>
              </a:rPr>
              <a:t>时，</a:t>
            </a:r>
          </a:p>
          <a:p>
            <a:pPr>
              <a:lnSpc>
                <a:spcPct val="90000"/>
              </a:lnSpc>
              <a:buFont typeface="Wingdings" panose="05000000000000000000" pitchFamily="2" charset="2"/>
              <a:buNone/>
            </a:pPr>
            <a:r>
              <a:rPr lang="zh-CN" altLang="en-US" sz="2400" dirty="0">
                <a:latin typeface="楷体_GB2312" pitchFamily="49" charset="-122"/>
                <a:ea typeface="楷体_GB2312" pitchFamily="49" charset="-122"/>
              </a:rPr>
              <a:t>   推定系数取</a:t>
            </a:r>
            <a:r>
              <a:rPr lang="en-US" altLang="zh-CN" sz="2400" i="1" dirty="0">
                <a:latin typeface="楷体_GB2312" pitchFamily="49" charset="-122"/>
                <a:ea typeface="楷体_GB2312" pitchFamily="49" charset="-122"/>
              </a:rPr>
              <a:t>k</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0.05)</a:t>
            </a:r>
            <a:r>
              <a:rPr lang="zh-CN" altLang="en-US" sz="2400" dirty="0">
                <a:latin typeface="楷体_GB2312" pitchFamily="49" charset="-122"/>
                <a:ea typeface="楷体_GB2312" pitchFamily="49" charset="-122"/>
              </a:rPr>
              <a:t>栏中的数值 </a:t>
            </a:r>
          </a:p>
          <a:p>
            <a:pPr>
              <a:lnSpc>
                <a:spcPct val="90000"/>
              </a:lnSpc>
              <a:buFont typeface="Wingdings" panose="05000000000000000000" pitchFamily="2" charset="2"/>
              <a:buNone/>
            </a:pPr>
            <a:r>
              <a:rPr lang="zh-CN" altLang="en-US" sz="2400" dirty="0">
                <a:latin typeface="楷体_GB2312" pitchFamily="49" charset="-122"/>
                <a:ea typeface="楷体_GB2312" pitchFamily="49" charset="-122"/>
              </a:rPr>
              <a:t>          </a:t>
            </a:r>
          </a:p>
          <a:p>
            <a:pPr>
              <a:lnSpc>
                <a:spcPct val="90000"/>
              </a:lnSpc>
              <a:buFont typeface="Wingdings" panose="05000000000000000000" pitchFamily="2" charset="2"/>
              <a:buNone/>
            </a:pPr>
            <a:r>
              <a:rPr lang="en-US" altLang="zh-CN" sz="2400" dirty="0">
                <a:solidFill>
                  <a:srgbClr val="FF0000"/>
                </a:solidFill>
                <a:latin typeface="楷体_GB2312" pitchFamily="49" charset="-122"/>
                <a:ea typeface="楷体_GB2312" pitchFamily="49" charset="-122"/>
              </a:rPr>
              <a:t>0.05</a:t>
            </a:r>
            <a:r>
              <a:rPr lang="zh-CN" altLang="en-US" sz="2400" dirty="0">
                <a:solidFill>
                  <a:srgbClr val="FF0000"/>
                </a:solidFill>
                <a:latin typeface="楷体_GB2312" pitchFamily="49" charset="-122"/>
                <a:ea typeface="楷体_GB2312" pitchFamily="49" charset="-122"/>
              </a:rPr>
              <a:t>分位值</a:t>
            </a:r>
            <a:r>
              <a:rPr lang="zh-CN" altLang="en-US" sz="2400" dirty="0">
                <a:latin typeface="楷体_GB2312" pitchFamily="49" charset="-122"/>
                <a:ea typeface="楷体_GB2312" pitchFamily="49" charset="-122"/>
              </a:rPr>
              <a:t>：计算</a:t>
            </a:r>
            <a:r>
              <a:rPr lang="zh-CN" altLang="en-US" sz="2400" dirty="0">
                <a:solidFill>
                  <a:srgbClr val="FF0000"/>
                </a:solidFill>
                <a:latin typeface="楷体_GB2312" pitchFamily="49" charset="-122"/>
                <a:ea typeface="楷体_GB2312" pitchFamily="49" charset="-122"/>
              </a:rPr>
              <a:t>标准值</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95%</a:t>
            </a:r>
            <a:r>
              <a:rPr lang="zh-CN" altLang="en-US" sz="2400" dirty="0">
                <a:latin typeface="楷体_GB2312" pitchFamily="49" charset="-122"/>
                <a:ea typeface="楷体_GB2312" pitchFamily="49" charset="-122"/>
              </a:rPr>
              <a:t>保证率）的推定区间时的推定系数</a:t>
            </a:r>
          </a:p>
          <a:p>
            <a:pPr>
              <a:lnSpc>
                <a:spcPct val="90000"/>
              </a:lnSpc>
              <a:buFont typeface="Wingdings" panose="05000000000000000000" pitchFamily="2" charset="2"/>
              <a:buNone/>
            </a:pPr>
            <a:r>
              <a:rPr lang="zh-CN" altLang="en-US" sz="2400" dirty="0">
                <a:latin typeface="楷体_GB2312" pitchFamily="49" charset="-122"/>
                <a:ea typeface="楷体_GB2312" pitchFamily="49" charset="-122"/>
              </a:rPr>
              <a:t>  置信度为</a:t>
            </a:r>
            <a:r>
              <a:rPr lang="en-US" altLang="zh-CN" sz="2400" dirty="0">
                <a:latin typeface="楷体_GB2312" pitchFamily="49" charset="-122"/>
                <a:ea typeface="楷体_GB2312" pitchFamily="49" charset="-122"/>
              </a:rPr>
              <a:t>0.90</a:t>
            </a:r>
            <a:r>
              <a:rPr lang="zh-CN" altLang="en-US" sz="2400" dirty="0">
                <a:latin typeface="楷体_GB2312" pitchFamily="49" charset="-122"/>
                <a:ea typeface="楷体_GB2312" pitchFamily="49" charset="-122"/>
              </a:rPr>
              <a:t>，错判概率和漏判概率均为</a:t>
            </a:r>
            <a:r>
              <a:rPr lang="en-US" altLang="zh-CN" sz="2400" dirty="0">
                <a:latin typeface="楷体_GB2312" pitchFamily="49" charset="-122"/>
                <a:ea typeface="楷体_GB2312" pitchFamily="49" charset="-122"/>
              </a:rPr>
              <a:t>0.05</a:t>
            </a:r>
            <a:r>
              <a:rPr lang="zh-CN" altLang="en-US" sz="2400" dirty="0">
                <a:latin typeface="楷体_GB2312" pitchFamily="49" charset="-122"/>
                <a:ea typeface="楷体_GB2312" pitchFamily="49" charset="-122"/>
              </a:rPr>
              <a:t>时，</a:t>
            </a:r>
          </a:p>
          <a:p>
            <a:pPr>
              <a:lnSpc>
                <a:spcPct val="90000"/>
              </a:lnSpc>
              <a:buFont typeface="Wingdings" panose="05000000000000000000" pitchFamily="2" charset="2"/>
              <a:buNone/>
            </a:pPr>
            <a:r>
              <a:rPr lang="zh-CN" altLang="en-US" sz="2400" dirty="0">
                <a:latin typeface="楷体_GB2312" pitchFamily="49" charset="-122"/>
                <a:ea typeface="楷体_GB2312" pitchFamily="49" charset="-122"/>
              </a:rPr>
              <a:t>  推定区间上限值取</a:t>
            </a:r>
            <a:r>
              <a:rPr lang="en-US" altLang="zh-CN" sz="2400" i="1" dirty="0">
                <a:latin typeface="楷体_GB2312" pitchFamily="49" charset="-122"/>
                <a:ea typeface="楷体_GB2312" pitchFamily="49" charset="-122"/>
              </a:rPr>
              <a:t>k</a:t>
            </a:r>
            <a:r>
              <a:rPr lang="en-US" altLang="zh-CN" sz="2400" i="1" baseline="-25000" dirty="0">
                <a:latin typeface="楷体_GB2312" pitchFamily="49" charset="-122"/>
                <a:ea typeface="楷体_GB2312" pitchFamily="49" charset="-122"/>
              </a:rPr>
              <a:t>1</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0.05) </a:t>
            </a:r>
            <a:r>
              <a:rPr lang="zh-CN" altLang="en-US" sz="2400" dirty="0">
                <a:latin typeface="楷体_GB2312" pitchFamily="49" charset="-122"/>
                <a:ea typeface="楷体_GB2312" pitchFamily="49" charset="-122"/>
              </a:rPr>
              <a:t>栏中的数值</a:t>
            </a:r>
          </a:p>
          <a:p>
            <a:pPr>
              <a:lnSpc>
                <a:spcPct val="90000"/>
              </a:lnSpc>
              <a:buFont typeface="Wingdings" panose="05000000000000000000" pitchFamily="2" charset="2"/>
              <a:buNone/>
            </a:pPr>
            <a:r>
              <a:rPr lang="zh-CN" altLang="en-US" sz="2400" dirty="0">
                <a:latin typeface="楷体_GB2312" pitchFamily="49" charset="-122"/>
                <a:ea typeface="楷体_GB2312" pitchFamily="49" charset="-122"/>
              </a:rPr>
              <a:t>  推定区间下限值取</a:t>
            </a:r>
            <a:r>
              <a:rPr lang="en-US" altLang="zh-CN" sz="2400" i="1" dirty="0">
                <a:latin typeface="楷体_GB2312" pitchFamily="49" charset="-122"/>
                <a:ea typeface="楷体_GB2312" pitchFamily="49" charset="-122"/>
              </a:rPr>
              <a:t>k</a:t>
            </a:r>
            <a:r>
              <a:rPr lang="en-US" altLang="zh-CN" sz="2400" i="1" baseline="-25000" dirty="0">
                <a:latin typeface="楷体_GB2312" pitchFamily="49" charset="-122"/>
                <a:ea typeface="楷体_GB2312" pitchFamily="49" charset="-122"/>
              </a:rPr>
              <a:t>2</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0.05) </a:t>
            </a:r>
            <a:r>
              <a:rPr lang="zh-CN" altLang="en-US" sz="2400" dirty="0">
                <a:latin typeface="楷体_GB2312" pitchFamily="49" charset="-122"/>
                <a:ea typeface="楷体_GB2312" pitchFamily="49" charset="-122"/>
              </a:rPr>
              <a:t>栏中的数值</a:t>
            </a:r>
          </a:p>
        </p:txBody>
      </p:sp>
      <p:sp>
        <p:nvSpPr>
          <p:cNvPr id="84996" name="Rectangle 4"/>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4997" name="Rectangle 5"/>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4998" name="Rectangle 7"/>
          <p:cNvSpPr/>
          <p:nvPr/>
        </p:nvSpPr>
        <p:spPr>
          <a:xfrm>
            <a:off x="2135188" y="32448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4999" name="Rectangle 8"/>
          <p:cNvSpPr/>
          <p:nvPr/>
        </p:nvSpPr>
        <p:spPr>
          <a:xfrm>
            <a:off x="2208213" y="34607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5000" name="Rectangle 10"/>
          <p:cNvSpPr/>
          <p:nvPr/>
        </p:nvSpPr>
        <p:spPr>
          <a:xfrm>
            <a:off x="2208213" y="36766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5001" name="Rectangle 11"/>
          <p:cNvSpPr/>
          <p:nvPr/>
        </p:nvSpPr>
        <p:spPr>
          <a:xfrm>
            <a:off x="2855913" y="32448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p:cNvSpPr>
          <p:nvPr>
            <p:ph type="title"/>
          </p:nvPr>
        </p:nvSpPr>
        <p:spPr>
          <a:xfrm>
            <a:off x="1833880" y="1196975"/>
            <a:ext cx="6419850" cy="558800"/>
          </a:xfrm>
        </p:spPr>
        <p:txBody>
          <a:bodyPr vert="horz" wrap="square" lIns="91440" tIns="45720" rIns="91440" bIns="45720" anchor="ctr" anchorCtr="0">
            <a:normAutofit fontScale="90000"/>
          </a:bodyPr>
          <a:lstStyle/>
          <a:p>
            <a:r>
              <a:rPr lang="zh-CN" altLang="en-US" sz="3200" dirty="0">
                <a:latin typeface="宋体" panose="02010600030101010101" pitchFamily="2" charset="-122"/>
              </a:rPr>
              <a:t>（</a:t>
            </a:r>
            <a:r>
              <a:rPr lang="en-US" altLang="zh-CN" sz="3200" dirty="0">
                <a:latin typeface="宋体" panose="02010600030101010101" pitchFamily="2" charset="-122"/>
              </a:rPr>
              <a:t>3</a:t>
            </a:r>
            <a:r>
              <a:rPr lang="zh-CN" altLang="en-US" sz="3200" dirty="0">
                <a:latin typeface="宋体" panose="02010600030101010101" pitchFamily="2" charset="-122"/>
              </a:rPr>
              <a:t>）</a:t>
            </a:r>
            <a:r>
              <a:rPr lang="en-US" altLang="zh-CN" sz="3200" dirty="0">
                <a:latin typeface="宋体" panose="02010600030101010101" pitchFamily="2" charset="-122"/>
              </a:rPr>
              <a:t> </a:t>
            </a:r>
            <a:r>
              <a:rPr lang="zh-CN" altLang="en-US" sz="3200" dirty="0">
                <a:latin typeface="宋体" panose="02010600030101010101" pitchFamily="2" charset="-122"/>
              </a:rPr>
              <a:t>减少检测结果不确定度的措施</a:t>
            </a:r>
          </a:p>
        </p:txBody>
      </p:sp>
      <p:sp>
        <p:nvSpPr>
          <p:cNvPr id="86019" name="Rectangle 3"/>
          <p:cNvSpPr>
            <a:spLocks noGrp="1"/>
          </p:cNvSpPr>
          <p:nvPr>
            <p:ph idx="1"/>
          </p:nvPr>
        </p:nvSpPr>
        <p:spPr>
          <a:xfrm>
            <a:off x="1992313" y="2276475"/>
            <a:ext cx="7127875" cy="3700463"/>
          </a:xfrm>
        </p:spPr>
        <p:txBody>
          <a:bodyPr vert="horz" wrap="square" lIns="91440" tIns="45720" rIns="91440" bIns="45720" anchor="t" anchorCtr="0">
            <a:normAutofit fontScale="92500" lnSpcReduction="20000"/>
          </a:bodyPr>
          <a:lstStyle/>
          <a:p>
            <a:pPr>
              <a:lnSpc>
                <a:spcPct val="80000"/>
              </a:lnSpc>
              <a:buFont typeface="Wingdings" panose="05000000000000000000" pitchFamily="2" charset="2"/>
              <a:buNone/>
            </a:pPr>
            <a:r>
              <a:rPr lang="zh-CN" altLang="en-US" sz="2600" dirty="0">
                <a:latin typeface="楷体_GB2312" pitchFamily="49" charset="-122"/>
                <a:ea typeface="楷体_GB2312" pitchFamily="49" charset="-122"/>
              </a:rPr>
              <a:t>推定区间的大小：由样本的标准差 </a:t>
            </a:r>
            <a:r>
              <a:rPr lang="en-US" altLang="zh-CN" sz="2600" i="1" dirty="0">
                <a:latin typeface="楷体_GB2312" pitchFamily="49" charset="-122"/>
                <a:ea typeface="楷体_GB2312" pitchFamily="49" charset="-122"/>
              </a:rPr>
              <a:t>S</a:t>
            </a:r>
            <a:r>
              <a:rPr lang="en-US" altLang="zh-CN" sz="2600" dirty="0">
                <a:latin typeface="楷体_GB2312" pitchFamily="49" charset="-122"/>
                <a:ea typeface="楷体_GB2312" pitchFamily="49" charset="-122"/>
              </a:rPr>
              <a:t>  </a:t>
            </a:r>
          </a:p>
          <a:p>
            <a:pPr>
              <a:lnSpc>
                <a:spcPct val="80000"/>
              </a:lnSpc>
              <a:buFont typeface="Wingdings" panose="05000000000000000000" pitchFamily="2" charset="2"/>
              <a:buNone/>
            </a:pPr>
            <a:r>
              <a:rPr lang="en-US" altLang="zh-CN" sz="26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和样本容量 </a:t>
            </a:r>
            <a:r>
              <a:rPr lang="en-US" altLang="zh-CN" sz="2600" i="1" dirty="0">
                <a:latin typeface="楷体_GB2312" pitchFamily="49" charset="-122"/>
                <a:ea typeface="楷体_GB2312" pitchFamily="49" charset="-122"/>
              </a:rPr>
              <a:t>n</a:t>
            </a:r>
            <a:r>
              <a:rPr lang="en-US" altLang="zh-CN" sz="26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所决定</a:t>
            </a:r>
          </a:p>
          <a:p>
            <a:pPr>
              <a:lnSpc>
                <a:spcPct val="80000"/>
              </a:lnSpc>
              <a:buFont typeface="Wingdings" panose="05000000000000000000" pitchFamily="2" charset="2"/>
              <a:buNone/>
            </a:pPr>
            <a:r>
              <a:rPr lang="zh-CN" altLang="en-US" sz="2600" dirty="0">
                <a:latin typeface="楷体_GB2312" pitchFamily="49" charset="-122"/>
                <a:ea typeface="楷体_GB2312" pitchFamily="49" charset="-122"/>
              </a:rPr>
              <a:t>              </a:t>
            </a:r>
            <a:r>
              <a:rPr lang="en-US" altLang="zh-CN" sz="2600" i="1" dirty="0">
                <a:latin typeface="楷体_GB2312" pitchFamily="49" charset="-122"/>
                <a:ea typeface="楷体_GB2312" pitchFamily="49" charset="-122"/>
              </a:rPr>
              <a:t>μ</a:t>
            </a:r>
            <a:r>
              <a:rPr lang="zh-CN" altLang="en-US" sz="2600" i="1" dirty="0">
                <a:latin typeface="楷体_GB2312" pitchFamily="49" charset="-122"/>
                <a:ea typeface="楷体_GB2312" pitchFamily="49" charset="-122"/>
              </a:rPr>
              <a:t>＝</a:t>
            </a:r>
            <a:r>
              <a:rPr lang="en-US" altLang="zh-CN" sz="2600" i="1" dirty="0">
                <a:latin typeface="楷体_GB2312" pitchFamily="49" charset="-122"/>
                <a:ea typeface="楷体_GB2312" pitchFamily="49" charset="-122"/>
              </a:rPr>
              <a:t>m ± ks</a:t>
            </a:r>
          </a:p>
          <a:p>
            <a:pPr>
              <a:lnSpc>
                <a:spcPct val="80000"/>
              </a:lnSpc>
              <a:buFont typeface="Wingdings" panose="05000000000000000000" pitchFamily="2" charset="2"/>
              <a:buNone/>
            </a:pPr>
            <a:endParaRPr lang="en-US" altLang="zh-CN" sz="2600" dirty="0">
              <a:solidFill>
                <a:schemeClr val="hlink"/>
              </a:solidFill>
              <a:latin typeface="楷体_GB2312" pitchFamily="49" charset="-122"/>
              <a:ea typeface="楷体_GB2312" pitchFamily="49" charset="-122"/>
            </a:endParaRPr>
          </a:p>
          <a:p>
            <a:pPr>
              <a:lnSpc>
                <a:spcPct val="80000"/>
              </a:lnSpc>
              <a:buFont typeface="Wingdings" panose="05000000000000000000" pitchFamily="2" charset="2"/>
              <a:buNone/>
            </a:pPr>
            <a:r>
              <a:rPr lang="zh-CN" altLang="en-US" sz="2600" dirty="0">
                <a:solidFill>
                  <a:schemeClr val="hlink"/>
                </a:solidFill>
                <a:latin typeface="楷体_GB2312" pitchFamily="49" charset="-122"/>
                <a:ea typeface="楷体_GB2312" pitchFamily="49" charset="-122"/>
              </a:rPr>
              <a:t>减少检测结果不确定度的措施</a:t>
            </a:r>
          </a:p>
          <a:p>
            <a:pPr>
              <a:lnSpc>
                <a:spcPct val="80000"/>
              </a:lnSpc>
              <a:buFont typeface="Wingdings" panose="05000000000000000000" pitchFamily="2" charset="2"/>
              <a:buNone/>
            </a:pPr>
            <a:r>
              <a:rPr lang="en-US" altLang="zh-CN" sz="2600" dirty="0">
                <a:latin typeface="楷体_GB2312" pitchFamily="49" charset="-122"/>
                <a:ea typeface="楷体_GB2312" pitchFamily="49" charset="-122"/>
              </a:rPr>
              <a:t>1</a:t>
            </a:r>
            <a:r>
              <a:rPr lang="zh-CN" altLang="en-US" sz="2600" dirty="0">
                <a:latin typeface="楷体_GB2312" pitchFamily="49" charset="-122"/>
                <a:ea typeface="楷体_GB2312" pitchFamily="49" charset="-122"/>
              </a:rPr>
              <a:t>）减小样本的标准差 </a:t>
            </a:r>
            <a:r>
              <a:rPr lang="en-US" altLang="zh-CN" sz="2600" i="1" dirty="0">
                <a:latin typeface="楷体_GB2312" pitchFamily="49" charset="-122"/>
                <a:ea typeface="楷体_GB2312" pitchFamily="49" charset="-122"/>
              </a:rPr>
              <a:t>S</a:t>
            </a:r>
          </a:p>
          <a:p>
            <a:pPr>
              <a:lnSpc>
                <a:spcPct val="80000"/>
              </a:lnSpc>
              <a:buFont typeface="Wingdings" panose="05000000000000000000" pitchFamily="2" charset="2"/>
              <a:buNone/>
            </a:pPr>
            <a:r>
              <a:rPr lang="en-US" altLang="zh-CN" sz="2600" dirty="0">
                <a:latin typeface="楷体_GB2312" pitchFamily="49" charset="-122"/>
                <a:ea typeface="楷体_GB2312" pitchFamily="49" charset="-122"/>
              </a:rPr>
              <a:t>2</a:t>
            </a:r>
            <a:r>
              <a:rPr lang="zh-CN" altLang="en-US" sz="2600" dirty="0">
                <a:latin typeface="楷体_GB2312" pitchFamily="49" charset="-122"/>
                <a:ea typeface="楷体_GB2312" pitchFamily="49" charset="-122"/>
              </a:rPr>
              <a:t>）或增加样本容量 </a:t>
            </a:r>
            <a:r>
              <a:rPr lang="en-US" altLang="zh-CN" sz="2600" i="1" dirty="0">
                <a:latin typeface="楷体_GB2312" pitchFamily="49" charset="-122"/>
                <a:ea typeface="楷体_GB2312" pitchFamily="49" charset="-122"/>
              </a:rPr>
              <a:t>n</a:t>
            </a:r>
            <a:r>
              <a:rPr lang="en-US" altLang="zh-CN" sz="26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（加大</a:t>
            </a:r>
            <a:r>
              <a:rPr lang="en-US" altLang="zh-CN" sz="2600" i="1" dirty="0">
                <a:latin typeface="楷体_GB2312" pitchFamily="49" charset="-122"/>
                <a:ea typeface="楷体_GB2312" pitchFamily="49" charset="-122"/>
              </a:rPr>
              <a:t>n</a:t>
            </a:r>
            <a:r>
              <a:rPr lang="en-US" altLang="zh-CN" sz="26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，使 </a:t>
            </a:r>
            <a:r>
              <a:rPr lang="en-US" altLang="zh-CN" sz="2600" i="1" dirty="0">
                <a:latin typeface="楷体_GB2312" pitchFamily="49" charset="-122"/>
                <a:ea typeface="楷体_GB2312" pitchFamily="49" charset="-122"/>
              </a:rPr>
              <a:t>k </a:t>
            </a:r>
            <a:r>
              <a:rPr lang="zh-CN" altLang="en-US" sz="2600" dirty="0">
                <a:latin typeface="楷体_GB2312" pitchFamily="49" charset="-122"/>
                <a:ea typeface="楷体_GB2312" pitchFamily="49" charset="-122"/>
              </a:rPr>
              <a:t>减小）</a:t>
            </a:r>
          </a:p>
          <a:p>
            <a:pPr>
              <a:lnSpc>
                <a:spcPct val="80000"/>
              </a:lnSpc>
              <a:buFont typeface="Wingdings" panose="05000000000000000000" pitchFamily="2" charset="2"/>
              <a:buNone/>
            </a:pPr>
            <a:r>
              <a:rPr lang="en-US" altLang="zh-CN" sz="2600" dirty="0">
                <a:latin typeface="楷体_GB2312" pitchFamily="49" charset="-122"/>
                <a:ea typeface="楷体_GB2312" pitchFamily="49" charset="-122"/>
              </a:rPr>
              <a:t>3</a:t>
            </a:r>
            <a:r>
              <a:rPr lang="zh-CN" altLang="en-US" sz="2600" dirty="0">
                <a:latin typeface="楷体_GB2312" pitchFamily="49" charset="-122"/>
                <a:ea typeface="楷体_GB2312" pitchFamily="49" charset="-122"/>
              </a:rPr>
              <a:t>）降低推定区间的置信度</a:t>
            </a:r>
          </a:p>
        </p:txBody>
      </p:sp>
      <p:sp>
        <p:nvSpPr>
          <p:cNvPr id="86020" name="Rectangle 4"/>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6021" name="Rectangle 6"/>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6022" name="Rectangle 8"/>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6023" name="Rectangle 10"/>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6024" name="Rectangle 1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6025" name="Rectangle 14"/>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86026" name="Rectangle 16"/>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1093024" y="548680"/>
            <a:ext cx="5627688" cy="630237"/>
          </a:xfrm>
        </p:spPr>
        <p:txBody>
          <a:bodyPr vert="horz" wrap="square" lIns="91440" tIns="45720" rIns="91440" bIns="45720" anchor="ctr" anchorCtr="0">
            <a:normAutofit fontScale="90000"/>
          </a:bodyPr>
          <a:lstStyle/>
          <a:p>
            <a:r>
              <a:rPr lang="zh-CN" altLang="en-US" sz="3400" dirty="0"/>
              <a:t>（</a:t>
            </a:r>
            <a:r>
              <a:rPr lang="en-US" altLang="zh-CN" sz="3400" dirty="0"/>
              <a:t>4</a:t>
            </a:r>
            <a:r>
              <a:rPr lang="zh-CN" altLang="en-US" sz="3400" dirty="0"/>
              <a:t>）回弹法检测强度工程实例</a:t>
            </a:r>
          </a:p>
        </p:txBody>
      </p:sp>
      <p:sp>
        <p:nvSpPr>
          <p:cNvPr id="87043" name="Rectangle 3"/>
          <p:cNvSpPr>
            <a:spLocks noGrp="1"/>
          </p:cNvSpPr>
          <p:nvPr>
            <p:ph idx="1"/>
          </p:nvPr>
        </p:nvSpPr>
        <p:spPr>
          <a:xfrm>
            <a:off x="1127448" y="1484784"/>
            <a:ext cx="9216627" cy="3124200"/>
          </a:xfrm>
        </p:spPr>
        <p:txBody>
          <a:bodyPr vert="horz" wrap="square" lIns="91440" tIns="45720" rIns="91440" bIns="45720" anchor="t" anchorCtr="0">
            <a:normAutofit/>
          </a:bodyPr>
          <a:lstStyle/>
          <a:p>
            <a:pPr>
              <a:lnSpc>
                <a:spcPct val="90000"/>
              </a:lnSpc>
            </a:pPr>
            <a:r>
              <a:rPr lang="zh-CN" altLang="en-US" sz="2600" dirty="0">
                <a:latin typeface="楷体_GB2312" pitchFamily="49" charset="-122"/>
                <a:ea typeface="楷体_GB2312" pitchFamily="49" charset="-122"/>
              </a:rPr>
              <a:t>北京某住宅小区</a:t>
            </a:r>
          </a:p>
          <a:p>
            <a:pPr>
              <a:lnSpc>
                <a:spcPct val="90000"/>
              </a:lnSpc>
              <a:buFont typeface="Wingdings" panose="05000000000000000000" pitchFamily="2" charset="2"/>
              <a:buNone/>
            </a:pPr>
            <a:r>
              <a:rPr lang="zh-CN" altLang="en-US" sz="2600" dirty="0">
                <a:latin typeface="楷体_GB2312" pitchFamily="49" charset="-122"/>
                <a:ea typeface="楷体_GB2312" pitchFamily="49" charset="-122"/>
              </a:rPr>
              <a:t>  设计资料：地上</a:t>
            </a:r>
            <a:r>
              <a:rPr lang="en-US" altLang="zh-CN" sz="2600" dirty="0">
                <a:latin typeface="楷体_GB2312" pitchFamily="49" charset="-122"/>
                <a:ea typeface="楷体_GB2312" pitchFamily="49" charset="-122"/>
              </a:rPr>
              <a:t>26</a:t>
            </a:r>
            <a:r>
              <a:rPr lang="zh-CN" altLang="en-US" sz="2600" dirty="0">
                <a:latin typeface="楷体_GB2312" pitchFamily="49" charset="-122"/>
                <a:ea typeface="楷体_GB2312" pitchFamily="49" charset="-122"/>
              </a:rPr>
              <a:t>层剪力墙结构，墙体设计强度等级</a:t>
            </a:r>
            <a:r>
              <a:rPr lang="en-US" altLang="zh-CN" sz="2600" dirty="0">
                <a:latin typeface="楷体_GB2312" pitchFamily="49" charset="-122"/>
                <a:ea typeface="楷体_GB2312" pitchFamily="49" charset="-122"/>
              </a:rPr>
              <a:t>C35</a:t>
            </a:r>
          </a:p>
          <a:p>
            <a:pPr>
              <a:lnSpc>
                <a:spcPct val="90000"/>
              </a:lnSpc>
              <a:buFont typeface="Wingdings" panose="05000000000000000000" pitchFamily="2" charset="2"/>
              <a:buNone/>
            </a:pPr>
            <a:r>
              <a:rPr lang="en-US" altLang="zh-CN" sz="19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检测目标：随机抽取</a:t>
            </a:r>
            <a:r>
              <a:rPr lang="en-US" altLang="zh-CN" sz="2600" dirty="0">
                <a:latin typeface="楷体_GB2312" pitchFamily="49" charset="-122"/>
                <a:ea typeface="楷体_GB2312" pitchFamily="49" charset="-122"/>
              </a:rPr>
              <a:t>12</a:t>
            </a:r>
            <a:r>
              <a:rPr lang="zh-CN" altLang="en-US" sz="2600" dirty="0">
                <a:latin typeface="楷体_GB2312" pitchFamily="49" charset="-122"/>
                <a:ea typeface="楷体_GB2312" pitchFamily="49" charset="-122"/>
              </a:rPr>
              <a:t>面墙体</a:t>
            </a:r>
          </a:p>
          <a:p>
            <a:pPr>
              <a:lnSpc>
                <a:spcPct val="90000"/>
              </a:lnSpc>
              <a:buFont typeface="Wingdings" panose="05000000000000000000" pitchFamily="2" charset="2"/>
              <a:buNone/>
            </a:pPr>
            <a:r>
              <a:rPr lang="zh-CN" altLang="en-US" sz="2600" dirty="0">
                <a:latin typeface="楷体_GB2312" pitchFamily="49" charset="-122"/>
                <a:ea typeface="楷体_GB2312" pitchFamily="49" charset="-122"/>
              </a:rPr>
              <a:t>  检测方法：回弹法检测</a:t>
            </a:r>
            <a:endParaRPr lang="en-US" altLang="zh-CN" sz="2600" dirty="0">
              <a:latin typeface="楷体_GB2312" pitchFamily="49" charset="-122"/>
              <a:ea typeface="楷体_GB2312" pitchFamily="49" charset="-122"/>
            </a:endParaRPr>
          </a:p>
          <a:p>
            <a:pPr>
              <a:lnSpc>
                <a:spcPct val="90000"/>
              </a:lnSpc>
              <a:buFont typeface="Wingdings" panose="05000000000000000000" pitchFamily="2" charset="2"/>
              <a:buNone/>
            </a:pPr>
            <a:r>
              <a:rPr lang="zh-CN" altLang="en-US" sz="2600" dirty="0">
                <a:latin typeface="楷体_GB2312" pitchFamily="49" charset="-122"/>
                <a:ea typeface="楷体_GB2312" pitchFamily="49" charset="-122"/>
              </a:rPr>
              <a:t>            按批检测，每个墙上</a:t>
            </a:r>
            <a:r>
              <a:rPr lang="en-US" altLang="zh-CN" sz="2600" dirty="0">
                <a:latin typeface="楷体_GB2312" pitchFamily="49" charset="-122"/>
                <a:ea typeface="楷体_GB2312" pitchFamily="49" charset="-122"/>
              </a:rPr>
              <a:t>10</a:t>
            </a:r>
            <a:r>
              <a:rPr lang="zh-CN" altLang="en-US" sz="2600" dirty="0">
                <a:latin typeface="楷体_GB2312" pitchFamily="49" charset="-122"/>
                <a:ea typeface="楷体_GB2312" pitchFamily="49" charset="-122"/>
              </a:rPr>
              <a:t>个测区</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p:txBody>
          <a:bodyPr vert="horz" wrap="square" lIns="91440" tIns="45720" rIns="91440" bIns="45720" anchor="ctr" anchorCtr="0"/>
          <a:lstStyle/>
          <a:p>
            <a:r>
              <a:rPr lang="zh-CN" altLang="en-US" sz="2500" dirty="0">
                <a:latin typeface="宋体" panose="02010600030101010101" pitchFamily="2" charset="-122"/>
              </a:rPr>
              <a:t>单个构件混凝土强度计算汇总表</a:t>
            </a:r>
          </a:p>
        </p:txBody>
      </p:sp>
      <p:graphicFrame>
        <p:nvGraphicFramePr>
          <p:cNvPr id="124929" name="Group 1"/>
          <p:cNvGraphicFramePr>
            <a:graphicFrameLocks noGrp="1"/>
          </p:cNvGraphicFramePr>
          <p:nvPr>
            <p:ph type="tbl" idx="1"/>
          </p:nvPr>
        </p:nvGraphicFramePr>
        <p:xfrm>
          <a:off x="2279650" y="1125538"/>
          <a:ext cx="7992745" cy="5448304"/>
        </p:xfrm>
        <a:graphic>
          <a:graphicData uri="http://schemas.openxmlformats.org/drawingml/2006/table">
            <a:tbl>
              <a:tblPr/>
              <a:tblGrid>
                <a:gridCol w="1222375">
                  <a:extLst>
                    <a:ext uri="{9D8B030D-6E8A-4147-A177-3AD203B41FA5}">
                      <a16:colId xmlns:a16="http://schemas.microsoft.com/office/drawing/2014/main" val="20000"/>
                    </a:ext>
                  </a:extLst>
                </a:gridCol>
                <a:gridCol w="987425">
                  <a:extLst>
                    <a:ext uri="{9D8B030D-6E8A-4147-A177-3AD203B41FA5}">
                      <a16:colId xmlns:a16="http://schemas.microsoft.com/office/drawing/2014/main" val="20001"/>
                    </a:ext>
                  </a:extLst>
                </a:gridCol>
                <a:gridCol w="1926590">
                  <a:extLst>
                    <a:ext uri="{9D8B030D-6E8A-4147-A177-3AD203B41FA5}">
                      <a16:colId xmlns:a16="http://schemas.microsoft.com/office/drawing/2014/main" val="20002"/>
                    </a:ext>
                  </a:extLst>
                </a:gridCol>
                <a:gridCol w="1929130">
                  <a:extLst>
                    <a:ext uri="{9D8B030D-6E8A-4147-A177-3AD203B41FA5}">
                      <a16:colId xmlns:a16="http://schemas.microsoft.com/office/drawing/2014/main" val="20003"/>
                    </a:ext>
                  </a:extLst>
                </a:gridCol>
                <a:gridCol w="1927225">
                  <a:extLst>
                    <a:ext uri="{9D8B030D-6E8A-4147-A177-3AD203B41FA5}">
                      <a16:colId xmlns:a16="http://schemas.microsoft.com/office/drawing/2014/main" val="20004"/>
                    </a:ext>
                  </a:extLst>
                </a:gridCol>
              </a:tblGrid>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构件名称</a:t>
                      </a:r>
                      <a:endParaRPr kumimoji="0" lang="zh-CN" altLang="en-US"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a:ln>
                            <a:noFill/>
                          </a:ln>
                          <a:solidFill>
                            <a:schemeClr val="tx1"/>
                          </a:solidFill>
                          <a:effectLst/>
                          <a:latin typeface="宋体" panose="02010600030101010101" pitchFamily="2" charset="-122"/>
                          <a:ea typeface="宋体" panose="02010600030101010101" pitchFamily="2" charset="-122"/>
                        </a:rPr>
                        <a:t>测区数</a:t>
                      </a:r>
                      <a:endParaRPr kumimoji="0" lang="zh-CN" altLang="en-US" sz="15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a:ln>
                            <a:noFill/>
                          </a:ln>
                          <a:solidFill>
                            <a:schemeClr val="tx1"/>
                          </a:solidFill>
                          <a:effectLst/>
                          <a:latin typeface="宋体" panose="02010600030101010101" pitchFamily="2" charset="-122"/>
                          <a:ea typeface="宋体" panose="02010600030101010101" pitchFamily="2" charset="-122"/>
                        </a:rPr>
                        <a:t>测区强度平均值</a:t>
                      </a:r>
                      <a:endParaRPr kumimoji="0" lang="zh-CN" altLang="en-US" sz="15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a:ln>
                            <a:noFill/>
                          </a:ln>
                          <a:solidFill>
                            <a:schemeClr val="tx1"/>
                          </a:solidFill>
                          <a:effectLst/>
                          <a:latin typeface="宋体" panose="02010600030101010101" pitchFamily="2" charset="-122"/>
                          <a:ea typeface="宋体" panose="02010600030101010101" pitchFamily="2" charset="-122"/>
                        </a:rPr>
                        <a:t>测区强度标准差</a:t>
                      </a:r>
                      <a:endParaRPr kumimoji="0" lang="zh-CN" altLang="en-US" sz="15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500" b="0" i="0" u="none" strike="noStrike" cap="none" normalizeH="0" baseline="0">
                          <a:ln>
                            <a:noFill/>
                          </a:ln>
                          <a:solidFill>
                            <a:schemeClr val="tx1"/>
                          </a:solidFill>
                          <a:effectLst/>
                          <a:latin typeface="宋体" panose="02010600030101010101" pitchFamily="2" charset="-122"/>
                          <a:ea typeface="宋体" panose="02010600030101010101" pitchFamily="2" charset="-122"/>
                        </a:rPr>
                        <a:t>构件强度推定值</a:t>
                      </a:r>
                      <a:endParaRPr kumimoji="0" lang="zh-CN" altLang="en-US" sz="15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14/R-T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37.9</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1.50</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35.5</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86">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15/A-C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38.2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1.76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35.5</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2324">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A/15-18</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37.5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1.51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35.1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F/13-18</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39.1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37.3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L/4-6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38.5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1.63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35.8</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4/A-C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36.5</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F/1-6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38.3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1.33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36.1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H/12-15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38.6</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1.53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36.0</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22324">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P/12-15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41.2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1.73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R/16-18</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39.2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1.74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36.3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F/6-13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39.9</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2.59</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35.1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20737">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F/15/18</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37.3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0.69</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36.2</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cSld>
  <p:clrMapOvr>
    <a:masterClrMapping/>
  </p:clrMapOvr>
  <p:transition spd="slow">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xfrm>
            <a:off x="1343660" y="908685"/>
            <a:ext cx="4406900" cy="645160"/>
          </a:xfrm>
        </p:spPr>
        <p:txBody>
          <a:bodyPr vert="horz" wrap="square" lIns="91440" tIns="45720" rIns="91440" bIns="45720" anchor="ctr" anchorCtr="0"/>
          <a:lstStyle/>
          <a:p>
            <a:pPr algn="l"/>
            <a:r>
              <a:rPr lang="zh-CN" altLang="en-US" sz="2500" dirty="0">
                <a:solidFill>
                  <a:schemeClr val="tx1"/>
                </a:solidFill>
              </a:rPr>
              <a:t>按照批构件混凝土强度计算</a:t>
            </a:r>
          </a:p>
        </p:txBody>
      </p:sp>
      <p:sp>
        <p:nvSpPr>
          <p:cNvPr id="125955" name="Rectangle 3"/>
          <p:cNvSpPr>
            <a:spLocks noGrp="1" noChangeArrowheads="1"/>
          </p:cNvSpPr>
          <p:nvPr>
            <p:ph idx="1"/>
          </p:nvPr>
        </p:nvSpPr>
        <p:spPr>
          <a:xfrm>
            <a:off x="1010285" y="1700530"/>
            <a:ext cx="10626090" cy="4537075"/>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
                <a:schemeClr val="tx2"/>
              </a:buClr>
              <a:buSzPct val="50000"/>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本批构件换算值的平均值  </a:t>
            </a:r>
            <a:r>
              <a:rPr kumimoji="0" lang="en-US" altLang="zh-CN"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m = 36.1MPa,</a:t>
            </a:r>
          </a:p>
          <a:p>
            <a:pPr marL="0" marR="0" lvl="0" indent="0" algn="l" defTabSz="914400" rtl="0" eaLnBrk="0" fontAlgn="base" latinLnBrk="0" hangingPunct="0">
              <a:lnSpc>
                <a:spcPct val="90000"/>
              </a:lnSpc>
              <a:spcBef>
                <a:spcPct val="20000"/>
              </a:spcBef>
              <a:spcAft>
                <a:spcPct val="0"/>
              </a:spcAft>
              <a:buClr>
                <a:schemeClr val="tx2"/>
              </a:buClr>
              <a:buSzPct val="50000"/>
              <a:buFont typeface="Wingdings 2" panose="05020102010507070707" pitchFamily="18" charset="2"/>
              <a:buNone/>
              <a:defRPr/>
            </a:pP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换算值的标准差（</a:t>
            </a:r>
            <a:r>
              <a:rPr kumimoji="0" lang="en-US" altLang="zh-CN"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10</a:t>
            </a: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个构件）  </a:t>
            </a:r>
            <a:r>
              <a:rPr kumimoji="0" lang="en-US" altLang="zh-CN"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S=0.92MPa</a:t>
            </a:r>
          </a:p>
          <a:p>
            <a:pPr marL="342900" marR="0" lvl="0" indent="-342900" algn="l" defTabSz="914400" rtl="0" eaLnBrk="0" fontAlgn="base" latinLnBrk="0" hangingPunct="0">
              <a:lnSpc>
                <a:spcPct val="90000"/>
              </a:lnSpc>
              <a:spcBef>
                <a:spcPct val="20000"/>
              </a:spcBef>
              <a:spcAft>
                <a:spcPct val="0"/>
              </a:spcAft>
              <a:buClr>
                <a:schemeClr val="tx2"/>
              </a:buClr>
              <a:buSzPct val="50000"/>
              <a:buFont typeface="Wingdings" panose="05000000000000000000" pitchFamily="2" charset="2"/>
              <a:buNone/>
              <a:defRPr/>
            </a:pPr>
            <a:r>
              <a:rPr kumimoji="0" lang="en-US" altLang="zh-CN"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S&lt;4.5MPa  </a:t>
            </a: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可以作为一批构件</a:t>
            </a:r>
          </a:p>
          <a:p>
            <a:pPr marL="0" marR="0" lvl="0" indent="0" algn="l" defTabSz="914400" rtl="0" eaLnBrk="0" fontAlgn="base" latinLnBrk="0" hangingPunct="0">
              <a:lnSpc>
                <a:spcPct val="90000"/>
              </a:lnSpc>
              <a:spcBef>
                <a:spcPct val="20000"/>
              </a:spcBef>
              <a:spcAft>
                <a:spcPct val="0"/>
              </a:spcAft>
              <a:buClr>
                <a:schemeClr val="tx2"/>
              </a:buClr>
              <a:buSzPct val="50000"/>
              <a:buFont typeface="Wingdings 2" panose="05020102010507070707" pitchFamily="18" charset="2"/>
              <a:buNone/>
              <a:defRPr/>
            </a:pP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本批构件混凝土强度推定值</a:t>
            </a:r>
          </a:p>
          <a:p>
            <a:pPr marL="342900" marR="0" lvl="0" indent="-342900" algn="l" defTabSz="914400" rtl="0" eaLnBrk="0" fontAlgn="base" latinLnBrk="0" hangingPunct="0">
              <a:lnSpc>
                <a:spcPct val="90000"/>
              </a:lnSpc>
              <a:spcBef>
                <a:spcPct val="20000"/>
              </a:spcBef>
              <a:spcAft>
                <a:spcPct val="0"/>
              </a:spcAft>
              <a:buClr>
                <a:schemeClr val="tx2"/>
              </a:buClr>
              <a:buSzPct val="50000"/>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en-US" altLang="zh-CN" sz="2800" b="0" i="1" u="none" strike="noStrike" kern="1200" cap="none" spc="0" normalizeH="0" baseline="0" noProof="0" dirty="0" err="1">
                <a:ln>
                  <a:noFill/>
                </a:ln>
                <a:solidFill>
                  <a:schemeClr val="tx1"/>
                </a:solidFill>
                <a:effectLst/>
                <a:uLnTx/>
                <a:uFillTx/>
                <a:latin typeface="楷体_GB2312" pitchFamily="49" charset="-122"/>
                <a:ea typeface="楷体_GB2312" pitchFamily="49" charset="-122"/>
                <a:cs typeface="+mn-cs"/>
              </a:rPr>
              <a:t>f</a:t>
            </a:r>
            <a:r>
              <a:rPr kumimoji="0" lang="en-US" altLang="zh-CN" sz="2800" b="0" i="0" u="none" strike="noStrike" kern="1200" cap="none" spc="0" normalizeH="0" baseline="0" noProof="0" dirty="0" err="1">
                <a:ln>
                  <a:noFill/>
                </a:ln>
                <a:solidFill>
                  <a:schemeClr val="tx1"/>
                </a:solidFill>
                <a:effectLst/>
                <a:uLnTx/>
                <a:uFillTx/>
                <a:latin typeface="楷体_GB2312" pitchFamily="49" charset="-122"/>
                <a:ea typeface="楷体_GB2312" pitchFamily="49" charset="-122"/>
                <a:cs typeface="+mn-cs"/>
              </a:rPr>
              <a:t>cu,e</a:t>
            </a:r>
            <a:r>
              <a:rPr kumimoji="0" lang="en-US" altLang="zh-CN"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 m -1.645s=34.6MPa &lt; C35</a:t>
            </a:r>
          </a:p>
          <a:p>
            <a:pPr marL="0" marR="0" lvl="0" indent="0" algn="l" defTabSz="914400" rtl="0" eaLnBrk="0" fontAlgn="base" latinLnBrk="0" hangingPunct="0">
              <a:lnSpc>
                <a:spcPct val="90000"/>
              </a:lnSpc>
              <a:spcBef>
                <a:spcPct val="20000"/>
              </a:spcBef>
              <a:spcAft>
                <a:spcPct val="0"/>
              </a:spcAft>
              <a:buClr>
                <a:schemeClr val="tx2"/>
              </a:buClr>
              <a:buSzPct val="50000"/>
              <a:buFont typeface="Wingdings 2" panose="05020102010507070707" pitchFamily="18" charset="2"/>
              <a:buNone/>
              <a:defRPr/>
            </a:pP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结论</a:t>
            </a:r>
          </a:p>
          <a:p>
            <a:pPr marL="342900" marR="0" lvl="0" indent="-342900" algn="l" defTabSz="914400" rtl="0" eaLnBrk="0" fontAlgn="base" latinLnBrk="0" hangingPunct="0">
              <a:lnSpc>
                <a:spcPct val="90000"/>
              </a:lnSpc>
              <a:spcBef>
                <a:spcPct val="20000"/>
              </a:spcBef>
              <a:spcAft>
                <a:spcPct val="0"/>
              </a:spcAft>
              <a:buClr>
                <a:schemeClr val="tx2"/>
              </a:buClr>
              <a:buSzPct val="50000"/>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该批构件混凝土抗压强度未达到设计</a:t>
            </a:r>
            <a:r>
              <a:rPr lang="zh-CN" altLang="en-US" sz="2800" b="0" noProof="0" dirty="0">
                <a:ln>
                  <a:noFill/>
                </a:ln>
                <a:solidFill>
                  <a:schemeClr val="tx1"/>
                </a:solidFill>
                <a:effectLst/>
                <a:uLnTx/>
                <a:uFillTx/>
                <a:latin typeface="楷体_GB2312" pitchFamily="49" charset="-122"/>
                <a:ea typeface="楷体_GB2312" pitchFamily="49" charset="-122"/>
                <a:sym typeface="+mn-ea"/>
              </a:rPr>
              <a:t>强度等级</a:t>
            </a:r>
            <a:r>
              <a:rPr lang="en-US" altLang="zh-CN" sz="2800" b="0" noProof="0" dirty="0">
                <a:ln>
                  <a:noFill/>
                </a:ln>
                <a:solidFill>
                  <a:schemeClr val="tx1"/>
                </a:solidFill>
                <a:effectLst/>
                <a:uLnTx/>
                <a:uFillTx/>
                <a:latin typeface="楷体_GB2312" pitchFamily="49" charset="-122"/>
                <a:ea typeface="楷体_GB2312" pitchFamily="49" charset="-122"/>
                <a:sym typeface="+mn-ea"/>
              </a:rPr>
              <a:t>C35</a:t>
            </a:r>
            <a:r>
              <a:rPr lang="zh-CN" altLang="en-US" sz="2800" b="0" noProof="0" dirty="0">
                <a:ln>
                  <a:noFill/>
                </a:ln>
                <a:solidFill>
                  <a:schemeClr val="tx1"/>
                </a:solidFill>
                <a:effectLst/>
                <a:uLnTx/>
                <a:uFillTx/>
                <a:latin typeface="楷体_GB2312" pitchFamily="49" charset="-122"/>
                <a:ea typeface="楷体_GB2312" pitchFamily="49" charset="-122"/>
                <a:sym typeface="+mn-ea"/>
              </a:rPr>
              <a:t>标准。</a:t>
            </a:r>
            <a:endPar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0" fontAlgn="base" latinLnBrk="0" hangingPunct="0">
              <a:lnSpc>
                <a:spcPct val="90000"/>
              </a:lnSpc>
              <a:spcBef>
                <a:spcPct val="20000"/>
              </a:spcBef>
              <a:spcAft>
                <a:spcPct val="0"/>
              </a:spcAft>
              <a:buClr>
                <a:schemeClr val="tx2"/>
              </a:buClr>
              <a:buSzPct val="50000"/>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或：该批构件现龄期混凝土抗压强度达到设计强度等级</a:t>
            </a:r>
            <a:r>
              <a:rPr kumimoji="0" lang="en-US" altLang="zh-CN"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C35</a:t>
            </a: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标准的</a:t>
            </a:r>
            <a:r>
              <a:rPr kumimoji="0" lang="en-US" altLang="zh-CN"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98.9%</a:t>
            </a:r>
            <a:r>
              <a:rPr kumimoji="0" lang="zh-CN" altLang="en-US" sz="2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a:xfrm>
            <a:off x="2063750" y="476250"/>
            <a:ext cx="8135938" cy="576263"/>
          </a:xfrm>
        </p:spPr>
        <p:txBody>
          <a:bodyPr vert="horz" wrap="square" lIns="91440" tIns="45720" rIns="91440" bIns="45720" anchor="ctr" anchorCtr="0"/>
          <a:lstStyle/>
          <a:p>
            <a:r>
              <a:rPr lang="zh-CN" altLang="en-US" sz="2500" dirty="0"/>
              <a:t>按照</a:t>
            </a:r>
            <a:r>
              <a:rPr lang="en-US" altLang="zh-CN" sz="2500" dirty="0"/>
              <a:t>GB/T 50344-2019</a:t>
            </a:r>
            <a:r>
              <a:rPr lang="zh-CN" altLang="en-US" sz="2500" dirty="0"/>
              <a:t>进行</a:t>
            </a:r>
            <a:r>
              <a:rPr lang="zh-CN" altLang="en-US" sz="2500" dirty="0">
                <a:ea typeface="楷体_GB2312" pitchFamily="49" charset="-122"/>
              </a:rPr>
              <a:t>批构件区间推定计算</a:t>
            </a:r>
          </a:p>
        </p:txBody>
      </p:sp>
      <p:sp>
        <p:nvSpPr>
          <p:cNvPr id="90115" name="Rectangle 3"/>
          <p:cNvSpPr>
            <a:spLocks noGrp="1"/>
          </p:cNvSpPr>
          <p:nvPr>
            <p:ph idx="1"/>
          </p:nvPr>
        </p:nvSpPr>
        <p:spPr>
          <a:xfrm>
            <a:off x="2009774" y="1125538"/>
            <a:ext cx="9702849" cy="5327650"/>
          </a:xfrm>
        </p:spPr>
        <p:txBody>
          <a:bodyPr vert="horz" wrap="square" lIns="91440" tIns="45720" rIns="91440" bIns="45720" anchor="t" anchorCtr="0">
            <a:normAutofit fontScale="92500" lnSpcReduction="10000"/>
          </a:bodyPr>
          <a:lstStyle/>
          <a:p>
            <a:pPr>
              <a:buFont typeface="Wingdings" panose="05000000000000000000" pitchFamily="2" charset="2"/>
              <a:buNone/>
            </a:pPr>
            <a:r>
              <a:rPr lang="zh-CN" altLang="en-US" sz="2600" dirty="0"/>
              <a:t>平均值 </a:t>
            </a:r>
            <a:r>
              <a:rPr lang="en-US" altLang="zh-CN" sz="2600" dirty="0"/>
              <a:t>m=36.1MPa    </a:t>
            </a:r>
            <a:r>
              <a:rPr lang="zh-CN" altLang="en-US" sz="2600" dirty="0"/>
              <a:t>标准差 </a:t>
            </a:r>
            <a:r>
              <a:rPr lang="en-US" altLang="zh-CN" sz="2600" dirty="0"/>
              <a:t>s=0.92MPa</a:t>
            </a:r>
          </a:p>
          <a:p>
            <a:pPr>
              <a:buFont typeface="Wingdings" panose="05000000000000000000" pitchFamily="2" charset="2"/>
              <a:buNone/>
            </a:pPr>
            <a:r>
              <a:rPr lang="en-US" altLang="zh-CN" sz="2600" dirty="0"/>
              <a:t>1</a:t>
            </a:r>
            <a:r>
              <a:rPr lang="zh-CN" altLang="en-US" sz="2600" dirty="0"/>
              <a:t>、</a:t>
            </a:r>
            <a:r>
              <a:rPr lang="zh-CN" altLang="en-US" sz="2600" dirty="0">
                <a:latin typeface="楷体_GB2312" pitchFamily="49" charset="-122"/>
                <a:ea typeface="楷体_GB2312" pitchFamily="49" charset="-122"/>
              </a:rPr>
              <a:t>本批构件换算值的平均值推定区间：</a:t>
            </a:r>
          </a:p>
          <a:p>
            <a:pPr>
              <a:buFont typeface="Wingdings" panose="05000000000000000000" pitchFamily="2" charset="2"/>
              <a:buNone/>
            </a:pPr>
            <a:r>
              <a:rPr lang="zh-CN" altLang="en-US" sz="2600" dirty="0">
                <a:latin typeface="楷体_GB2312" pitchFamily="49" charset="-122"/>
                <a:ea typeface="楷体_GB2312" pitchFamily="49" charset="-122"/>
              </a:rPr>
              <a:t>   上限值</a:t>
            </a:r>
            <a:r>
              <a:rPr lang="en-US" altLang="zh-CN" sz="2600" dirty="0">
                <a:latin typeface="楷体_GB2312" pitchFamily="49" charset="-122"/>
                <a:ea typeface="楷体_GB2312" pitchFamily="49" charset="-122"/>
              </a:rPr>
              <a:t>=m+ks=36.1+0.51843×0.92=36.6MPa</a:t>
            </a:r>
          </a:p>
          <a:p>
            <a:pPr>
              <a:buFont typeface="Wingdings" panose="05000000000000000000" pitchFamily="2" charset="2"/>
              <a:buNone/>
            </a:pPr>
            <a:r>
              <a:rPr lang="en-US" altLang="zh-CN" sz="26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下限值</a:t>
            </a:r>
            <a:r>
              <a:rPr lang="en-US" altLang="zh-CN" sz="2600" dirty="0">
                <a:latin typeface="楷体_GB2312" pitchFamily="49" charset="-122"/>
                <a:ea typeface="楷体_GB2312" pitchFamily="49" charset="-122"/>
              </a:rPr>
              <a:t>= m-ks=36.1-0.51843×0.92=35.6MPa</a:t>
            </a:r>
          </a:p>
          <a:p>
            <a:pPr>
              <a:buFont typeface="Wingdings" panose="05000000000000000000" pitchFamily="2" charset="2"/>
              <a:buNone/>
            </a:pPr>
            <a:r>
              <a:rPr lang="en-US" altLang="zh-CN" sz="26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n=12,</a:t>
            </a:r>
            <a:r>
              <a:rPr lang="zh-CN" altLang="en-US" sz="2600" dirty="0">
                <a:latin typeface="楷体_GB2312" pitchFamily="49" charset="-122"/>
                <a:ea typeface="楷体_GB2312" pitchFamily="49" charset="-122"/>
              </a:rPr>
              <a:t>推定系数</a:t>
            </a:r>
            <a:r>
              <a:rPr lang="en-US" altLang="zh-CN" sz="2600" dirty="0">
                <a:latin typeface="楷体_GB2312" pitchFamily="49" charset="-122"/>
                <a:ea typeface="楷体_GB2312" pitchFamily="49" charset="-122"/>
              </a:rPr>
              <a:t>k=0.51843)</a:t>
            </a:r>
          </a:p>
          <a:p>
            <a:pPr>
              <a:buFont typeface="Wingdings" panose="05000000000000000000" pitchFamily="2" charset="2"/>
              <a:buNone/>
            </a:pPr>
            <a:r>
              <a:rPr lang="en-US" altLang="zh-CN" sz="2600" dirty="0">
                <a:latin typeface="楷体_GB2312" pitchFamily="49" charset="-122"/>
                <a:ea typeface="楷体_GB2312" pitchFamily="49" charset="-122"/>
              </a:rPr>
              <a:t>2</a:t>
            </a:r>
            <a:r>
              <a:rPr lang="zh-CN" altLang="en-US" sz="2600" dirty="0">
                <a:latin typeface="楷体_GB2312" pitchFamily="49" charset="-122"/>
                <a:ea typeface="楷体_GB2312" pitchFamily="49" charset="-122"/>
              </a:rPr>
              <a:t>、本批构件强度推定值的推定区间（具有</a:t>
            </a:r>
            <a:r>
              <a:rPr lang="en-US" altLang="zh-CN" sz="2600" dirty="0">
                <a:latin typeface="楷体_GB2312" pitchFamily="49" charset="-122"/>
                <a:ea typeface="楷体_GB2312" pitchFamily="49" charset="-122"/>
              </a:rPr>
              <a:t>95%</a:t>
            </a:r>
            <a:r>
              <a:rPr lang="zh-CN" altLang="en-US" sz="2600" dirty="0">
                <a:latin typeface="楷体_GB2312" pitchFamily="49" charset="-122"/>
                <a:ea typeface="楷体_GB2312" pitchFamily="49" charset="-122"/>
              </a:rPr>
              <a:t>保证率的标准值）</a:t>
            </a:r>
          </a:p>
          <a:p>
            <a:pPr>
              <a:buFont typeface="Wingdings" panose="05000000000000000000" pitchFamily="2" charset="2"/>
              <a:buNone/>
            </a:pPr>
            <a:r>
              <a:rPr lang="zh-CN" altLang="en-US" sz="2600" dirty="0">
                <a:latin typeface="楷体_GB2312" pitchFamily="49" charset="-122"/>
                <a:ea typeface="楷体_GB2312" pitchFamily="49" charset="-122"/>
              </a:rPr>
              <a:t>   上限值</a:t>
            </a:r>
            <a:r>
              <a:rPr lang="en-US" altLang="zh-CN" sz="2600" dirty="0">
                <a:latin typeface="楷体_GB2312" pitchFamily="49" charset="-122"/>
                <a:ea typeface="楷体_GB2312" pitchFamily="49" charset="-122"/>
              </a:rPr>
              <a:t>= m-k</a:t>
            </a:r>
            <a:r>
              <a:rPr lang="en-US" altLang="zh-CN" sz="1900" baseline="-25000" dirty="0">
                <a:latin typeface="楷体_GB2312" pitchFamily="49" charset="-122"/>
                <a:ea typeface="楷体_GB2312" pitchFamily="49" charset="-122"/>
              </a:rPr>
              <a:t>1</a:t>
            </a:r>
            <a:r>
              <a:rPr lang="en-US" altLang="zh-CN" sz="19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S=36.1-1.06247×0.92=35.1MPa</a:t>
            </a:r>
          </a:p>
          <a:p>
            <a:pPr>
              <a:buFont typeface="Wingdings" panose="05000000000000000000" pitchFamily="2" charset="2"/>
              <a:buNone/>
            </a:pPr>
            <a:r>
              <a:rPr lang="en-US" altLang="zh-CN" sz="26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下限值</a:t>
            </a:r>
            <a:r>
              <a:rPr lang="en-US" altLang="zh-CN" sz="2600" dirty="0">
                <a:latin typeface="楷体_GB2312" pitchFamily="49" charset="-122"/>
                <a:ea typeface="楷体_GB2312" pitchFamily="49" charset="-122"/>
              </a:rPr>
              <a:t>= m-k</a:t>
            </a:r>
            <a:r>
              <a:rPr lang="en-US" altLang="zh-CN" sz="1900" baseline="-25000" dirty="0">
                <a:latin typeface="楷体_GB2312" pitchFamily="49" charset="-122"/>
                <a:ea typeface="楷体_GB2312" pitchFamily="49" charset="-122"/>
              </a:rPr>
              <a:t>2</a:t>
            </a:r>
            <a:r>
              <a:rPr lang="en-US" altLang="zh-CN" sz="19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S=36.1-2.73634×0.92=33.6MPa</a:t>
            </a:r>
          </a:p>
          <a:p>
            <a:pPr>
              <a:buFont typeface="Wingdings" panose="05000000000000000000" pitchFamily="2" charset="2"/>
              <a:buNone/>
            </a:pPr>
            <a:r>
              <a:rPr lang="en-US" altLang="zh-CN" sz="2600" dirty="0">
                <a:latin typeface="楷体_GB2312" pitchFamily="49" charset="-122"/>
                <a:ea typeface="楷体_GB2312" pitchFamily="49" charset="-122"/>
              </a:rPr>
              <a:t> </a:t>
            </a:r>
            <a:r>
              <a:rPr lang="zh-CN" altLang="en-US" sz="26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n=12,</a:t>
            </a:r>
            <a:r>
              <a:rPr lang="zh-CN" altLang="en-US" sz="2600" dirty="0">
                <a:latin typeface="楷体_GB2312" pitchFamily="49" charset="-122"/>
                <a:ea typeface="楷体_GB2312" pitchFamily="49" charset="-122"/>
              </a:rPr>
              <a:t>推定系数</a:t>
            </a:r>
            <a:r>
              <a:rPr lang="en-US" altLang="zh-CN" sz="2600" dirty="0">
                <a:latin typeface="楷体_GB2312" pitchFamily="49" charset="-122"/>
                <a:ea typeface="楷体_GB2312" pitchFamily="49" charset="-122"/>
              </a:rPr>
              <a:t>k</a:t>
            </a:r>
            <a:r>
              <a:rPr lang="en-US" altLang="zh-CN" sz="1900" baseline="-25000" dirty="0">
                <a:latin typeface="楷体_GB2312" pitchFamily="49" charset="-122"/>
                <a:ea typeface="楷体_GB2312" pitchFamily="49" charset="-122"/>
              </a:rPr>
              <a:t>1</a:t>
            </a:r>
            <a:r>
              <a:rPr lang="en-US" altLang="zh-CN" sz="2600" dirty="0">
                <a:latin typeface="楷体_GB2312" pitchFamily="49" charset="-122"/>
                <a:ea typeface="楷体_GB2312" pitchFamily="49" charset="-122"/>
              </a:rPr>
              <a:t>=1.06247</a:t>
            </a:r>
            <a:r>
              <a:rPr lang="zh-CN" altLang="en-US" sz="2600" dirty="0">
                <a:latin typeface="楷体_GB2312" pitchFamily="49" charset="-122"/>
                <a:ea typeface="楷体_GB2312" pitchFamily="49" charset="-122"/>
              </a:rPr>
              <a:t>， </a:t>
            </a:r>
            <a:r>
              <a:rPr lang="en-US" altLang="zh-CN" sz="2600" dirty="0">
                <a:latin typeface="楷体_GB2312" pitchFamily="49" charset="-122"/>
                <a:ea typeface="楷体_GB2312" pitchFamily="49" charset="-122"/>
              </a:rPr>
              <a:t>k</a:t>
            </a:r>
            <a:r>
              <a:rPr lang="en-US" altLang="zh-CN" sz="1900" baseline="-25000" dirty="0">
                <a:latin typeface="楷体_GB2312" pitchFamily="49" charset="-122"/>
                <a:ea typeface="楷体_GB2312" pitchFamily="49" charset="-122"/>
              </a:rPr>
              <a:t>2</a:t>
            </a:r>
            <a:r>
              <a:rPr lang="en-US" altLang="zh-CN" sz="2600" dirty="0">
                <a:latin typeface="楷体_GB2312" pitchFamily="49" charset="-122"/>
                <a:ea typeface="楷体_GB2312" pitchFamily="49" charset="-122"/>
              </a:rPr>
              <a:t>=2.73634)</a:t>
            </a:r>
          </a:p>
        </p:txBody>
      </p:sp>
      <p:sp>
        <p:nvSpPr>
          <p:cNvPr id="90116" name="Rectangle 4"/>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
        <p:nvSpPr>
          <p:cNvPr id="90117" name="Rectangle 5"/>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1981200" y="650875"/>
            <a:ext cx="8229600" cy="674688"/>
          </a:xfrm>
        </p:spPr>
        <p:txBody>
          <a:bodyPr vert="horz" wrap="square" lIns="91440" tIns="45720" rIns="91440" bIns="45720" anchor="ctr" anchorCtr="0"/>
          <a:lstStyle/>
          <a:p>
            <a:r>
              <a:rPr lang="zh-CN" altLang="en-US" sz="2500" dirty="0">
                <a:latin typeface="楷体_GB2312" pitchFamily="49" charset="-122"/>
                <a:ea typeface="楷体_GB2312" pitchFamily="49" charset="-122"/>
              </a:rPr>
              <a:t>按照建筑结构检测技术标准的强度推定</a:t>
            </a:r>
          </a:p>
        </p:txBody>
      </p:sp>
      <p:sp>
        <p:nvSpPr>
          <p:cNvPr id="91139" name="Rectangle 3"/>
          <p:cNvSpPr>
            <a:spLocks noGrp="1"/>
          </p:cNvSpPr>
          <p:nvPr>
            <p:ph idx="1"/>
          </p:nvPr>
        </p:nvSpPr>
        <p:spPr>
          <a:xfrm>
            <a:off x="2135505" y="1773555"/>
            <a:ext cx="9342755" cy="4464050"/>
          </a:xfrm>
        </p:spPr>
        <p:txBody>
          <a:bodyPr vert="horz" wrap="square" lIns="91440" tIns="45720" rIns="91440" bIns="45720" anchor="t" anchorCtr="0">
            <a:normAutofit/>
          </a:bodyPr>
          <a:lstStyle/>
          <a:p>
            <a:pPr>
              <a:lnSpc>
                <a:spcPct val="90000"/>
              </a:lnSpc>
              <a:buFont typeface="Wingdings" panose="05000000000000000000" pitchFamily="2" charset="2"/>
              <a:buNone/>
            </a:pPr>
            <a:r>
              <a:rPr lang="en-US" altLang="zh-CN" sz="2600" dirty="0">
                <a:latin typeface="楷体_GB2312" pitchFamily="49" charset="-122"/>
                <a:ea typeface="楷体_GB2312" pitchFamily="49" charset="-122"/>
              </a:rPr>
              <a:t>3</a:t>
            </a:r>
            <a:r>
              <a:rPr lang="zh-CN" altLang="en-US" sz="2600" dirty="0">
                <a:latin typeface="楷体_GB2312" pitchFamily="49" charset="-122"/>
                <a:ea typeface="楷体_GB2312" pitchFamily="49" charset="-122"/>
              </a:rPr>
              <a:t>、给出推定区间  （</a:t>
            </a:r>
            <a:r>
              <a:rPr lang="en-US" altLang="zh-CN" sz="2600" dirty="0">
                <a:latin typeface="楷体_GB2312" pitchFamily="49" charset="-122"/>
                <a:ea typeface="楷体_GB2312" pitchFamily="49" charset="-122"/>
              </a:rPr>
              <a:t>33.6</a:t>
            </a:r>
            <a:r>
              <a:rPr lang="zh-CN" altLang="en-US" sz="26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35.1</a:t>
            </a:r>
            <a:r>
              <a:rPr lang="zh-CN" altLang="en-US" sz="2600" dirty="0">
                <a:latin typeface="楷体_GB2312" pitchFamily="49" charset="-122"/>
                <a:ea typeface="楷体_GB2312" pitchFamily="49" charset="-122"/>
              </a:rPr>
              <a:t>）</a:t>
            </a:r>
          </a:p>
          <a:p>
            <a:pPr>
              <a:lnSpc>
                <a:spcPct val="90000"/>
              </a:lnSpc>
              <a:buFont typeface="Wingdings" panose="05000000000000000000" pitchFamily="2" charset="2"/>
              <a:buNone/>
            </a:pPr>
            <a:r>
              <a:rPr lang="en-US" altLang="zh-CN" sz="2600" dirty="0">
                <a:latin typeface="楷体_GB2312" pitchFamily="49" charset="-122"/>
                <a:ea typeface="楷体_GB2312" pitchFamily="49" charset="-122"/>
              </a:rPr>
              <a:t>4</a:t>
            </a:r>
            <a:r>
              <a:rPr lang="zh-CN" altLang="en-US" sz="2600" dirty="0">
                <a:latin typeface="楷体_GB2312" pitchFamily="49" charset="-122"/>
                <a:ea typeface="楷体_GB2312" pitchFamily="49" charset="-122"/>
              </a:rPr>
              <a:t>、推定区间要求置信度</a:t>
            </a:r>
            <a:r>
              <a:rPr lang="en-US" altLang="zh-CN" sz="2600" dirty="0">
                <a:latin typeface="楷体_GB2312" pitchFamily="49" charset="-122"/>
                <a:ea typeface="楷体_GB2312" pitchFamily="49" charset="-122"/>
              </a:rPr>
              <a:t>0.90</a:t>
            </a:r>
            <a:r>
              <a:rPr lang="zh-CN" altLang="en-US" sz="2600" dirty="0">
                <a:latin typeface="楷体_GB2312" pitchFamily="49" charset="-122"/>
                <a:ea typeface="楷体_GB2312" pitchFamily="49" charset="-122"/>
              </a:rPr>
              <a:t>，错判概率</a:t>
            </a:r>
            <a:r>
              <a:rPr lang="en-US" altLang="zh-CN" sz="2600" dirty="0">
                <a:latin typeface="楷体_GB2312" pitchFamily="49" charset="-122"/>
                <a:ea typeface="楷体_GB2312" pitchFamily="49" charset="-122"/>
              </a:rPr>
              <a:t>0.05</a:t>
            </a:r>
            <a:r>
              <a:rPr lang="zh-CN" altLang="en-US" sz="2600" dirty="0">
                <a:latin typeface="楷体_GB2312" pitchFamily="49" charset="-122"/>
                <a:ea typeface="楷体_GB2312" pitchFamily="49" charset="-122"/>
              </a:rPr>
              <a:t>，漏判概率</a:t>
            </a:r>
            <a:r>
              <a:rPr lang="en-US" altLang="zh-CN" sz="2600" dirty="0">
                <a:latin typeface="楷体_GB2312" pitchFamily="49" charset="-122"/>
                <a:ea typeface="楷体_GB2312" pitchFamily="49" charset="-122"/>
              </a:rPr>
              <a:t>0.05</a:t>
            </a:r>
          </a:p>
          <a:p>
            <a:pPr>
              <a:lnSpc>
                <a:spcPct val="90000"/>
              </a:lnSpc>
              <a:buFont typeface="Wingdings" panose="05000000000000000000" pitchFamily="2" charset="2"/>
              <a:buNone/>
            </a:pPr>
            <a:r>
              <a:rPr lang="en-US" altLang="zh-CN" sz="2600" dirty="0">
                <a:latin typeface="楷体_GB2312" pitchFamily="49" charset="-122"/>
                <a:ea typeface="楷体_GB2312" pitchFamily="49" charset="-122"/>
              </a:rPr>
              <a:t>5</a:t>
            </a:r>
            <a:r>
              <a:rPr lang="zh-CN" altLang="en-US" sz="2600" dirty="0">
                <a:latin typeface="楷体_GB2312" pitchFamily="49" charset="-122"/>
                <a:ea typeface="楷体_GB2312" pitchFamily="49" charset="-122"/>
              </a:rPr>
              <a:t>、以推定上限值为界进行判定：</a:t>
            </a:r>
          </a:p>
          <a:p>
            <a:pPr>
              <a:lnSpc>
                <a:spcPct val="90000"/>
              </a:lnSpc>
              <a:buFont typeface="Wingdings" panose="05000000000000000000" pitchFamily="2" charset="2"/>
              <a:buNone/>
            </a:pPr>
            <a:r>
              <a:rPr lang="zh-CN" altLang="en-US" sz="2600" dirty="0">
                <a:latin typeface="楷体_GB2312" pitchFamily="49" charset="-122"/>
                <a:ea typeface="楷体_GB2312" pitchFamily="49" charset="-122"/>
              </a:rPr>
              <a:t>     上限值 </a:t>
            </a:r>
            <a:r>
              <a:rPr lang="en-US" altLang="zh-CN" sz="2600" dirty="0">
                <a:latin typeface="楷体_GB2312" pitchFamily="49" charset="-122"/>
                <a:ea typeface="楷体_GB2312" pitchFamily="49" charset="-122"/>
              </a:rPr>
              <a:t>35.1 &gt; 35.0   </a:t>
            </a:r>
            <a:r>
              <a:rPr lang="zh-CN" altLang="en-US" sz="2600" dirty="0">
                <a:latin typeface="楷体_GB2312" pitchFamily="49" charset="-122"/>
                <a:ea typeface="楷体_GB2312" pitchFamily="49" charset="-122"/>
              </a:rPr>
              <a:t>判定为合格</a:t>
            </a:r>
          </a:p>
          <a:p>
            <a:pPr>
              <a:lnSpc>
                <a:spcPct val="90000"/>
              </a:lnSpc>
              <a:buFont typeface="Wingdings" panose="05000000000000000000" pitchFamily="2" charset="2"/>
              <a:buNone/>
            </a:pPr>
            <a:r>
              <a:rPr lang="en-US" altLang="zh-CN" sz="2600" dirty="0">
                <a:latin typeface="楷体_GB2312" pitchFamily="49" charset="-122"/>
                <a:ea typeface="楷体_GB2312" pitchFamily="49" charset="-122"/>
              </a:rPr>
              <a:t>6</a:t>
            </a:r>
            <a:r>
              <a:rPr lang="zh-CN" altLang="en-US" sz="2600" dirty="0">
                <a:latin typeface="楷体_GB2312" pitchFamily="49" charset="-122"/>
                <a:ea typeface="楷体_GB2312" pitchFamily="49" charset="-122"/>
              </a:rPr>
              <a:t>、强度计量抽样检测批推定区间的限制：</a:t>
            </a:r>
          </a:p>
          <a:p>
            <a:pPr>
              <a:lnSpc>
                <a:spcPct val="90000"/>
              </a:lnSpc>
              <a:buFont typeface="Wingdings" panose="05000000000000000000" pitchFamily="2" charset="2"/>
              <a:buNone/>
            </a:pPr>
            <a:r>
              <a:rPr lang="zh-CN" altLang="en-US" sz="2600" dirty="0">
                <a:latin typeface="楷体_GB2312" pitchFamily="49" charset="-122"/>
                <a:ea typeface="楷体_GB2312" pitchFamily="49" charset="-122"/>
              </a:rPr>
              <a:t>   不宜大于材料相邻强度等级的差值 </a:t>
            </a:r>
            <a:r>
              <a:rPr lang="en-US" altLang="zh-CN" sz="2600" dirty="0">
                <a:latin typeface="楷体_GB2312" pitchFamily="49" charset="-122"/>
                <a:ea typeface="楷体_GB2312" pitchFamily="49" charset="-122"/>
              </a:rPr>
              <a:t>(5.0MPa)</a:t>
            </a:r>
            <a:r>
              <a:rPr lang="zh-CN" altLang="en-US" sz="2600" dirty="0">
                <a:latin typeface="楷体_GB2312" pitchFamily="49" charset="-122"/>
                <a:ea typeface="楷体_GB2312" pitchFamily="49" charset="-122"/>
              </a:rPr>
              <a:t>与推定区间的上下限平均值的</a:t>
            </a:r>
            <a:r>
              <a:rPr lang="en-US" altLang="zh-CN" sz="2600" dirty="0">
                <a:latin typeface="楷体_GB2312" pitchFamily="49" charset="-122"/>
                <a:ea typeface="楷体_GB2312" pitchFamily="49" charset="-122"/>
              </a:rPr>
              <a:t>10%</a:t>
            </a:r>
            <a:r>
              <a:rPr lang="zh-CN" altLang="en-US" sz="2600" dirty="0">
                <a:latin typeface="楷体_GB2312" pitchFamily="49" charset="-122"/>
                <a:ea typeface="楷体_GB2312" pitchFamily="49" charset="-122"/>
              </a:rPr>
              <a:t>两者的较大值。</a:t>
            </a:r>
          </a:p>
          <a:p>
            <a:pPr>
              <a:lnSpc>
                <a:spcPct val="90000"/>
              </a:lnSpc>
              <a:buFont typeface="Wingdings" panose="05000000000000000000" pitchFamily="2" charset="2"/>
              <a:buNone/>
            </a:pPr>
            <a:r>
              <a:rPr lang="zh-CN" altLang="en-US" sz="2600" dirty="0">
                <a:latin typeface="楷体_GB2312" pitchFamily="49" charset="-122"/>
                <a:ea typeface="楷体_GB2312" pitchFamily="49" charset="-122"/>
              </a:rPr>
              <a:t>      例如：（</a:t>
            </a:r>
            <a:r>
              <a:rPr lang="en-US" altLang="zh-CN" sz="2600" dirty="0">
                <a:latin typeface="楷体_GB2312" pitchFamily="49" charset="-122"/>
                <a:ea typeface="楷体_GB2312" pitchFamily="49" charset="-122"/>
              </a:rPr>
              <a:t>60.0</a:t>
            </a:r>
            <a:r>
              <a:rPr lang="zh-CN" altLang="en-US" sz="2600" dirty="0">
                <a:latin typeface="楷体_GB2312" pitchFamily="49" charset="-122"/>
                <a:ea typeface="楷体_GB2312" pitchFamily="49" charset="-122"/>
              </a:rPr>
              <a:t>～</a:t>
            </a:r>
            <a:r>
              <a:rPr lang="en-US" altLang="zh-CN" sz="2600" dirty="0">
                <a:latin typeface="楷体_GB2312" pitchFamily="49" charset="-122"/>
                <a:ea typeface="楷体_GB2312" pitchFamily="49" charset="-122"/>
              </a:rPr>
              <a:t>66.0</a:t>
            </a:r>
            <a:r>
              <a:rPr lang="zh-CN" altLang="en-US" sz="2600" dirty="0">
                <a:latin typeface="楷体_GB2312" pitchFamily="49" charset="-122"/>
                <a:ea typeface="楷体_GB2312" pitchFamily="49" charset="-122"/>
              </a:rPr>
              <a:t>） 上下限区间不大于</a:t>
            </a:r>
            <a:r>
              <a:rPr lang="en-US" altLang="zh-CN" sz="2600" dirty="0">
                <a:latin typeface="楷体_GB2312" pitchFamily="49" charset="-122"/>
                <a:ea typeface="楷体_GB2312" pitchFamily="49" charset="-122"/>
              </a:rPr>
              <a:t>6.3</a:t>
            </a:r>
          </a:p>
        </p:txBody>
      </p:sp>
      <p:sp>
        <p:nvSpPr>
          <p:cNvPr id="91140" name="Rectangle 4"/>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Calibri" panose="020F050202020403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551180" y="188278"/>
            <a:ext cx="6994525" cy="774700"/>
          </a:xfrm>
        </p:spPr>
        <p:txBody>
          <a:bodyPr vert="horz" wrap="square" lIns="91440" tIns="45720" rIns="91440" bIns="45720" anchor="ctr" anchorCtr="0"/>
          <a:lstStyle/>
          <a:p>
            <a:pPr algn="l" eaLnBrk="1" hangingPunct="1"/>
            <a:r>
              <a:rPr lang="en-US" altLang="zh-CN" sz="3600" dirty="0"/>
              <a:t>9. </a:t>
            </a:r>
            <a:r>
              <a:rPr lang="zh-CN" altLang="en-US" sz="3600" dirty="0"/>
              <a:t>对回弹法检测结果的修正</a:t>
            </a:r>
          </a:p>
        </p:txBody>
      </p:sp>
      <p:sp>
        <p:nvSpPr>
          <p:cNvPr id="74755" name="文本占位符 2"/>
          <p:cNvSpPr>
            <a:spLocks noGrp="1"/>
          </p:cNvSpPr>
          <p:nvPr>
            <p:ph type="body" sz="half" idx="1"/>
          </p:nvPr>
        </p:nvSpPr>
        <p:spPr>
          <a:xfrm>
            <a:off x="1271270" y="1196975"/>
            <a:ext cx="9505250" cy="4859655"/>
          </a:xfrm>
        </p:spPr>
        <p:txBody>
          <a:bodyPr vert="horz" wrap="square" lIns="91440" tIns="45720" rIns="91440" bIns="45720" anchor="t" anchorCtr="0">
            <a:normAutofit fontScale="92500" lnSpcReduction="20000"/>
          </a:bodyPr>
          <a:lstStyle/>
          <a:p>
            <a:pPr marL="0" indent="0" eaLnBrk="1" hangingPunct="1">
              <a:buClr>
                <a:schemeClr val="tx2"/>
              </a:buClr>
              <a:buSzPct val="50000"/>
              <a:buFont typeface="Wingdings 2" panose="05020102010507070707" pitchFamily="18" charset="2"/>
              <a:buNone/>
            </a:pPr>
            <a:r>
              <a:rPr lang="zh-CN" altLang="en-US" sz="2000" dirty="0">
                <a:latin typeface="黑体" panose="02010609060101010101" pitchFamily="49" charset="-122"/>
              </a:rPr>
              <a:t>为什么要修正</a:t>
            </a:r>
            <a:endParaRPr lang="en-US" altLang="zh-CN" sz="2000" dirty="0">
              <a:latin typeface="黑体" panose="02010609060101010101" pitchFamily="49" charset="-122"/>
            </a:endParaRPr>
          </a:p>
          <a:p>
            <a:pPr marL="0" indent="0" eaLnBrk="1" hangingPunct="1">
              <a:buClr>
                <a:schemeClr val="tx2"/>
              </a:buClr>
              <a:buSzPct val="50000"/>
              <a:buFont typeface="Wingdings 2" panose="05020102010507070707" pitchFamily="18" charset="2"/>
              <a:buNone/>
            </a:pPr>
            <a:r>
              <a:rPr lang="zh-CN" altLang="en-US" sz="2000" dirty="0">
                <a:latin typeface="黑体" panose="02010609060101010101" pitchFamily="49" charset="-122"/>
              </a:rPr>
              <a:t>  构件状态与规范规定的条件有较大差距</a:t>
            </a:r>
            <a:endParaRPr lang="en-US" altLang="zh-CN" sz="2000" dirty="0">
              <a:latin typeface="黑体" panose="02010609060101010101" pitchFamily="49" charset="-122"/>
            </a:endParaRPr>
          </a:p>
          <a:p>
            <a:pPr marL="0" indent="0" eaLnBrk="1" hangingPunct="1">
              <a:buClr>
                <a:schemeClr val="tx2"/>
              </a:buClr>
              <a:buSzPct val="50000"/>
              <a:buFont typeface="Wingdings 2" panose="05020102010507070707" pitchFamily="18" charset="2"/>
              <a:buNone/>
            </a:pPr>
            <a:r>
              <a:rPr lang="en-US" altLang="zh-CN" sz="2000" dirty="0">
                <a:latin typeface="黑体" panose="02010609060101010101" pitchFamily="49" charset="-122"/>
              </a:rPr>
              <a:t>  </a:t>
            </a:r>
            <a:r>
              <a:rPr lang="zh-CN" altLang="en-US" sz="2000" dirty="0">
                <a:latin typeface="黑体" panose="02010609060101010101" pitchFamily="49" charset="-122"/>
              </a:rPr>
              <a:t>对回弹法的检测结果有怀疑</a:t>
            </a:r>
            <a:endParaRPr lang="en-US" altLang="zh-CN" sz="2000" dirty="0">
              <a:latin typeface="黑体" panose="02010609060101010101" pitchFamily="49" charset="-122"/>
            </a:endParaRPr>
          </a:p>
          <a:p>
            <a:pPr marL="0" indent="0" eaLnBrk="1" hangingPunct="1">
              <a:buClr>
                <a:schemeClr val="tx2"/>
              </a:buClr>
              <a:buSzPct val="50000"/>
              <a:buFont typeface="Wingdings 2" panose="05020102010507070707" pitchFamily="18" charset="2"/>
              <a:buNone/>
            </a:pPr>
            <a:r>
              <a:rPr lang="en-US" altLang="zh-CN" sz="2000" dirty="0">
                <a:latin typeface="黑体" panose="02010609060101010101" pitchFamily="49" charset="-122"/>
              </a:rPr>
              <a:t>  </a:t>
            </a:r>
            <a:r>
              <a:rPr lang="zh-CN" altLang="en-US" sz="2000" dirty="0">
                <a:latin typeface="黑体" panose="02010609060101010101" pitchFamily="49" charset="-122"/>
              </a:rPr>
              <a:t>回弹法检测结果不合格</a:t>
            </a:r>
            <a:endParaRPr lang="en-US" altLang="zh-CN" sz="2000" dirty="0">
              <a:latin typeface="黑体" panose="02010609060101010101" pitchFamily="49" charset="-122"/>
            </a:endParaRPr>
          </a:p>
          <a:p>
            <a:pPr marL="0" indent="0" eaLnBrk="1" hangingPunct="1">
              <a:buClr>
                <a:schemeClr val="tx2"/>
              </a:buClr>
              <a:buSzPct val="50000"/>
              <a:buFont typeface="Wingdings 2" panose="05020102010507070707" pitchFamily="18" charset="2"/>
              <a:buNone/>
            </a:pPr>
            <a:r>
              <a:rPr lang="zh-CN" altLang="en-US" sz="2000" dirty="0"/>
              <a:t>  地域限制</a:t>
            </a:r>
            <a:endParaRPr lang="en-US" altLang="zh-CN" sz="2000" dirty="0"/>
          </a:p>
          <a:p>
            <a:pPr marL="0" indent="0" eaLnBrk="1" hangingPunct="1">
              <a:buClr>
                <a:schemeClr val="tx2"/>
              </a:buClr>
              <a:buSzPct val="50000"/>
              <a:buFont typeface="Wingdings 2" panose="05020102010507070707" pitchFamily="18" charset="2"/>
              <a:buNone/>
            </a:pPr>
            <a:r>
              <a:rPr lang="en-US" altLang="zh-CN" sz="2000" dirty="0"/>
              <a:t>    </a:t>
            </a:r>
            <a:r>
              <a:rPr lang="zh-CN" altLang="en-US" sz="2000" dirty="0"/>
              <a:t>混凝土类型</a:t>
            </a:r>
            <a:r>
              <a:rPr lang="en-US" altLang="zh-CN" sz="2000" dirty="0"/>
              <a:t> </a:t>
            </a:r>
          </a:p>
          <a:p>
            <a:pPr marL="0" indent="0" eaLnBrk="1" hangingPunct="1">
              <a:buClr>
                <a:schemeClr val="tx2"/>
              </a:buClr>
              <a:buSzPct val="50000"/>
              <a:buFont typeface="Wingdings 2" panose="05020102010507070707" pitchFamily="18" charset="2"/>
              <a:buNone/>
            </a:pPr>
            <a:r>
              <a:rPr lang="en-US" altLang="zh-CN" sz="2000" dirty="0"/>
              <a:t>    </a:t>
            </a:r>
            <a:r>
              <a:rPr lang="zh-CN" altLang="en-US" sz="2000" dirty="0"/>
              <a:t>工艺：浇筑工艺、成型工艺、模板类型、养护条件、检测环境</a:t>
            </a:r>
            <a:endParaRPr lang="en-US" altLang="zh-CN" sz="2000" dirty="0"/>
          </a:p>
          <a:p>
            <a:pPr marL="0" indent="0" eaLnBrk="1" hangingPunct="1">
              <a:buClr>
                <a:schemeClr val="tx2"/>
              </a:buClr>
              <a:buSzPct val="50000"/>
              <a:buFont typeface="Wingdings 2" panose="05020102010507070707" pitchFamily="18" charset="2"/>
              <a:buNone/>
            </a:pPr>
            <a:r>
              <a:rPr lang="zh-CN" altLang="en-US" sz="2000" dirty="0"/>
              <a:t>    龄期：北京市地方标准</a:t>
            </a:r>
            <a:r>
              <a:rPr lang="en-US" altLang="zh-CN" sz="2000" dirty="0"/>
              <a:t>365</a:t>
            </a:r>
            <a:r>
              <a:rPr lang="zh-CN" altLang="en-US" sz="2000" dirty="0"/>
              <a:t>天，行业标准</a:t>
            </a:r>
            <a:r>
              <a:rPr lang="en-US" altLang="zh-CN" sz="2000" dirty="0"/>
              <a:t>1000</a:t>
            </a:r>
            <a:r>
              <a:rPr lang="zh-CN" altLang="en-US" sz="2000" dirty="0"/>
              <a:t>天，</a:t>
            </a:r>
            <a:r>
              <a:rPr lang="zh-CN" altLang="en-US" sz="2000" dirty="0">
                <a:solidFill>
                  <a:srgbClr val="FF0000"/>
                </a:solidFill>
              </a:rPr>
              <a:t>综合法团体标准</a:t>
            </a:r>
            <a:r>
              <a:rPr lang="en-US" altLang="zh-CN" sz="2000" dirty="0">
                <a:solidFill>
                  <a:srgbClr val="FF0000"/>
                </a:solidFill>
              </a:rPr>
              <a:t>2000</a:t>
            </a:r>
            <a:r>
              <a:rPr lang="zh-CN" altLang="en-US" sz="2000" dirty="0">
                <a:solidFill>
                  <a:srgbClr val="FF0000"/>
                </a:solidFill>
              </a:rPr>
              <a:t>天</a:t>
            </a:r>
            <a:endParaRPr lang="en-US" altLang="zh-CN" sz="2000" dirty="0"/>
          </a:p>
          <a:p>
            <a:pPr marL="0" indent="0" eaLnBrk="1" hangingPunct="1">
              <a:buClr>
                <a:schemeClr val="tx2"/>
              </a:buClr>
              <a:buSzPct val="50000"/>
              <a:buFont typeface="Wingdings 2" panose="05020102010507070707" pitchFamily="18" charset="2"/>
              <a:buNone/>
            </a:pPr>
            <a:r>
              <a:rPr lang="en-US" altLang="zh-CN" sz="2000" dirty="0"/>
              <a:t>    </a:t>
            </a:r>
            <a:r>
              <a:rPr lang="zh-CN" altLang="en-US" sz="2000" dirty="0"/>
              <a:t>构件的状态：表面是否干燥、表面是否有蜂窝麻面</a:t>
            </a:r>
            <a:endParaRPr lang="en-US" altLang="zh-CN" sz="2000" dirty="0"/>
          </a:p>
          <a:p>
            <a:pPr marL="0" indent="0" eaLnBrk="1" hangingPunct="1">
              <a:buClr>
                <a:schemeClr val="tx2"/>
              </a:buClr>
              <a:buSzPct val="50000"/>
              <a:buFont typeface="Wingdings 2" panose="05020102010507070707" pitchFamily="18" charset="2"/>
              <a:buNone/>
            </a:pPr>
            <a:r>
              <a:rPr lang="zh-CN" altLang="en-US" sz="2000" dirty="0"/>
              <a:t>    水泥安定性、外加剂、掺合料品种、混凝土配合比</a:t>
            </a:r>
          </a:p>
        </p:txBody>
      </p:sp>
    </p:spTree>
  </p:cSld>
  <p:clrMapOvr>
    <a:masterClrMapping/>
  </p:clrMapOvr>
  <p:transition spd="slow">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a:xfrm>
            <a:off x="839416" y="476250"/>
            <a:ext cx="3970709" cy="703263"/>
          </a:xfrm>
        </p:spPr>
        <p:txBody>
          <a:bodyPr vert="horz" wrap="square" lIns="91440" tIns="45720" rIns="91440" bIns="45720" anchor="ctr" anchorCtr="0"/>
          <a:lstStyle/>
          <a:p>
            <a:pPr algn="l" eaLnBrk="1" hangingPunct="1"/>
            <a:r>
              <a:rPr lang="zh-CN" altLang="en-US" sz="3200" dirty="0">
                <a:latin typeface="黑体" panose="02010609060101010101" pitchFamily="49" charset="-122"/>
                <a:ea typeface="黑体" panose="02010609060101010101" pitchFamily="49" charset="-122"/>
              </a:rPr>
              <a:t>修正方法</a:t>
            </a:r>
          </a:p>
        </p:txBody>
      </p:sp>
      <p:sp>
        <p:nvSpPr>
          <p:cNvPr id="65539" name="文本占位符 2"/>
          <p:cNvSpPr>
            <a:spLocks noGrp="1" noRot="1" noChangeAspect="1" noMove="1" noResize="1" noEditPoints="1" noAdjustHandles="1" noChangeArrowheads="1" noChangeShapeType="1" noTextEdit="1"/>
          </p:cNvSpPr>
          <p:nvPr>
            <p:ph type="body" sz="half" idx="1"/>
          </p:nvPr>
        </p:nvSpPr>
        <p:spPr bwMode="auto">
          <a:xfrm>
            <a:off x="1981200" y="1600200"/>
            <a:ext cx="8435280" cy="4421088"/>
          </a:xfrm>
          <a:blipFill rotWithShape="1">
            <a:blip r:embed="rId2"/>
            <a:stretch>
              <a:fillRect l="-723" t="-690"/>
            </a:stretch>
          </a:blipFill>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Char char="ß"/>
              <a:defRPr/>
            </a:pPr>
            <a:r>
              <a:rPr kumimoji="0" lang="zh-CN" altLang="en-US" sz="3200" b="0" i="0" u="none" strike="noStrike" kern="1200" cap="none" spc="0" normalizeH="0" baseline="0" noProof="0" dirty="0">
                <a:ln>
                  <a:noFill/>
                </a:ln>
                <a:noFill/>
                <a:effectLst/>
                <a:uLnTx/>
                <a:uFillTx/>
                <a:latin typeface="+mn-lt"/>
                <a:ea typeface="+mn-ea"/>
                <a:cs typeface="+mn-cs"/>
              </a:rPr>
              <a:t> </a:t>
            </a:r>
          </a:p>
        </p:txBody>
      </p:sp>
    </p:spTree>
  </p:cSld>
  <p:clrMapOvr>
    <a:masterClrMapping/>
  </p:clrMapOvr>
  <p:transition spd="slow">
    <p:wipe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文本占位符 2"/>
          <p:cNvSpPr>
            <a:spLocks noGrp="1"/>
          </p:cNvSpPr>
          <p:nvPr>
            <p:ph type="body" sz="half" idx="1"/>
          </p:nvPr>
        </p:nvSpPr>
        <p:spPr>
          <a:xfrm>
            <a:off x="1127761" y="836930"/>
            <a:ext cx="10152816" cy="4530725"/>
          </a:xfrm>
        </p:spPr>
        <p:txBody>
          <a:bodyPr vert="horz" wrap="square" lIns="91440" tIns="45720" rIns="91440" bIns="45720" anchor="t" anchorCtr="0">
            <a:normAutofit fontScale="92500" lnSpcReduction="10000"/>
          </a:bodyPr>
          <a:lstStyle/>
          <a:p>
            <a:pPr marL="0" indent="0">
              <a:buClr>
                <a:schemeClr val="tx2"/>
              </a:buClr>
              <a:buSzPct val="50000"/>
              <a:buFont typeface="Wingdings 2" panose="05020102010507070707" pitchFamily="18" charset="2"/>
              <a:buNone/>
            </a:pPr>
            <a:r>
              <a:rPr lang="zh-CN" altLang="en-US" sz="2400" dirty="0"/>
              <a:t>单个构件：采用钻芯法检测（３个芯样）</a:t>
            </a:r>
            <a:endParaRPr lang="en-US" altLang="zh-CN" sz="2400" dirty="0"/>
          </a:p>
          <a:p>
            <a:pPr marL="0" indent="0">
              <a:buClr>
                <a:schemeClr val="tx2"/>
              </a:buClr>
              <a:buSzPct val="50000"/>
              <a:buFont typeface="Wingdings 2" panose="05020102010507070707" pitchFamily="18" charset="2"/>
              <a:buNone/>
            </a:pPr>
            <a:r>
              <a:rPr lang="zh-CN" altLang="en-US" sz="2400" dirty="0"/>
              <a:t>多构件或批构件</a:t>
            </a:r>
            <a:r>
              <a:rPr lang="zh-CN" altLang="en-US" dirty="0">
                <a:sym typeface="Wingdings" panose="05000000000000000000" pitchFamily="2" charset="2"/>
              </a:rPr>
              <a:t>（同批构件不少于</a:t>
            </a:r>
            <a:r>
              <a:rPr lang="en-US" altLang="zh-CN" dirty="0">
                <a:sym typeface="Wingdings" panose="05000000000000000000" pitchFamily="2" charset="2"/>
              </a:rPr>
              <a:t>6</a:t>
            </a:r>
            <a:r>
              <a:rPr lang="zh-CN" altLang="en-US" dirty="0">
                <a:sym typeface="Wingdings" panose="05000000000000000000" pitchFamily="2" charset="2"/>
              </a:rPr>
              <a:t>个芯样，小直径的不小于</a:t>
            </a:r>
            <a:r>
              <a:rPr lang="en-US" altLang="zh-CN" dirty="0">
                <a:sym typeface="Wingdings" panose="05000000000000000000" pitchFamily="2" charset="2"/>
              </a:rPr>
              <a:t>9</a:t>
            </a:r>
            <a:r>
              <a:rPr lang="zh-CN" altLang="en-US" dirty="0">
                <a:sym typeface="Wingdings" panose="05000000000000000000" pitchFamily="2" charset="2"/>
              </a:rPr>
              <a:t>个芯样）</a:t>
            </a:r>
            <a:endParaRPr lang="en-US" altLang="zh-CN" sz="2400" dirty="0"/>
          </a:p>
          <a:p>
            <a:pPr marL="0" indent="0">
              <a:buClr>
                <a:schemeClr val="tx2"/>
              </a:buClr>
              <a:buSzPct val="50000"/>
              <a:buFont typeface="Wingdings 2" panose="05020102010507070707" pitchFamily="18" charset="2"/>
              <a:buNone/>
            </a:pPr>
            <a:r>
              <a:rPr lang="zh-CN" altLang="en-US" sz="2400" dirty="0"/>
              <a:t>　　</a:t>
            </a:r>
            <a:r>
              <a:rPr lang="en-US" altLang="zh-CN" sz="2400" dirty="0"/>
              <a:t>GB/T 50344-2019</a:t>
            </a:r>
            <a:r>
              <a:rPr lang="zh-CN" altLang="en-US" sz="2400" dirty="0"/>
              <a:t>推定区间，区间的上限值大于设计强度，评定为合格。</a:t>
            </a:r>
            <a:endParaRPr lang="en-US" altLang="zh-CN" sz="2400" dirty="0"/>
          </a:p>
          <a:p>
            <a:pPr marL="0" indent="0">
              <a:buClr>
                <a:schemeClr val="tx2"/>
              </a:buClr>
              <a:buSzPct val="50000"/>
              <a:buFont typeface="Wingdings 2" panose="05020102010507070707" pitchFamily="18" charset="2"/>
              <a:buNone/>
            </a:pPr>
            <a:r>
              <a:rPr lang="zh-CN" altLang="en-US" sz="2400" dirty="0"/>
              <a:t>　　扩大样本容量</a:t>
            </a:r>
            <a:endParaRPr lang="en-US" altLang="zh-CN" sz="2400" dirty="0"/>
          </a:p>
          <a:p>
            <a:pPr marL="0" indent="0">
              <a:buClr>
                <a:schemeClr val="tx2"/>
              </a:buClr>
              <a:buSzPct val="50000"/>
              <a:buFont typeface="Wingdings 2" panose="05020102010507070707" pitchFamily="18" charset="2"/>
              <a:buNone/>
            </a:pPr>
            <a:r>
              <a:rPr lang="zh-CN" altLang="en-US" sz="2400" dirty="0"/>
              <a:t>　　不合格构件不参与评定，建议单独加固</a:t>
            </a:r>
          </a:p>
          <a:p>
            <a:pPr marL="0" indent="0">
              <a:buClr>
                <a:schemeClr val="tx2"/>
              </a:buClr>
              <a:buSzPct val="50000"/>
              <a:buFont typeface="Wingdings 2" panose="05020102010507070707" pitchFamily="18" charset="2"/>
              <a:buNone/>
            </a:pPr>
            <a:r>
              <a:rPr lang="zh-CN" altLang="en-US" dirty="0">
                <a:sym typeface="+mn-ea"/>
              </a:rPr>
              <a:t>龄期修正系数：</a:t>
            </a:r>
            <a:endParaRPr lang="en-US" altLang="zh-CN" dirty="0"/>
          </a:p>
          <a:p>
            <a:pPr marL="0" indent="606425">
              <a:buClr>
                <a:schemeClr val="tx2"/>
              </a:buClr>
              <a:buSzPct val="50000"/>
              <a:buFont typeface="Wingdings 2" panose="05020102010507070707" pitchFamily="18" charset="2"/>
              <a:buNone/>
            </a:pPr>
            <a:r>
              <a:rPr lang="en-US" altLang="zh-CN" dirty="0">
                <a:sym typeface="+mn-ea"/>
              </a:rPr>
              <a:t>《</a:t>
            </a:r>
            <a:r>
              <a:rPr lang="zh-CN" altLang="en-US" dirty="0">
                <a:sym typeface="+mn-ea"/>
              </a:rPr>
              <a:t>混凝土结构加固设计规范</a:t>
            </a:r>
            <a:r>
              <a:rPr lang="en-US" altLang="zh-CN" dirty="0">
                <a:sym typeface="+mn-ea"/>
              </a:rPr>
              <a:t>》GB 50367-2013 </a:t>
            </a:r>
            <a:r>
              <a:rPr lang="zh-CN" altLang="en-US" dirty="0">
                <a:sym typeface="+mn-ea"/>
              </a:rPr>
              <a:t>附录</a:t>
            </a:r>
            <a:r>
              <a:rPr lang="en-US" altLang="zh-CN" dirty="0">
                <a:sym typeface="+mn-ea"/>
              </a:rPr>
              <a:t>B</a:t>
            </a:r>
            <a:endParaRPr lang="en-US" altLang="zh-CN" dirty="0"/>
          </a:p>
          <a:p>
            <a:pPr marL="0" indent="606425">
              <a:buClr>
                <a:schemeClr val="tx2"/>
              </a:buClr>
              <a:buSzPct val="50000"/>
              <a:buFont typeface="Wingdings 2" panose="05020102010507070707" pitchFamily="18" charset="2"/>
              <a:buNone/>
            </a:pPr>
            <a:r>
              <a:rPr lang="zh-CN" altLang="en-US" dirty="0">
                <a:sym typeface="+mn-ea"/>
              </a:rPr>
              <a:t>《民用建筑可靠性鉴定标准》</a:t>
            </a:r>
            <a:r>
              <a:rPr lang="en-US" altLang="zh-CN" dirty="0">
                <a:sym typeface="+mn-ea"/>
              </a:rPr>
              <a:t>GB 50292-2015 </a:t>
            </a:r>
            <a:r>
              <a:rPr lang="zh-CN" altLang="en-US" dirty="0">
                <a:sym typeface="+mn-ea"/>
              </a:rPr>
              <a:t>附录</a:t>
            </a:r>
            <a:r>
              <a:rPr lang="en-US" altLang="zh-CN" dirty="0">
                <a:sym typeface="+mn-ea"/>
              </a:rPr>
              <a:t>K </a:t>
            </a:r>
            <a:endParaRPr lang="en-US" altLang="zh-CN" sz="2400" dirty="0"/>
          </a:p>
        </p:txBody>
      </p:sp>
    </p:spTree>
  </p:cSld>
  <p:clrMapOvr>
    <a:masterClrMapping/>
  </p:clrMapOvr>
  <p:transition spd="slow">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695325" y="476885"/>
            <a:ext cx="10729267" cy="6048459"/>
          </a:xfrm>
        </p:spPr>
        <p:txBody>
          <a:bodyPr>
            <a:noAutofit/>
          </a:bodyPr>
          <a:lstStyle/>
          <a:p>
            <a:pPr marL="0" indent="0">
              <a:lnSpc>
                <a:spcPct val="150000"/>
              </a:lnSpc>
              <a:spcBef>
                <a:spcPts val="0"/>
              </a:spcBef>
              <a:buNone/>
            </a:pPr>
            <a:r>
              <a:rPr lang="zh-CN" altLang="en-US" sz="2300" dirty="0"/>
              <a:t>附录</a:t>
            </a:r>
            <a:r>
              <a:rPr lang="en-US" altLang="zh-CN" sz="2300" dirty="0"/>
              <a:t>K </a:t>
            </a:r>
            <a:r>
              <a:rPr lang="zh-CN" altLang="en-US" sz="2300" dirty="0"/>
              <a:t>老龄混凝土回弹龄期修正的规定</a:t>
            </a:r>
            <a:endParaRPr lang="en-US" altLang="zh-CN" sz="2300" dirty="0"/>
          </a:p>
          <a:p>
            <a:pPr marL="0" indent="0">
              <a:lnSpc>
                <a:spcPct val="150000"/>
              </a:lnSpc>
              <a:spcBef>
                <a:spcPts val="0"/>
              </a:spcBef>
              <a:buNone/>
            </a:pPr>
            <a:r>
              <a:rPr lang="en-US" altLang="zh-CN" sz="2300" dirty="0"/>
              <a:t>K.0.1 </a:t>
            </a:r>
            <a:r>
              <a:rPr lang="zh-CN" altLang="en-US" sz="2300" dirty="0"/>
              <a:t>本规定适用于龄期已超过</a:t>
            </a:r>
            <a:r>
              <a:rPr lang="en-US" altLang="zh-CN" sz="2300" dirty="0"/>
              <a:t>1000d</a:t>
            </a:r>
            <a:r>
              <a:rPr lang="zh-CN" altLang="en-US" sz="2300" dirty="0"/>
              <a:t>，且由于结构构造等原因无法采用钻芯法对回弹检测结果进行修正的混凝土结构构件。</a:t>
            </a:r>
            <a:r>
              <a:rPr lang="en-US" altLang="zh-CN" sz="2300" dirty="0"/>
              <a:t> </a:t>
            </a:r>
          </a:p>
          <a:p>
            <a:pPr marL="0" indent="0">
              <a:lnSpc>
                <a:spcPct val="150000"/>
              </a:lnSpc>
              <a:spcBef>
                <a:spcPts val="0"/>
              </a:spcBef>
              <a:buNone/>
            </a:pPr>
            <a:r>
              <a:rPr lang="en-US" altLang="zh-CN" sz="2300" dirty="0"/>
              <a:t>K.0.2 </a:t>
            </a:r>
            <a:r>
              <a:rPr lang="zh-CN" altLang="en-US" sz="2300" dirty="0"/>
              <a:t>当采用本规定的龄期修正系数对回弹法检测得到的测区混凝土抗压强度换算值进行修正时，应符合下列条件：</a:t>
            </a:r>
            <a:r>
              <a:rPr lang="en-US" altLang="zh-CN" sz="2300" dirty="0"/>
              <a:t> </a:t>
            </a:r>
          </a:p>
          <a:p>
            <a:pPr marL="0" indent="553720">
              <a:lnSpc>
                <a:spcPct val="150000"/>
              </a:lnSpc>
              <a:spcBef>
                <a:spcPts val="0"/>
              </a:spcBef>
              <a:buNone/>
            </a:pPr>
            <a:r>
              <a:rPr lang="en-US" altLang="zh-CN" sz="2300" dirty="0"/>
              <a:t>1.</a:t>
            </a:r>
            <a:r>
              <a:rPr lang="zh-CN" altLang="en-US" sz="2300" dirty="0"/>
              <a:t>龄期已超过</a:t>
            </a:r>
            <a:r>
              <a:rPr lang="en-US" altLang="zh-CN" sz="2300" dirty="0"/>
              <a:t>1000d</a:t>
            </a:r>
            <a:r>
              <a:rPr lang="zh-CN" altLang="en-US" sz="2300" dirty="0"/>
              <a:t>，但处于干燥状态的普通混凝土；</a:t>
            </a:r>
            <a:r>
              <a:rPr lang="en-US" altLang="zh-CN" sz="2300" dirty="0"/>
              <a:t> </a:t>
            </a:r>
          </a:p>
          <a:p>
            <a:pPr marL="0" indent="553720">
              <a:lnSpc>
                <a:spcPct val="150000"/>
              </a:lnSpc>
              <a:spcBef>
                <a:spcPts val="0"/>
              </a:spcBef>
              <a:buNone/>
            </a:pPr>
            <a:r>
              <a:rPr lang="en-US" altLang="zh-CN" sz="2300" dirty="0"/>
              <a:t>2.</a:t>
            </a:r>
            <a:r>
              <a:rPr lang="zh-CN" altLang="en-US" sz="2300" dirty="0"/>
              <a:t>混凝土外观质量正常，未受环境介质作用的侵蚀；</a:t>
            </a:r>
            <a:r>
              <a:rPr lang="en-US" altLang="zh-CN" sz="2300" dirty="0"/>
              <a:t> </a:t>
            </a:r>
          </a:p>
          <a:p>
            <a:pPr marL="0" indent="553720">
              <a:lnSpc>
                <a:spcPct val="150000"/>
              </a:lnSpc>
              <a:spcBef>
                <a:spcPts val="0"/>
              </a:spcBef>
              <a:buNone/>
            </a:pPr>
            <a:r>
              <a:rPr lang="en-US" altLang="zh-CN" sz="2300" dirty="0"/>
              <a:t>3.</a:t>
            </a:r>
            <a:r>
              <a:rPr lang="zh-CN" altLang="en-US" sz="2300" dirty="0"/>
              <a:t>经超声波或其他探测法检测结果表明，混凝土内部无明显的不密实区和蜂窝状局部缺陷；</a:t>
            </a:r>
            <a:r>
              <a:rPr lang="en-US" altLang="zh-CN" sz="2300" dirty="0"/>
              <a:t> </a:t>
            </a:r>
          </a:p>
          <a:p>
            <a:pPr marL="0" indent="0">
              <a:lnSpc>
                <a:spcPct val="150000"/>
              </a:lnSpc>
              <a:spcBef>
                <a:spcPts val="0"/>
              </a:spcBef>
              <a:buNone/>
            </a:pPr>
            <a:r>
              <a:rPr lang="en-US" altLang="zh-CN" sz="2300" dirty="0"/>
              <a:t>    4.</a:t>
            </a:r>
            <a:r>
              <a:rPr lang="zh-CN" altLang="en-US" sz="2300" dirty="0"/>
              <a:t>混凝土抗压强度等级在</a:t>
            </a:r>
            <a:r>
              <a:rPr lang="en-US" altLang="zh-CN" sz="2300" dirty="0"/>
              <a:t>C20</a:t>
            </a:r>
            <a:r>
              <a:rPr lang="zh-CN" altLang="en-US" sz="2300" dirty="0"/>
              <a:t>级</a:t>
            </a:r>
            <a:r>
              <a:rPr lang="zh-CN" altLang="en-US" sz="2300" dirty="0">
                <a:latin typeface="宋体" panose="02010600030101010101" pitchFamily="2" charset="-122"/>
                <a:ea typeface="宋体" panose="02010600030101010101" pitchFamily="2" charset="-122"/>
              </a:rPr>
              <a:t>～</a:t>
            </a:r>
            <a:r>
              <a:rPr lang="en-US" altLang="zh-CN" sz="2300" dirty="0"/>
              <a:t>C50</a:t>
            </a:r>
            <a:r>
              <a:rPr lang="zh-CN" altLang="en-US" sz="2300" dirty="0"/>
              <a:t>级之间，且实测的碳化深度已大于</a:t>
            </a:r>
            <a:r>
              <a:rPr lang="en-US" altLang="zh-CN" sz="2300" dirty="0"/>
              <a:t>6mm</a:t>
            </a:r>
            <a:r>
              <a:rPr lang="zh-CN" altLang="en-US" sz="2300" dirty="0"/>
              <a:t>。</a:t>
            </a:r>
            <a:r>
              <a:rPr lang="en-US" altLang="zh-CN" sz="2300" dirty="0"/>
              <a:t> </a:t>
            </a:r>
          </a:p>
        </p:txBody>
      </p:sp>
    </p:spTree>
  </p:cSld>
  <p:clrMapOvr>
    <a:masterClrMapping/>
  </p:clrMapOvr>
  <p:transition spd="slow">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695325" y="476886"/>
            <a:ext cx="10022205" cy="1612900"/>
          </a:xfrm>
        </p:spPr>
        <p:txBody>
          <a:bodyPr>
            <a:noAutofit/>
          </a:bodyPr>
          <a:lstStyle/>
          <a:p>
            <a:pPr marL="0" indent="0">
              <a:lnSpc>
                <a:spcPct val="150000"/>
              </a:lnSpc>
              <a:spcBef>
                <a:spcPts val="0"/>
              </a:spcBef>
              <a:buNone/>
            </a:pPr>
            <a:r>
              <a:rPr lang="zh-CN" altLang="en-US" sz="2300" dirty="0"/>
              <a:t>附录</a:t>
            </a:r>
            <a:r>
              <a:rPr lang="en-US" altLang="zh-CN" sz="2300" dirty="0"/>
              <a:t>K </a:t>
            </a:r>
            <a:r>
              <a:rPr lang="zh-CN" altLang="en-US" sz="2300" dirty="0"/>
              <a:t>老龄混凝土回弹龄期修正的规定</a:t>
            </a:r>
            <a:endParaRPr lang="en-US" altLang="zh-CN" sz="2300" dirty="0"/>
          </a:p>
          <a:p>
            <a:pPr marL="0" indent="0">
              <a:lnSpc>
                <a:spcPct val="150000"/>
              </a:lnSpc>
              <a:spcBef>
                <a:spcPts val="0"/>
              </a:spcBef>
              <a:buNone/>
            </a:pPr>
            <a:r>
              <a:rPr lang="en-US" altLang="zh-CN" sz="2300" dirty="0"/>
              <a:t>K.0.3 </a:t>
            </a:r>
            <a:r>
              <a:rPr lang="zh-CN" altLang="en-US" sz="2300" dirty="0"/>
              <a:t>混凝土抗压强度换算值可乘以表</a:t>
            </a:r>
            <a:r>
              <a:rPr lang="en-US" altLang="zh-CN" sz="2300" dirty="0"/>
              <a:t>K.0.3</a:t>
            </a:r>
            <a:r>
              <a:rPr lang="zh-CN" altLang="en-US" sz="2300" dirty="0"/>
              <a:t>的修正系数</a:t>
            </a:r>
            <a:r>
              <a:rPr lang="en-US" altLang="zh-CN" sz="2300" dirty="0"/>
              <a:t>α</a:t>
            </a:r>
            <a:r>
              <a:rPr lang="en-US" altLang="zh-CN" sz="2300" baseline="-25000" dirty="0"/>
              <a:t>n</a:t>
            </a:r>
            <a:r>
              <a:rPr lang="zh-CN" altLang="en-US" sz="2300" dirty="0"/>
              <a:t>进行修正</a:t>
            </a:r>
          </a:p>
        </p:txBody>
      </p:sp>
      <p:pic>
        <p:nvPicPr>
          <p:cNvPr id="6" name="图片 5"/>
          <p:cNvPicPr>
            <a:picLocks noChangeAspect="1"/>
          </p:cNvPicPr>
          <p:nvPr/>
        </p:nvPicPr>
        <p:blipFill>
          <a:blip r:embed="rId2"/>
          <a:srcRect t="47817"/>
          <a:stretch>
            <a:fillRect/>
          </a:stretch>
        </p:blipFill>
        <p:spPr>
          <a:xfrm>
            <a:off x="790357" y="2536180"/>
            <a:ext cx="10611286" cy="1944216"/>
          </a:xfrm>
          <a:prstGeom prst="rect">
            <a:avLst/>
          </a:prstGeom>
        </p:spPr>
      </p:pic>
    </p:spTree>
    <p:extLst>
      <p:ext uri="{BB962C8B-B14F-4D97-AF65-F5344CB8AC3E}">
        <p14:creationId xmlns:p14="http://schemas.microsoft.com/office/powerpoint/2010/main" val="1454825245"/>
      </p:ext>
    </p:extLst>
  </p:cSld>
  <p:clrMapOvr>
    <a:masterClrMapping/>
  </p:clrMapOvr>
  <p:transition spd="slow">
    <p:wipe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a:t>
            </a:r>
            <a:r>
              <a:rPr lang="zh-CN" altLang="en-US" dirty="0"/>
              <a:t>原始记录的管理要求</a:t>
            </a:r>
          </a:p>
        </p:txBody>
      </p:sp>
      <p:sp>
        <p:nvSpPr>
          <p:cNvPr id="3" name="内容占位符 2"/>
          <p:cNvSpPr>
            <a:spLocks noGrp="1"/>
          </p:cNvSpPr>
          <p:nvPr>
            <p:ph idx="1"/>
          </p:nvPr>
        </p:nvSpPr>
        <p:spPr>
          <a:xfrm>
            <a:off x="871310" y="1052736"/>
            <a:ext cx="10323675" cy="5193212"/>
          </a:xfrm>
        </p:spPr>
        <p:txBody>
          <a:bodyPr>
            <a:normAutofit fontScale="92500" lnSpcReduction="20000"/>
          </a:bodyPr>
          <a:lstStyle/>
          <a:p>
            <a:r>
              <a:rPr lang="zh-CN" altLang="en-US" dirty="0"/>
              <a:t>使用专用记录表格（目录表）</a:t>
            </a:r>
            <a:endParaRPr lang="en-US" altLang="zh-CN" dirty="0"/>
          </a:p>
          <a:p>
            <a:r>
              <a:rPr lang="zh-CN" altLang="en-US" dirty="0"/>
              <a:t>只填写检测方法标准（现行有效）</a:t>
            </a:r>
            <a:endParaRPr lang="en-US" altLang="zh-CN" dirty="0"/>
          </a:p>
          <a:p>
            <a:r>
              <a:rPr lang="zh-CN" altLang="en-US" dirty="0"/>
              <a:t>正确填写设备名称和编号：设备型号</a:t>
            </a:r>
            <a:r>
              <a:rPr lang="en-US" altLang="zh-CN" dirty="0"/>
              <a:t>+</a:t>
            </a:r>
            <a:r>
              <a:rPr lang="zh-CN" altLang="en-US" dirty="0"/>
              <a:t>设备编号  设备名称</a:t>
            </a:r>
            <a:endParaRPr lang="en-US" altLang="zh-CN" dirty="0"/>
          </a:p>
          <a:p>
            <a:r>
              <a:rPr lang="zh-CN" altLang="en-US" dirty="0"/>
              <a:t>人员均为授权人，有公司社保的职工，有职业资格要求的要持证上岗</a:t>
            </a:r>
            <a:endParaRPr lang="en-US" altLang="zh-CN" dirty="0"/>
          </a:p>
          <a:p>
            <a:pPr marL="0" indent="0">
              <a:buNone/>
            </a:pPr>
            <a:r>
              <a:rPr lang="zh-CN" altLang="en-US" sz="1800" dirty="0"/>
              <a:t>    （公路检测师（员）证、钢结构无损检测证书（</a:t>
            </a:r>
            <a:r>
              <a:rPr lang="en-US" altLang="zh-CN" sz="1800" dirty="0"/>
              <a:t>1</a:t>
            </a:r>
            <a:r>
              <a:rPr lang="zh-CN" altLang="en-US" sz="1800" dirty="0"/>
              <a:t>、</a:t>
            </a:r>
            <a:r>
              <a:rPr lang="en-US" altLang="zh-CN" sz="1800" dirty="0"/>
              <a:t>2</a:t>
            </a:r>
            <a:r>
              <a:rPr lang="zh-CN" altLang="en-US" sz="1800" dirty="0"/>
              <a:t>、</a:t>
            </a:r>
            <a:r>
              <a:rPr lang="en-US" altLang="zh-CN" sz="1800" dirty="0"/>
              <a:t>3</a:t>
            </a:r>
            <a:r>
              <a:rPr lang="zh-CN" altLang="en-US" sz="1800" dirty="0"/>
              <a:t>级）、注册证、鉴定人员）</a:t>
            </a:r>
            <a:endParaRPr lang="en-US" altLang="zh-CN" sz="1800" dirty="0"/>
          </a:p>
          <a:p>
            <a:r>
              <a:rPr lang="zh-CN" altLang="en-US" dirty="0"/>
              <a:t>校核日期（试验检测完成时的日期，比如桩静载试验</a:t>
            </a:r>
            <a:r>
              <a:rPr lang="en-US" altLang="zh-CN" dirty="0"/>
              <a:t>24h</a:t>
            </a:r>
            <a:r>
              <a:rPr lang="zh-CN" altLang="en-US" dirty="0"/>
              <a:t>，材料试验不确定）</a:t>
            </a:r>
            <a:endParaRPr lang="en-US" altLang="zh-CN" dirty="0"/>
          </a:p>
          <a:p>
            <a:r>
              <a:rPr lang="zh-CN" altLang="en-US" dirty="0"/>
              <a:t>签字（严禁代签字，签章、黑色外其他颜色笔）</a:t>
            </a:r>
            <a:endParaRPr lang="en-US" altLang="zh-CN" dirty="0"/>
          </a:p>
          <a:p>
            <a:r>
              <a:rPr lang="zh-CN" altLang="en-US" dirty="0"/>
              <a:t>记录修改（杠改签字）</a:t>
            </a:r>
            <a:endParaRPr lang="en-US" altLang="zh-CN" dirty="0"/>
          </a:p>
          <a:p>
            <a:r>
              <a:rPr lang="zh-CN" altLang="en-US" dirty="0"/>
              <a:t>页码连续编号，多种类型记录加卷首页</a:t>
            </a:r>
            <a:endParaRPr lang="en-US" altLang="zh-CN" dirty="0"/>
          </a:p>
          <a:p>
            <a:r>
              <a:rPr lang="zh-CN" altLang="en-US" dirty="0"/>
              <a:t>电子采集数据（写文件路径和存储文件名称，照片写编号与构件对照表）</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7C9F0B-A03A-416D-BED6-F72375878C84}"/>
              </a:ext>
            </a:extLst>
          </p:cNvPr>
          <p:cNvSpPr>
            <a:spLocks noGrp="1"/>
          </p:cNvSpPr>
          <p:nvPr>
            <p:ph type="title"/>
          </p:nvPr>
        </p:nvSpPr>
        <p:spPr>
          <a:xfrm>
            <a:off x="1415480" y="1124744"/>
            <a:ext cx="7704856" cy="4608512"/>
          </a:xfrm>
        </p:spPr>
        <p:txBody>
          <a:bodyPr>
            <a:normAutofit fontScale="90000"/>
          </a:bodyPr>
          <a:lstStyle/>
          <a:p>
            <a:pPr>
              <a:lnSpc>
                <a:spcPct val="150000"/>
              </a:lnSpc>
            </a:pPr>
            <a:r>
              <a:rPr lang="en-US" altLang="zh-CN" dirty="0">
                <a:latin typeface="宋体" panose="02010600030101010101" pitchFamily="2" charset="-122"/>
                <a:ea typeface="宋体" panose="02010600030101010101" pitchFamily="2" charset="-122"/>
              </a:rPr>
              <a:t>ZBL-S280+S92503011 </a:t>
            </a:r>
            <a:r>
              <a:rPr lang="zh-CN" altLang="en-US" dirty="0">
                <a:latin typeface="宋体" panose="02010600030101010101" pitchFamily="2" charset="-122"/>
                <a:ea typeface="宋体" panose="02010600030101010101" pitchFamily="2" charset="-122"/>
              </a:rPr>
              <a:t>数显混凝土回弹仪</a:t>
            </a:r>
            <a:br>
              <a:rPr lang="en-US" altLang="zh-CN"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0-8</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mm+81827 </a:t>
            </a:r>
            <a:r>
              <a:rPr lang="zh-CN" altLang="en-US" dirty="0">
                <a:latin typeface="宋体" panose="02010600030101010101" pitchFamily="2" charset="-122"/>
                <a:ea typeface="宋体" panose="02010600030101010101" pitchFamily="2" charset="-122"/>
              </a:rPr>
              <a:t>碳化深度仪</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5m+6094 </a:t>
            </a:r>
            <a:r>
              <a:rPr lang="zh-CN" altLang="en-US" dirty="0">
                <a:latin typeface="宋体" panose="02010600030101010101" pitchFamily="2" charset="-122"/>
                <a:ea typeface="宋体" panose="02010600030101010101" pitchFamily="2" charset="-122"/>
              </a:rPr>
              <a:t>钢卷尺</a:t>
            </a:r>
            <a:br>
              <a:rPr lang="en-US" altLang="zh-CN" dirty="0">
                <a:latin typeface="宋体" panose="02010600030101010101" pitchFamily="2" charset="-122"/>
                <a:ea typeface="宋体" panose="02010600030101010101" pitchFamily="2" charset="-122"/>
              </a:rPr>
            </a:br>
            <a:br>
              <a:rPr lang="en-US" altLang="zh-CN"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型号</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管理编号 设置名称</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5m+S-GJC-06</a:t>
            </a:r>
            <a:r>
              <a:rPr lang="zh-CN" altLang="en-US" dirty="0">
                <a:latin typeface="宋体" panose="02010600030101010101" pitchFamily="2" charset="-122"/>
                <a:ea typeface="宋体" panose="02010600030101010101" pitchFamily="2" charset="-122"/>
              </a:rPr>
              <a:t>钢卷尺</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300)mm+ LG1-10-01 </a:t>
            </a:r>
            <a:r>
              <a:rPr lang="zh-CN" altLang="en-US" dirty="0">
                <a:latin typeface="宋体" panose="02010600030101010101" pitchFamily="2" charset="-122"/>
                <a:ea typeface="宋体" panose="02010600030101010101" pitchFamily="2" charset="-122"/>
              </a:rPr>
              <a:t>钢直尺</a:t>
            </a:r>
          </a:p>
        </p:txBody>
      </p:sp>
    </p:spTree>
    <p:extLst>
      <p:ext uri="{BB962C8B-B14F-4D97-AF65-F5344CB8AC3E}">
        <p14:creationId xmlns:p14="http://schemas.microsoft.com/office/powerpoint/2010/main" val="207816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nvSpPr>
        <p:spPr>
          <a:xfrm>
            <a:off x="263352" y="2636912"/>
            <a:ext cx="5931277" cy="720368"/>
          </a:xfrm>
          <a:prstGeom prst="rect">
            <a:avLst/>
          </a:prstGeom>
        </p:spPr>
        <p:txBody>
          <a:bodyPr vert="horz" lIns="91440" tIns="45720" rIns="91440" bIns="45720" rtlCol="0">
            <a:normAutofit/>
          </a:bodyPr>
          <a:lst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t>第二部分：报告编制及存档要求</a:t>
            </a:r>
            <a:endParaRPr lang="en-US" altLang="zh-CN" sz="3200" dirty="0"/>
          </a:p>
          <a:p>
            <a:pPr marL="0" indent="0">
              <a:buNone/>
            </a:pPr>
            <a:endParaRPr lang="zh-CN" altLang="en-US" sz="3200" dirty="0"/>
          </a:p>
        </p:txBody>
      </p:sp>
      <p:sp>
        <p:nvSpPr>
          <p:cNvPr id="6" name="内容占位符 2"/>
          <p:cNvSpPr>
            <a:spLocks noGrp="1"/>
          </p:cNvSpPr>
          <p:nvPr/>
        </p:nvSpPr>
        <p:spPr>
          <a:xfrm>
            <a:off x="6384032" y="1196752"/>
            <a:ext cx="5616624" cy="4836160"/>
          </a:xfrm>
          <a:prstGeom prst="rect">
            <a:avLst/>
          </a:prstGeom>
        </p:spPr>
        <p:txBody>
          <a:bodyPr vert="horz" lIns="91440" tIns="45720" rIns="91440" bIns="45720" rtlCol="0">
            <a:normAutofit fontScale="92500" lnSpcReduction="10000"/>
          </a:bodyPr>
          <a:lst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dirty="0"/>
              <a:t>1.</a:t>
            </a:r>
            <a:r>
              <a:rPr lang="zh-CN" altLang="en-US" sz="3200" dirty="0"/>
              <a:t>报告编制相关要求</a:t>
            </a:r>
          </a:p>
          <a:p>
            <a:pPr marL="0" indent="0">
              <a:buNone/>
            </a:pPr>
            <a:r>
              <a:rPr lang="en-US" altLang="zh-CN" sz="3200" dirty="0"/>
              <a:t>2.</a:t>
            </a:r>
            <a:r>
              <a:rPr lang="zh-CN" altLang="en-US" sz="3200" dirty="0"/>
              <a:t>资质盖章相关规定</a:t>
            </a:r>
            <a:endParaRPr lang="en-US" altLang="zh-CN" sz="3200" dirty="0"/>
          </a:p>
          <a:p>
            <a:pPr marL="0" indent="0">
              <a:buNone/>
            </a:pPr>
            <a:r>
              <a:rPr lang="en-US" altLang="zh-CN" sz="3200" dirty="0"/>
              <a:t>3.</a:t>
            </a:r>
            <a:r>
              <a:rPr lang="zh-CN" altLang="en-US" sz="3200" dirty="0"/>
              <a:t>检测报告归档目录</a:t>
            </a:r>
          </a:p>
          <a:p>
            <a:pPr marL="0" indent="0">
              <a:buNone/>
            </a:pPr>
            <a:r>
              <a:rPr lang="en-US" altLang="zh-CN" sz="3200" dirty="0"/>
              <a:t>4.</a:t>
            </a:r>
            <a:r>
              <a:rPr lang="zh-CN" altLang="en-US" sz="3200" dirty="0"/>
              <a:t>报告更改程序</a:t>
            </a:r>
          </a:p>
          <a:p>
            <a:pPr marL="0" indent="0">
              <a:buNone/>
            </a:pPr>
            <a:r>
              <a:rPr lang="en-US" altLang="zh-CN" sz="3200" dirty="0"/>
              <a:t>5.</a:t>
            </a:r>
            <a:r>
              <a:rPr lang="zh-CN" altLang="en-US" sz="3200" dirty="0"/>
              <a:t>安全交底</a:t>
            </a:r>
          </a:p>
          <a:p>
            <a:pPr marL="0" indent="0">
              <a:buNone/>
            </a:pPr>
            <a:r>
              <a:rPr lang="en-US" altLang="zh-CN" sz="3200" dirty="0"/>
              <a:t>6.</a:t>
            </a:r>
            <a:r>
              <a:rPr lang="zh-CN" altLang="en-US" sz="3200" dirty="0"/>
              <a:t>新行标的主要修订内容介绍</a:t>
            </a:r>
            <a:endParaRPr lang="en-US" altLang="zh-CN" sz="3200" dirty="0"/>
          </a:p>
          <a:p>
            <a:pPr marL="0" indent="0">
              <a:buNone/>
            </a:pPr>
            <a:r>
              <a:rPr lang="en-US" altLang="zh-CN" sz="3200" dirty="0"/>
              <a:t>7.</a:t>
            </a:r>
            <a:r>
              <a:rPr lang="zh-CN" altLang="en-US" sz="3200" dirty="0"/>
              <a:t>报告审核中常问题</a:t>
            </a:r>
          </a:p>
          <a:p>
            <a:pPr marL="0" indent="0">
              <a:buNone/>
            </a:pPr>
            <a:endParaRPr lang="zh-CN" altLang="en-US" sz="3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609600" y="1600200"/>
            <a:ext cx="10959008" cy="4530725"/>
          </a:xfrm>
        </p:spPr>
        <p:txBody>
          <a:bodyPr/>
          <a:lstStyle/>
          <a:p>
            <a:pPr marL="0" indent="0">
              <a:buNone/>
            </a:pPr>
            <a:r>
              <a:rPr lang="en-US" altLang="zh-CN" dirty="0">
                <a:latin typeface="宋体" panose="02010600030101010101" pitchFamily="2" charset="-122"/>
                <a:ea typeface="宋体" panose="02010600030101010101" pitchFamily="2" charset="-122"/>
                <a:sym typeface="+mn-ea"/>
              </a:rPr>
              <a:t>1.</a:t>
            </a:r>
            <a:r>
              <a:rPr lang="zh-CN" altLang="en-US" dirty="0">
                <a:latin typeface="宋体" panose="02010600030101010101" pitchFamily="2" charset="-122"/>
                <a:ea typeface="宋体" panose="02010600030101010101" pitchFamily="2" charset="-122"/>
                <a:sym typeface="+mn-ea"/>
              </a:rPr>
              <a:t>报告编制相关要求</a:t>
            </a:r>
            <a:endParaRPr lang="en-US" altLang="zh-CN" dirty="0">
              <a:latin typeface="宋体" panose="02010600030101010101" pitchFamily="2" charset="-122"/>
              <a:ea typeface="宋体" panose="02010600030101010101" pitchFamily="2" charset="-122"/>
              <a:sym typeface="+mn-ea"/>
            </a:endParaRPr>
          </a:p>
          <a:p>
            <a:pPr marL="0" indent="0">
              <a:buNone/>
            </a:pPr>
            <a:r>
              <a:rPr lang="zh-CN" altLang="en-US" dirty="0">
                <a:latin typeface="宋体" panose="02010600030101010101" pitchFamily="2" charset="-122"/>
                <a:ea typeface="宋体" panose="02010600030101010101" pitchFamily="2" charset="-122"/>
              </a:rPr>
              <a:t>北京市住建委监督管理的工程：</a:t>
            </a:r>
            <a:r>
              <a:rPr lang="zh-CN" altLang="en-US" dirty="0">
                <a:solidFill>
                  <a:srgbClr val="FF0000"/>
                </a:solidFill>
                <a:latin typeface="宋体" panose="02010600030101010101" pitchFamily="2" charset="-122"/>
                <a:ea typeface="宋体" panose="02010600030101010101" pitchFamily="2" charset="-122"/>
              </a:rPr>
              <a:t>京建</a:t>
            </a:r>
            <a:r>
              <a:rPr lang="zh-CN" altLang="en-US" dirty="0">
                <a:latin typeface="宋体" panose="02010600030101010101" pitchFamily="2" charset="-122"/>
                <a:ea typeface="宋体" panose="02010600030101010101" pitchFamily="2" charset="-122"/>
              </a:rPr>
              <a:t>检测</a:t>
            </a:r>
            <a:r>
              <a:rPr lang="en-US" altLang="zh-CN" dirty="0">
                <a:latin typeface="宋体" panose="02010600030101010101" pitchFamily="2" charset="-122"/>
                <a:ea typeface="宋体" panose="02010600030101010101" pitchFamily="2" charset="-122"/>
              </a:rPr>
              <a:t>J</a:t>
            </a:r>
            <a:r>
              <a:rPr lang="en-US" altLang="zh-CN" baseline="-25000" dirty="0">
                <a:latin typeface="宋体" panose="02010600030101010101" pitchFamily="2" charset="-122"/>
                <a:ea typeface="宋体" panose="02010600030101010101" pitchFamily="2" charset="-122"/>
              </a:rPr>
              <a:t>3</a:t>
            </a:r>
            <a:r>
              <a:rPr lang="en-US" altLang="zh-CN" dirty="0">
                <a:latin typeface="宋体" panose="02010600030101010101" pitchFamily="2" charset="-122"/>
                <a:ea typeface="宋体" panose="02010600030101010101" pitchFamily="2" charset="-122"/>
              </a:rPr>
              <a:t>-G</a:t>
            </a:r>
            <a:r>
              <a:rPr lang="zh-CN" altLang="en-US" dirty="0">
                <a:latin typeface="宋体" panose="02010600030101010101" pitchFamily="2" charset="-122"/>
                <a:ea typeface="宋体" panose="02010600030101010101" pitchFamily="2" charset="-122"/>
              </a:rPr>
              <a:t>，京建检验</a:t>
            </a:r>
            <a:r>
              <a:rPr lang="en-US" altLang="zh-CN" dirty="0">
                <a:latin typeface="宋体" panose="02010600030101010101" pitchFamily="2" charset="-122"/>
                <a:ea typeface="宋体" panose="02010600030101010101" pitchFamily="2" charset="-122"/>
              </a:rPr>
              <a:t>J</a:t>
            </a:r>
            <a:r>
              <a:rPr lang="en-US" altLang="zh-CN" baseline="-25000" dirty="0">
                <a:latin typeface="宋体" panose="02010600030101010101" pitchFamily="2" charset="-122"/>
                <a:ea typeface="宋体" panose="02010600030101010101" pitchFamily="2" charset="-122"/>
              </a:rPr>
              <a:t>3</a:t>
            </a:r>
            <a:r>
              <a:rPr lang="en-US" altLang="zh-CN" dirty="0">
                <a:latin typeface="宋体" panose="02010600030101010101" pitchFamily="2" charset="-122"/>
                <a:ea typeface="宋体" panose="02010600030101010101" pitchFamily="2" charset="-122"/>
              </a:rPr>
              <a:t>-I</a:t>
            </a:r>
            <a:r>
              <a:rPr lang="zh-CN" altLang="en-US" dirty="0">
                <a:latin typeface="宋体" panose="02010600030101010101" pitchFamily="2" charset="-122"/>
                <a:ea typeface="宋体" panose="02010600030101010101" pitchFamily="2" charset="-122"/>
              </a:rPr>
              <a:t>，京建监测</a:t>
            </a:r>
            <a:r>
              <a:rPr lang="en-US" altLang="zh-CN" dirty="0">
                <a:latin typeface="宋体" panose="02010600030101010101" pitchFamily="2" charset="-122"/>
                <a:ea typeface="宋体" panose="02010600030101010101" pitchFamily="2" charset="-122"/>
              </a:rPr>
              <a:t>J</a:t>
            </a:r>
            <a:r>
              <a:rPr lang="en-US" altLang="zh-CN" baseline="-25000" dirty="0">
                <a:latin typeface="宋体" panose="02010600030101010101" pitchFamily="2" charset="-122"/>
                <a:ea typeface="宋体" panose="02010600030101010101" pitchFamily="2" charset="-122"/>
              </a:rPr>
              <a:t>3</a:t>
            </a:r>
            <a:r>
              <a:rPr lang="en-US" altLang="zh-CN" dirty="0">
                <a:latin typeface="宋体" panose="02010600030101010101" pitchFamily="2" charset="-122"/>
                <a:ea typeface="宋体" panose="02010600030101010101" pitchFamily="2" charset="-122"/>
              </a:rPr>
              <a:t>-J</a:t>
            </a:r>
          </a:p>
          <a:p>
            <a:pPr marL="0" indent="1879600">
              <a:buNone/>
            </a:pPr>
            <a:r>
              <a:rPr lang="zh-CN" altLang="en-US" dirty="0">
                <a:latin typeface="宋体" panose="02010600030101010101" pitchFamily="2" charset="-122"/>
                <a:ea typeface="宋体" panose="02010600030101010101" pitchFamily="2" charset="-122"/>
              </a:rPr>
              <a:t>涉及到房屋建筑、轨道交通、市区道路、穿越工程</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北京市交通委监督管理的工程：</a:t>
            </a:r>
            <a:r>
              <a:rPr lang="zh-CN" altLang="en-US" dirty="0">
                <a:solidFill>
                  <a:srgbClr val="FF0000"/>
                </a:solidFill>
                <a:latin typeface="宋体" panose="02010600030101010101" pitchFamily="2" charset="-122"/>
                <a:ea typeface="宋体" panose="02010600030101010101" pitchFamily="2" charset="-122"/>
              </a:rPr>
              <a:t>京交</a:t>
            </a:r>
            <a:r>
              <a:rPr lang="zh-CN" altLang="en-US" dirty="0">
                <a:latin typeface="宋体" panose="02010600030101010101" pitchFamily="2" charset="-122"/>
                <a:ea typeface="宋体" panose="02010600030101010101" pitchFamily="2" charset="-122"/>
              </a:rPr>
              <a:t>检测</a:t>
            </a:r>
            <a:r>
              <a:rPr lang="en-US" altLang="zh-CN" dirty="0">
                <a:latin typeface="宋体" panose="02010600030101010101" pitchFamily="2" charset="-122"/>
                <a:ea typeface="宋体" panose="02010600030101010101" pitchFamily="2" charset="-122"/>
              </a:rPr>
              <a:t>J</a:t>
            </a:r>
            <a:r>
              <a:rPr lang="en-US" altLang="zh-CN" baseline="-25000" dirty="0">
                <a:latin typeface="宋体" panose="02010600030101010101" pitchFamily="2" charset="-122"/>
                <a:ea typeface="宋体" panose="02010600030101010101" pitchFamily="2" charset="-122"/>
              </a:rPr>
              <a:t>3</a:t>
            </a:r>
            <a:r>
              <a:rPr lang="en-US" altLang="zh-CN" dirty="0">
                <a:latin typeface="宋体" panose="02010600030101010101" pitchFamily="2" charset="-122"/>
                <a:ea typeface="宋体" panose="02010600030101010101" pitchFamily="2" charset="-122"/>
              </a:rPr>
              <a:t>-G</a:t>
            </a:r>
          </a:p>
          <a:p>
            <a:pPr marL="0" indent="1798955">
              <a:buNone/>
            </a:pPr>
            <a:r>
              <a:rPr lang="zh-CN" altLang="en-US" dirty="0">
                <a:latin typeface="宋体" panose="02010600030101010101" pitchFamily="2" charset="-122"/>
                <a:ea typeface="宋体" panose="02010600030101010101" pitchFamily="2" charset="-122"/>
              </a:rPr>
              <a:t>涉及到市区外道路、高速公路、隧道、连接线等</a:t>
            </a:r>
          </a:p>
          <a:p>
            <a:pPr marL="0" indent="0">
              <a:buNone/>
            </a:pPr>
            <a:endParaRPr lang="en-US" altLang="zh-CN" dirty="0">
              <a:latin typeface="宋体" panose="02010600030101010101" pitchFamily="2" charset="-122"/>
              <a:ea typeface="宋体" panose="02010600030101010101" pitchFamily="2" charset="-122"/>
            </a:endParaRPr>
          </a:p>
          <a:p>
            <a:pPr marL="0" indent="0">
              <a:buNone/>
            </a:pPr>
            <a:endParaRPr lang="en-US" altLang="zh-CN" dirty="0">
              <a:latin typeface="宋体" panose="02010600030101010101" pitchFamily="2" charset="-122"/>
              <a:ea typeface="宋体" panose="02010600030101010101" pitchFamily="2" charset="-122"/>
            </a:endParaRPr>
          </a:p>
        </p:txBody>
      </p:sp>
    </p:spTree>
  </p:cSld>
  <p:clrMapOvr>
    <a:masterClrMapping/>
  </p:clrMapOvr>
  <p:transition spd="slow">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983432" y="836712"/>
            <a:ext cx="4002405" cy="4530725"/>
          </a:xfrm>
        </p:spPr>
        <p:txBody>
          <a:bodyPr>
            <a:normAutofit fontScale="85000" lnSpcReduction="20000"/>
          </a:bodyPr>
          <a:lstStyle/>
          <a:p>
            <a:pPr marL="0" indent="0">
              <a:buNone/>
            </a:pPr>
            <a:r>
              <a:rPr lang="zh-CN" altLang="en-US" dirty="0">
                <a:latin typeface="宋体" panose="02010600030101010101" pitchFamily="2" charset="-122"/>
                <a:ea typeface="宋体" panose="02010600030101010101" pitchFamily="2" charset="-122"/>
              </a:rPr>
              <a:t>公司有统一的格式要求（</a:t>
            </a:r>
            <a:r>
              <a:rPr lang="en-US" altLang="zh-CN" dirty="0">
                <a:latin typeface="宋体" panose="02010600030101010101" pitchFamily="2" charset="-122"/>
                <a:ea typeface="宋体" panose="02010600030101010101" pitchFamily="2" charset="-122"/>
              </a:rPr>
              <a:t>2017</a:t>
            </a:r>
            <a:r>
              <a:rPr lang="zh-CN" altLang="en-US" dirty="0">
                <a:latin typeface="宋体" panose="02010600030101010101" pitchFamily="2" charset="-122"/>
                <a:ea typeface="宋体" panose="02010600030101010101" pitchFamily="2" charset="-122"/>
              </a:rPr>
              <a:t>版）</a:t>
            </a:r>
            <a:endParaRPr lang="en-US" altLang="zh-CN" dirty="0">
              <a:latin typeface="宋体" panose="02010600030101010101" pitchFamily="2" charset="-122"/>
              <a:ea typeface="宋体" panose="02010600030101010101" pitchFamily="2" charset="-122"/>
            </a:endParaRPr>
          </a:p>
          <a:p>
            <a:r>
              <a:rPr lang="zh-CN" altLang="en-US" dirty="0"/>
              <a:t>统一的格式要求</a:t>
            </a:r>
          </a:p>
          <a:p>
            <a:pPr marL="0" indent="628015">
              <a:buNone/>
            </a:pPr>
            <a:r>
              <a:rPr lang="zh-CN" altLang="en-US" dirty="0"/>
              <a:t>封面</a:t>
            </a:r>
          </a:p>
          <a:p>
            <a:pPr marL="0" indent="628015">
              <a:buNone/>
            </a:pPr>
            <a:r>
              <a:rPr lang="zh-CN" altLang="en-US" dirty="0"/>
              <a:t>注意事项页</a:t>
            </a:r>
          </a:p>
          <a:p>
            <a:pPr marL="0" indent="628015">
              <a:buNone/>
            </a:pPr>
            <a:r>
              <a:rPr lang="zh-CN" altLang="en-US" dirty="0"/>
              <a:t>签字页</a:t>
            </a:r>
          </a:p>
          <a:p>
            <a:pPr marL="0" indent="628015">
              <a:buNone/>
            </a:pPr>
            <a:r>
              <a:rPr lang="zh-CN" altLang="en-US" dirty="0"/>
              <a:t>章节编号</a:t>
            </a:r>
          </a:p>
          <a:p>
            <a:pPr marL="0" indent="628015">
              <a:buNone/>
            </a:pPr>
            <a:r>
              <a:rPr lang="zh-CN" altLang="en-US" dirty="0"/>
              <a:t>图表编号</a:t>
            </a:r>
          </a:p>
          <a:p>
            <a:pPr marL="0" indent="628015">
              <a:buNone/>
            </a:pPr>
            <a:r>
              <a:rPr lang="zh-CN" altLang="en-US" dirty="0"/>
              <a:t>页眉、页脚、页码</a:t>
            </a:r>
          </a:p>
          <a:p>
            <a:pPr marL="0" indent="628015">
              <a:buNone/>
            </a:pPr>
            <a:r>
              <a:rPr lang="zh-CN" altLang="en-US" dirty="0"/>
              <a:t>字体、字号、行间距</a:t>
            </a:r>
          </a:p>
        </p:txBody>
      </p:sp>
      <p:sp>
        <p:nvSpPr>
          <p:cNvPr id="5" name="文本占位符 2"/>
          <p:cNvSpPr>
            <a:spLocks noGrp="1"/>
          </p:cNvSpPr>
          <p:nvPr/>
        </p:nvSpPr>
        <p:spPr>
          <a:xfrm>
            <a:off x="5951984" y="1484784"/>
            <a:ext cx="5003800" cy="3882653"/>
          </a:xfrm>
          <a:prstGeom prst="rect">
            <a:avLst/>
          </a:prstGeom>
        </p:spPr>
        <p:txBody>
          <a:bodyPr vert="horz" lIns="91440" tIns="45720" rIns="91440" bIns="45720" rtlCol="0">
            <a:normAutofit/>
          </a:bodyPr>
          <a:lstStyle>
            <a:lvl1pPr marL="357505" indent="-357505" algn="just" defTabSz="914400" rtl="0" eaLnBrk="1" latinLnBrk="0" hangingPunct="1">
              <a:lnSpc>
                <a:spcPct val="110000"/>
              </a:lnSpc>
              <a:spcBef>
                <a:spcPts val="1800"/>
              </a:spcBef>
              <a:spcAft>
                <a:spcPts val="0"/>
              </a:spcAft>
              <a:buClr>
                <a:srgbClr val="963B22"/>
              </a:buClr>
              <a:buSzPct val="85000"/>
              <a:buFontTx/>
              <a:buBlip>
                <a:blip r:embed="rId2"/>
              </a:buBlip>
              <a:defRPr sz="2400" b="1" kern="1200" baseline="0">
                <a:solidFill>
                  <a:schemeClr val="accent1">
                    <a:lumMod val="50000"/>
                  </a:schemeClr>
                </a:solidFill>
                <a:latin typeface="幼圆" panose="02010509060101010101" pitchFamily="49" charset="-122"/>
                <a:ea typeface="幼圆" panose="02010509060101010101" pitchFamily="49" charset="-122"/>
                <a:cs typeface="+mn-cs"/>
              </a:defRPr>
            </a:lvl1pPr>
            <a:lvl2pPr marL="357505" indent="-357505" algn="just" defTabSz="914400" rtl="0" eaLnBrk="1" latinLnBrk="0" hangingPunct="1">
              <a:lnSpc>
                <a:spcPct val="110000"/>
              </a:lnSpc>
              <a:spcBef>
                <a:spcPts val="0"/>
              </a:spcBef>
              <a:spcAft>
                <a:spcPts val="600"/>
              </a:spcAft>
              <a:buClr>
                <a:schemeClr val="accent2">
                  <a:lumMod val="60000"/>
                  <a:lumOff val="40000"/>
                </a:schemeClr>
              </a:buClr>
              <a:buFont typeface="华文新魏" panose="02010800040101010101" pitchFamily="2" charset="-122"/>
              <a:buChar char=" "/>
              <a:defRPr sz="2000" b="0" kern="1200" baseline="0">
                <a:solidFill>
                  <a:srgbClr val="7D7D7D"/>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其他注意的问题</a:t>
            </a:r>
          </a:p>
          <a:p>
            <a:pPr marL="0" indent="628015">
              <a:buNone/>
            </a:pPr>
            <a:r>
              <a:rPr lang="zh-CN" altLang="en-US" dirty="0"/>
              <a:t>语句通顺，书写规范</a:t>
            </a:r>
          </a:p>
          <a:p>
            <a:pPr marL="0" indent="628015">
              <a:buNone/>
            </a:pPr>
            <a:r>
              <a:rPr lang="zh-CN" altLang="en-US" dirty="0"/>
              <a:t>无错别字，标点使用规范</a:t>
            </a:r>
          </a:p>
          <a:p>
            <a:pPr marL="0" indent="628015">
              <a:buNone/>
            </a:pPr>
            <a:r>
              <a:rPr lang="zh-CN" altLang="en-US" dirty="0"/>
              <a:t>布局合理，页面美观</a:t>
            </a:r>
          </a:p>
          <a:p>
            <a:pPr marL="0" indent="628015">
              <a:buNone/>
            </a:pPr>
            <a:r>
              <a:rPr lang="zh-CN" altLang="en-US" dirty="0"/>
              <a:t>报告与记录一致</a:t>
            </a:r>
          </a:p>
          <a:p>
            <a:pPr marL="0" indent="628015">
              <a:buNone/>
            </a:pPr>
            <a:r>
              <a:rPr lang="zh-CN" altLang="en-US" dirty="0"/>
              <a:t>人员均有授权</a:t>
            </a:r>
          </a:p>
        </p:txBody>
      </p:sp>
    </p:spTree>
  </p:cSld>
  <p:clrMapOvr>
    <a:masterClrMapping/>
  </p:clrMapOvr>
  <p:transition spd="slow">
    <p:wipe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95400" y="337873"/>
            <a:ext cx="11161240" cy="3108543"/>
          </a:xfrm>
          <a:prstGeom prst="rect">
            <a:avLst/>
          </a:prstGeom>
          <a:noFill/>
        </p:spPr>
        <p:txBody>
          <a:bodyPr wrap="square" rtlCol="0" anchor="t">
            <a:spAutoFit/>
          </a:bodyPr>
          <a:lstStyle/>
          <a:p>
            <a:pPr marL="0" indent="0">
              <a:buNone/>
            </a:pPr>
            <a:r>
              <a:rPr lang="en-US" altLang="zh-CN" dirty="0">
                <a:sym typeface="+mn-ea"/>
              </a:rPr>
              <a:t> </a:t>
            </a:r>
            <a:r>
              <a:rPr lang="zh-CN" altLang="en-US" sz="3200" dirty="0">
                <a:sym typeface="+mn-ea"/>
              </a:rPr>
              <a:t>结论的写法：</a:t>
            </a:r>
          </a:p>
          <a:p>
            <a:pPr marL="0" indent="0">
              <a:buNone/>
            </a:pPr>
            <a:r>
              <a:rPr lang="zh-CN" altLang="en-US" sz="3200" dirty="0">
                <a:latin typeface="Arial" panose="020B0604020202020204" pitchFamily="34" charset="0"/>
                <a:ea typeface="微软雅黑" panose="020B0503020204020204" pitchFamily="34" charset="-122"/>
                <a:sym typeface="+mn-ea"/>
              </a:rPr>
              <a:t>        本次检测的</a:t>
            </a:r>
            <a:r>
              <a:rPr lang="en-US" altLang="zh-CN" sz="3200" dirty="0">
                <a:latin typeface="Arial" panose="020B0604020202020204" pitchFamily="34" charset="0"/>
                <a:ea typeface="微软雅黑" panose="020B0503020204020204" pitchFamily="34" charset="-122"/>
                <a:sym typeface="+mn-ea"/>
              </a:rPr>
              <a:t>****</a:t>
            </a:r>
            <a:r>
              <a:rPr lang="zh-CN" altLang="en-US" sz="3200" dirty="0">
                <a:latin typeface="Arial" panose="020B0604020202020204" pitchFamily="34" charset="0"/>
                <a:ea typeface="微软雅黑" panose="020B0503020204020204" pitchFamily="34" charset="-122"/>
                <a:sym typeface="+mn-ea"/>
              </a:rPr>
              <a:t>工程</a:t>
            </a:r>
            <a:r>
              <a:rPr lang="en-US" altLang="zh-CN" sz="3200" dirty="0">
                <a:latin typeface="Arial" panose="020B0604020202020204" pitchFamily="34" charset="0"/>
                <a:ea typeface="微软雅黑" panose="020B0503020204020204" pitchFamily="34" charset="-122"/>
                <a:sym typeface="+mn-ea"/>
              </a:rPr>
              <a:t>**</a:t>
            </a:r>
            <a:r>
              <a:rPr lang="zh-CN" altLang="en-US" sz="3200" dirty="0">
                <a:latin typeface="Arial" panose="020B0604020202020204" pitchFamily="34" charset="0"/>
                <a:ea typeface="微软雅黑" panose="020B0503020204020204" pitchFamily="34" charset="-122"/>
                <a:sym typeface="+mn-ea"/>
              </a:rPr>
              <a:t>个板类构件现龄期混凝土抗压强度推定值均达到设计强度等级</a:t>
            </a:r>
            <a:r>
              <a:rPr lang="en-US" altLang="zh-CN" sz="3200" dirty="0">
                <a:latin typeface="Arial" panose="020B0604020202020204" pitchFamily="34" charset="0"/>
                <a:ea typeface="微软雅黑" panose="020B0503020204020204" pitchFamily="34" charset="-122"/>
                <a:sym typeface="+mn-ea"/>
              </a:rPr>
              <a:t>C40</a:t>
            </a:r>
            <a:r>
              <a:rPr lang="zh-CN" altLang="en-US" sz="3200" dirty="0">
                <a:latin typeface="Arial" panose="020B0604020202020204" pitchFamily="34" charset="0"/>
                <a:ea typeface="微软雅黑" panose="020B0503020204020204" pitchFamily="34" charset="-122"/>
                <a:sym typeface="+mn-ea"/>
              </a:rPr>
              <a:t>标准要求。</a:t>
            </a:r>
            <a:endParaRPr lang="en-US" altLang="zh-CN" sz="3200" dirty="0">
              <a:latin typeface="Arial" panose="020B0604020202020204" pitchFamily="34" charset="0"/>
              <a:ea typeface="微软雅黑" panose="020B0503020204020204" pitchFamily="34" charset="-122"/>
              <a:sym typeface="+mn-ea"/>
            </a:endParaRPr>
          </a:p>
          <a:p>
            <a:pPr marL="0" indent="0">
              <a:buNone/>
            </a:pPr>
            <a:r>
              <a:rPr lang="zh-CN" altLang="en-US" sz="2000" dirty="0">
                <a:latin typeface="宋体" panose="02010600030101010101" pitchFamily="2" charset="-122"/>
                <a:ea typeface="宋体" panose="02010600030101010101" pitchFamily="2" charset="-122"/>
                <a:sym typeface="+mn-ea"/>
              </a:rPr>
              <a:t>注：</a:t>
            </a:r>
            <a:endParaRPr lang="en-US" altLang="zh-CN" sz="2000" dirty="0">
              <a:latin typeface="宋体" panose="02010600030101010101" pitchFamily="2" charset="-122"/>
              <a:ea typeface="宋体" panose="02010600030101010101" pitchFamily="2" charset="-122"/>
              <a:sym typeface="+mn-ea"/>
            </a:endParaRPr>
          </a:p>
          <a:p>
            <a:pPr marL="0" indent="0">
              <a:buNone/>
            </a:pPr>
            <a:r>
              <a:rPr lang="en-US" altLang="zh-CN" sz="2000" dirty="0">
                <a:latin typeface="宋体" panose="02010600030101010101" pitchFamily="2" charset="-122"/>
                <a:ea typeface="宋体" panose="02010600030101010101" pitchFamily="2" charset="-122"/>
                <a:sym typeface="+mn-ea"/>
              </a:rPr>
              <a:t>1.</a:t>
            </a:r>
            <a:r>
              <a:rPr lang="zh-CN" altLang="en-US" sz="2000" dirty="0">
                <a:latin typeface="宋体" panose="02010600030101010101" pitchFamily="2" charset="-122"/>
                <a:ea typeface="宋体" panose="02010600030101010101" pitchFamily="2" charset="-122"/>
                <a:sym typeface="+mn-ea"/>
              </a:rPr>
              <a:t>构件抗压强度推定值</a:t>
            </a:r>
            <a:r>
              <a:rPr lang="en-US" altLang="zh-CN"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测区强度换算值的平均值</a:t>
            </a:r>
            <a:r>
              <a:rPr lang="en-US" altLang="zh-CN" sz="2000" dirty="0">
                <a:latin typeface="宋体" panose="02010600030101010101" pitchFamily="2" charset="-122"/>
                <a:ea typeface="宋体" panose="02010600030101010101" pitchFamily="2" charset="-122"/>
                <a:sym typeface="+mn-ea"/>
              </a:rPr>
              <a:t>-1.645×</a:t>
            </a:r>
            <a:r>
              <a:rPr lang="zh-CN" altLang="en-US" sz="2000" dirty="0">
                <a:latin typeface="宋体" panose="02010600030101010101" pitchFamily="2" charset="-122"/>
                <a:ea typeface="宋体" panose="02010600030101010101" pitchFamily="2" charset="-122"/>
                <a:sym typeface="+mn-ea"/>
              </a:rPr>
              <a:t>测区强度换算值的标准差。</a:t>
            </a:r>
            <a:endParaRPr lang="en-US" altLang="zh-CN" sz="2000" dirty="0">
              <a:latin typeface="宋体" panose="02010600030101010101" pitchFamily="2" charset="-122"/>
              <a:ea typeface="宋体" panose="02010600030101010101" pitchFamily="2" charset="-122"/>
              <a:sym typeface="+mn-ea"/>
            </a:endParaRPr>
          </a:p>
          <a:p>
            <a:pPr marL="0" indent="0">
              <a:buNone/>
            </a:pPr>
            <a:r>
              <a:rPr lang="en-US" altLang="zh-CN" sz="2000" dirty="0">
                <a:latin typeface="宋体" panose="02010600030101010101" pitchFamily="2" charset="-122"/>
                <a:ea typeface="宋体" panose="02010600030101010101" pitchFamily="2" charset="-122"/>
                <a:sym typeface="+mn-ea"/>
              </a:rPr>
              <a:t>2.</a:t>
            </a:r>
            <a:r>
              <a:rPr lang="zh-CN" altLang="en-US" sz="2000" dirty="0">
                <a:latin typeface="宋体" panose="02010600030101010101" pitchFamily="2" charset="-122"/>
                <a:ea typeface="宋体" panose="02010600030101010101" pitchFamily="2" charset="-122"/>
                <a:sym typeface="+mn-ea"/>
              </a:rPr>
              <a:t>当构件测区数少于</a:t>
            </a:r>
            <a:r>
              <a:rPr lang="en-US" altLang="zh-CN" sz="2000" dirty="0">
                <a:latin typeface="宋体" panose="02010600030101010101" pitchFamily="2" charset="-122"/>
                <a:ea typeface="宋体" panose="02010600030101010101" pitchFamily="2" charset="-122"/>
                <a:sym typeface="+mn-ea"/>
              </a:rPr>
              <a:t>10</a:t>
            </a:r>
            <a:r>
              <a:rPr lang="zh-CN" altLang="en-US" sz="2000" dirty="0">
                <a:latin typeface="宋体" panose="02010600030101010101" pitchFamily="2" charset="-122"/>
                <a:ea typeface="宋体" panose="02010600030101010101" pitchFamily="2" charset="-122"/>
                <a:sym typeface="+mn-ea"/>
              </a:rPr>
              <a:t>个时，取构件中最小的测区混凝土强度换算值作为该构件抗压强度推定值。</a:t>
            </a:r>
            <a:endParaRPr lang="en-US" altLang="zh-CN" sz="2000" dirty="0">
              <a:latin typeface="宋体" panose="02010600030101010101" pitchFamily="2" charset="-122"/>
              <a:ea typeface="宋体" panose="02010600030101010101" pitchFamily="2" charset="-122"/>
              <a:sym typeface="+mn-ea"/>
            </a:endParaRPr>
          </a:p>
          <a:p>
            <a:pPr marL="0" indent="0">
              <a:buNone/>
            </a:pPr>
            <a:r>
              <a:rPr lang="en-US" altLang="zh-CN" sz="2000" dirty="0">
                <a:latin typeface="宋体" panose="02010600030101010101" pitchFamily="2" charset="-122"/>
                <a:ea typeface="宋体" panose="02010600030101010101" pitchFamily="2" charset="-122"/>
                <a:sym typeface="+mn-ea"/>
              </a:rPr>
              <a:t>3.</a:t>
            </a:r>
            <a:r>
              <a:rPr lang="zh-CN" altLang="en-US" sz="2000" dirty="0">
                <a:latin typeface="宋体" panose="02010600030101010101" pitchFamily="2" charset="-122"/>
                <a:ea typeface="宋体" panose="02010600030101010101" pitchFamily="2" charset="-122"/>
                <a:sym typeface="+mn-ea"/>
              </a:rPr>
              <a:t>当构件中出现测区强度换算值＞</a:t>
            </a:r>
            <a:r>
              <a:rPr lang="en-US" altLang="zh-CN" sz="2000" dirty="0">
                <a:latin typeface="宋体" panose="02010600030101010101" pitchFamily="2" charset="-122"/>
                <a:ea typeface="宋体" panose="02010600030101010101" pitchFamily="2" charset="-122"/>
                <a:sym typeface="+mn-ea"/>
              </a:rPr>
              <a:t>60MPa</a:t>
            </a:r>
            <a:r>
              <a:rPr lang="zh-CN" altLang="en-US" sz="2000" dirty="0">
                <a:latin typeface="宋体" panose="02010600030101010101" pitchFamily="2" charset="-122"/>
                <a:ea typeface="宋体" panose="02010600030101010101" pitchFamily="2" charset="-122"/>
                <a:sym typeface="+mn-ea"/>
              </a:rPr>
              <a:t>时，取构件中最小的测区混凝土强度换算值作为该构件抗压强度推定值。</a:t>
            </a:r>
            <a:r>
              <a:rPr lang="zh-CN" altLang="en-US" sz="2000" dirty="0">
                <a:solidFill>
                  <a:srgbClr val="FF0000"/>
                </a:solidFill>
                <a:latin typeface="宋体" panose="02010600030101010101" pitchFamily="2" charset="-122"/>
                <a:ea typeface="宋体" panose="02010600030101010101" pitchFamily="2" charset="-122"/>
                <a:sym typeface="+mn-ea"/>
              </a:rPr>
              <a:t>             （符合那种情况写那种，不要全写上）</a:t>
            </a:r>
          </a:p>
        </p:txBody>
      </p:sp>
      <p:pic>
        <p:nvPicPr>
          <p:cNvPr id="7" name="图片 6"/>
          <p:cNvPicPr>
            <a:picLocks noChangeAspect="1"/>
          </p:cNvPicPr>
          <p:nvPr/>
        </p:nvPicPr>
        <p:blipFill>
          <a:blip r:embed="rId2"/>
          <a:stretch>
            <a:fillRect/>
          </a:stretch>
        </p:blipFill>
        <p:spPr>
          <a:xfrm>
            <a:off x="2063552" y="3645024"/>
            <a:ext cx="8856984" cy="2592287"/>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9425" y="548640"/>
            <a:ext cx="10309225" cy="1768475"/>
          </a:xfrm>
        </p:spPr>
        <p:txBody>
          <a:bodyPr>
            <a:normAutofit/>
          </a:bodyPr>
          <a:lstStyle/>
          <a:p>
            <a:pPr marL="0" indent="0">
              <a:buNone/>
            </a:pPr>
            <a:r>
              <a:rPr lang="en-US" altLang="zh-CN" dirty="0">
                <a:sym typeface="+mn-ea"/>
              </a:rPr>
              <a:t>2.</a:t>
            </a:r>
            <a:r>
              <a:rPr lang="zh-CN" altLang="en-US" sz="2400" dirty="0"/>
              <a:t>资质盖章相关规定</a:t>
            </a:r>
            <a:endParaRPr lang="zh-CN" altLang="en-US" dirty="0">
              <a:sym typeface="+mn-ea"/>
            </a:endParaRPr>
          </a:p>
          <a:p>
            <a:pPr marL="0" indent="0">
              <a:buNone/>
            </a:pPr>
            <a:r>
              <a:rPr lang="zh-CN" altLang="en-US" dirty="0"/>
              <a:t> 依据资质附表参数和监督管理主管单位等，选择盖章类型</a:t>
            </a:r>
          </a:p>
          <a:p>
            <a:pPr marL="0" indent="0">
              <a:buNone/>
            </a:pPr>
            <a:r>
              <a:rPr lang="zh-CN" altLang="en-US" dirty="0"/>
              <a:t>上传系统时在报告名称前加“盖章类型”</a:t>
            </a:r>
          </a:p>
          <a:p>
            <a:pPr marL="0" indent="0">
              <a:buNone/>
            </a:pPr>
            <a:endParaRPr lang="zh-CN" altLang="en-US" dirty="0"/>
          </a:p>
        </p:txBody>
      </p:sp>
      <p:pic>
        <p:nvPicPr>
          <p:cNvPr id="4" name="图片 3"/>
          <p:cNvPicPr>
            <a:picLocks noChangeAspect="1"/>
          </p:cNvPicPr>
          <p:nvPr/>
        </p:nvPicPr>
        <p:blipFill>
          <a:blip r:embed="rId2"/>
          <a:stretch>
            <a:fillRect/>
          </a:stretch>
        </p:blipFill>
        <p:spPr>
          <a:xfrm>
            <a:off x="5232400" y="2637155"/>
            <a:ext cx="6360160" cy="385381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87488" y="332656"/>
            <a:ext cx="5832647" cy="5949280"/>
          </a:xfrm>
        </p:spPr>
        <p:txBody>
          <a:bodyPr>
            <a:normAutofit fontScale="85000" lnSpcReduction="20000"/>
          </a:bodyPr>
          <a:lstStyle/>
          <a:p>
            <a:pPr marL="0" indent="0">
              <a:buNone/>
            </a:pPr>
            <a:r>
              <a:rPr lang="zh-CN" altLang="en-US" dirty="0"/>
              <a:t>印章类型</a:t>
            </a:r>
            <a:endParaRPr lang="en-US" altLang="zh-CN" dirty="0"/>
          </a:p>
          <a:p>
            <a:r>
              <a:rPr lang="zh-CN" altLang="en-US" dirty="0"/>
              <a:t>上传建委盖钢印（新建、改扩建工程）</a:t>
            </a:r>
            <a:endParaRPr lang="en-US" altLang="zh-CN" dirty="0"/>
          </a:p>
          <a:p>
            <a:r>
              <a:rPr lang="zh-CN" altLang="en-US" dirty="0"/>
              <a:t>建委其他钢印（新建、改扩建工程）</a:t>
            </a:r>
            <a:endParaRPr lang="en-US" altLang="zh-CN" dirty="0"/>
          </a:p>
          <a:p>
            <a:r>
              <a:rPr lang="zh-CN" altLang="en-US" dirty="0"/>
              <a:t>检验报告（既有建筑鉴定，网上打印格式）</a:t>
            </a:r>
            <a:endParaRPr lang="en-US" altLang="zh-CN" dirty="0"/>
          </a:p>
          <a:p>
            <a:r>
              <a:rPr lang="zh-CN" altLang="en-US" dirty="0"/>
              <a:t>公路工程（交通综合、桥隧专项）</a:t>
            </a:r>
            <a:endParaRPr lang="en-US" altLang="zh-CN" dirty="0"/>
          </a:p>
          <a:p>
            <a:r>
              <a:rPr lang="zh-CN" altLang="en-US" dirty="0"/>
              <a:t>检测专用章</a:t>
            </a:r>
            <a:endParaRPr lang="en-US" altLang="zh-CN" dirty="0"/>
          </a:p>
          <a:p>
            <a:r>
              <a:rPr lang="zh-CN" altLang="en-US" dirty="0"/>
              <a:t>见证章</a:t>
            </a:r>
            <a:endParaRPr lang="en-US" altLang="zh-CN" dirty="0"/>
          </a:p>
          <a:p>
            <a:r>
              <a:rPr lang="en-US" altLang="zh-CN" dirty="0"/>
              <a:t>CMA</a:t>
            </a:r>
            <a:r>
              <a:rPr lang="zh-CN" altLang="en-US" dirty="0"/>
              <a:t>章</a:t>
            </a:r>
            <a:endParaRPr lang="en-US" altLang="zh-CN" dirty="0"/>
          </a:p>
          <a:p>
            <a:r>
              <a:rPr lang="en-US" altLang="zh-CN" dirty="0"/>
              <a:t>CNAS</a:t>
            </a:r>
            <a:r>
              <a:rPr lang="zh-CN" altLang="en-US" dirty="0"/>
              <a:t>检测章</a:t>
            </a:r>
            <a:endParaRPr lang="en-US" altLang="zh-CN" dirty="0"/>
          </a:p>
          <a:p>
            <a:r>
              <a:rPr lang="en-US" altLang="zh-CN" dirty="0"/>
              <a:t>CNAS</a:t>
            </a:r>
            <a:r>
              <a:rPr lang="zh-CN" altLang="en-US" dirty="0"/>
              <a:t>检验章</a:t>
            </a:r>
            <a:endParaRPr lang="en-US" altLang="zh-CN" dirty="0"/>
          </a:p>
          <a:p>
            <a:r>
              <a:rPr lang="zh-CN" altLang="en-US" dirty="0"/>
              <a:t>勘察专项甲级</a:t>
            </a:r>
            <a:endParaRPr lang="en-US" altLang="zh-CN" dirty="0"/>
          </a:p>
          <a:p>
            <a:r>
              <a:rPr lang="zh-CN" altLang="en-US" dirty="0"/>
              <a:t>测绘乙级</a:t>
            </a:r>
            <a:endParaRPr lang="en-US" altLang="zh-CN" dirty="0"/>
          </a:p>
          <a:p>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19836" y="484121"/>
            <a:ext cx="1355020" cy="1355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6867" y="2708920"/>
            <a:ext cx="2848461" cy="284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图片 7" descr="http://www.ccbmn.com/system_dntb/upload/cal.JPG"/>
          <p:cNvPicPr/>
          <p:nvPr/>
        </p:nvPicPr>
        <p:blipFill rotWithShape="1">
          <a:blip r:embed="rId4">
            <a:extLst>
              <a:ext uri="{28A0092B-C50C-407E-A947-70E740481C1C}">
                <a14:useLocalDpi xmlns:a14="http://schemas.microsoft.com/office/drawing/2010/main" val="0"/>
              </a:ext>
            </a:extLst>
          </a:blip>
          <a:srcRect l="27598" t="14517" r="25090" b="8867"/>
          <a:stretch>
            <a:fillRect/>
          </a:stretch>
        </p:blipFill>
        <p:spPr bwMode="auto">
          <a:xfrm>
            <a:off x="6410641" y="499088"/>
            <a:ext cx="1496288" cy="1355021"/>
          </a:xfrm>
          <a:prstGeom prst="rect">
            <a:avLst/>
          </a:prstGeom>
          <a:noFill/>
          <a:ln>
            <a:noFill/>
          </a:ln>
        </p:spPr>
      </p:pic>
      <p:pic>
        <p:nvPicPr>
          <p:cNvPr id="205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83632" y="3212976"/>
            <a:ext cx="4104456" cy="210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7529" y="341710"/>
            <a:ext cx="2160240" cy="152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5139" y="483814"/>
            <a:ext cx="2205600" cy="1430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2755" y="1114425"/>
            <a:ext cx="6136005" cy="3373120"/>
          </a:xfrm>
        </p:spPr>
        <p:txBody>
          <a:bodyPr/>
          <a:lstStyle/>
          <a:p>
            <a:r>
              <a:rPr lang="en-US" altLang="zh-CN" dirty="0">
                <a:sym typeface="+mn-ea"/>
              </a:rPr>
              <a:t>3.</a:t>
            </a:r>
            <a:r>
              <a:rPr lang="zh-CN" altLang="en-US" sz="2400" dirty="0"/>
              <a:t>检测报告归档目录</a:t>
            </a:r>
            <a:endParaRPr lang="en-US" altLang="zh-CN" dirty="0">
              <a:sym typeface="+mn-ea"/>
            </a:endParaRPr>
          </a:p>
          <a:p>
            <a:r>
              <a:rPr lang="zh-CN" altLang="en-US" dirty="0">
                <a:sym typeface="+mn-ea"/>
              </a:rPr>
              <a:t>归档要求、台账、卷首页、年限</a:t>
            </a:r>
            <a:endParaRPr lang="en-US" altLang="zh-CN" dirty="0">
              <a:sym typeface="+mn-ea"/>
            </a:endParaRPr>
          </a:p>
          <a:p>
            <a:pPr marL="0" indent="0">
              <a:buNone/>
            </a:pPr>
            <a:endParaRPr lang="en-US" altLang="zh-CN" dirty="0">
              <a:sym typeface="+mn-ea"/>
            </a:endParaRPr>
          </a:p>
          <a:p>
            <a:pPr>
              <a:lnSpc>
                <a:spcPct val="130000"/>
              </a:lnSpc>
            </a:pPr>
            <a:r>
              <a:rPr lang="zh-CN" altLang="en-US" dirty="0">
                <a:latin typeface="Arial" panose="020B0604020202020204" pitchFamily="34" charset="0"/>
                <a:ea typeface="微软雅黑" panose="020B0503020204020204" pitchFamily="34" charset="-122"/>
              </a:rPr>
              <a:t>报告归档移交清单</a:t>
            </a:r>
            <a:r>
              <a:rPr lang="en-US" altLang="zh-CN" dirty="0">
                <a:latin typeface="Arial" panose="020B0604020202020204" pitchFamily="34" charset="0"/>
                <a:ea typeface="微软雅黑" panose="020B0503020204020204" pitchFamily="34" charset="-122"/>
              </a:rPr>
              <a:t>——</a:t>
            </a:r>
          </a:p>
          <a:p>
            <a:pPr>
              <a:lnSpc>
                <a:spcPct val="130000"/>
              </a:lnSpc>
            </a:pPr>
            <a:r>
              <a:rPr lang="zh-CN" altLang="en-US" dirty="0">
                <a:latin typeface="Arial" panose="020B0604020202020204" pitchFamily="34" charset="0"/>
                <a:ea typeface="微软雅黑" panose="020B0503020204020204" pitchFamily="34" charset="-122"/>
              </a:rPr>
              <a:t>程序文件表格</a:t>
            </a:r>
            <a:r>
              <a:rPr lang="en-US" altLang="zh-CN" dirty="0">
                <a:latin typeface="Arial" panose="020B0604020202020204" pitchFamily="34" charset="0"/>
                <a:ea typeface="微软雅黑" panose="020B0503020204020204" pitchFamily="34" charset="-122"/>
              </a:rPr>
              <a:t>SJS-2025-G-085</a:t>
            </a:r>
          </a:p>
          <a:p>
            <a:pPr marL="0" indent="0">
              <a:buNone/>
            </a:pPr>
            <a:endParaRPr lang="zh-CN" altLang="en-US" dirty="0"/>
          </a:p>
        </p:txBody>
      </p:sp>
      <p:pic>
        <p:nvPicPr>
          <p:cNvPr id="2" name="图片 1"/>
          <p:cNvPicPr>
            <a:picLocks noChangeAspect="1"/>
          </p:cNvPicPr>
          <p:nvPr/>
        </p:nvPicPr>
        <p:blipFill>
          <a:blip r:embed="rId2"/>
          <a:stretch>
            <a:fillRect/>
          </a:stretch>
        </p:blipFill>
        <p:spPr>
          <a:xfrm>
            <a:off x="5879976" y="4288"/>
            <a:ext cx="5379720" cy="572262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2755" y="1114425"/>
            <a:ext cx="11475893" cy="4194810"/>
          </a:xfrm>
        </p:spPr>
        <p:txBody>
          <a:bodyPr>
            <a:normAutofit/>
          </a:bodyPr>
          <a:lstStyle/>
          <a:p>
            <a:pPr marL="0" indent="0">
              <a:buNone/>
            </a:pPr>
            <a:r>
              <a:rPr lang="en-US" altLang="zh-CN" dirty="0">
                <a:sym typeface="+mn-ea"/>
              </a:rPr>
              <a:t>4.</a:t>
            </a:r>
            <a:r>
              <a:rPr lang="zh-CN" altLang="en-US" dirty="0">
                <a:sym typeface="+mn-ea"/>
              </a:rPr>
              <a:t>报告更改程序</a:t>
            </a:r>
            <a:r>
              <a:rPr lang="en-US" altLang="zh-CN" dirty="0">
                <a:sym typeface="+mn-ea"/>
              </a:rPr>
              <a:t>——</a:t>
            </a:r>
            <a:r>
              <a:rPr lang="zh-CN" altLang="en-US" dirty="0"/>
              <a:t>《报告管理程序》（</a:t>
            </a:r>
            <a:r>
              <a:rPr lang="en-US" altLang="zh-CN" dirty="0"/>
              <a:t>SJS-2-26-G</a:t>
            </a:r>
            <a:r>
              <a:rPr lang="zh-CN" altLang="en-US" dirty="0"/>
              <a:t>）有具体要求</a:t>
            </a:r>
          </a:p>
          <a:p>
            <a:pPr marL="0" indent="0">
              <a:buNone/>
            </a:pPr>
            <a:r>
              <a:rPr lang="en-US" altLang="zh-CN" dirty="0"/>
              <a:t>  </a:t>
            </a:r>
            <a:r>
              <a:rPr lang="zh-CN" altLang="en-US" dirty="0"/>
              <a:t>（</a:t>
            </a:r>
            <a:r>
              <a:rPr lang="en-US" altLang="zh-CN" dirty="0"/>
              <a:t>1</a:t>
            </a:r>
            <a:r>
              <a:rPr lang="zh-CN" altLang="en-US" dirty="0"/>
              <a:t>）</a:t>
            </a:r>
            <a:r>
              <a:rPr lang="en-US" altLang="zh-CN" dirty="0"/>
              <a:t> </a:t>
            </a:r>
            <a:r>
              <a:rPr lang="zh-CN" altLang="en-US" dirty="0"/>
              <a:t>报告盖章前发现的错误，应由报告编写人进行更改，修改后重新审批。</a:t>
            </a:r>
          </a:p>
          <a:p>
            <a:pPr marL="0" indent="0">
              <a:buNone/>
            </a:pPr>
            <a:r>
              <a:rPr lang="en-US" altLang="zh-CN" dirty="0"/>
              <a:t>  </a:t>
            </a:r>
            <a:r>
              <a:rPr lang="zh-CN" altLang="en-US" dirty="0"/>
              <a:t>（</a:t>
            </a:r>
            <a:r>
              <a:rPr lang="en-US" altLang="zh-CN" dirty="0"/>
              <a:t>2</a:t>
            </a:r>
            <a:r>
              <a:rPr lang="zh-CN" altLang="en-US" dirty="0"/>
              <a:t>）报告盖章后发现的问题，报告编写人要填写</a:t>
            </a:r>
            <a:r>
              <a:rPr lang="zh-CN" altLang="en-US" dirty="0">
                <a:solidFill>
                  <a:srgbClr val="FF0000"/>
                </a:solidFill>
              </a:rPr>
              <a:t>报告变更单</a:t>
            </a:r>
            <a:r>
              <a:rPr lang="zh-CN" altLang="en-US" dirty="0"/>
              <a:t>，由委托方和监理单位盖单确认，如果是见证试验，还要见证单位和见证人盖章确认。</a:t>
            </a:r>
          </a:p>
          <a:p>
            <a:pPr marL="0" indent="0">
              <a:buNone/>
            </a:pPr>
            <a:r>
              <a:rPr lang="en-US" altLang="zh-CN" dirty="0"/>
              <a:t>  </a:t>
            </a:r>
            <a:r>
              <a:rPr lang="zh-CN" altLang="en-US" dirty="0"/>
              <a:t>（</a:t>
            </a:r>
            <a:r>
              <a:rPr lang="en-US" altLang="zh-CN" dirty="0"/>
              <a:t>3</a:t>
            </a:r>
            <a:r>
              <a:rPr lang="zh-CN" altLang="en-US" dirty="0"/>
              <a:t>）报告更改仅限于一些信息错误、编辑笔误、文字或图表格式等</a:t>
            </a:r>
          </a:p>
          <a:p>
            <a:pPr marL="0" indent="0">
              <a:buNone/>
            </a:pPr>
            <a:r>
              <a:rPr lang="en-US" altLang="zh-CN" dirty="0"/>
              <a:t>    </a:t>
            </a:r>
            <a:r>
              <a:rPr lang="zh-CN" altLang="en-US" dirty="0"/>
              <a:t>不能更改报告结论、数据、工作量、人员、设备、方法等关键资料</a:t>
            </a:r>
          </a:p>
          <a:p>
            <a:pPr marL="0" indent="0">
              <a:buNone/>
            </a:pPr>
            <a:r>
              <a:rPr lang="en-US" altLang="zh-CN" dirty="0"/>
              <a:t>  </a:t>
            </a:r>
            <a:r>
              <a:rPr lang="zh-CN" altLang="en-US" dirty="0"/>
              <a:t>（</a:t>
            </a:r>
            <a:r>
              <a:rPr lang="en-US" altLang="zh-CN" dirty="0"/>
              <a:t>4</a:t>
            </a:r>
            <a:r>
              <a:rPr lang="zh-CN" altLang="en-US" dirty="0"/>
              <a:t>）报告补发时，填写</a:t>
            </a:r>
            <a:r>
              <a:rPr lang="zh-CN" altLang="en-US" dirty="0">
                <a:solidFill>
                  <a:srgbClr val="FF0000"/>
                </a:solidFill>
              </a:rPr>
              <a:t>报告补发申请表</a:t>
            </a:r>
            <a:r>
              <a:rPr lang="zh-CN" altLang="en-US" dirty="0"/>
              <a:t>，用已盖章的原报告进行复印，再次盖章</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关于检验检测报告时效控制的要求</a:t>
            </a:r>
            <a:endParaRPr lang="en-US" altLang="zh-CN" dirty="0"/>
          </a:p>
          <a:p>
            <a:r>
              <a:rPr lang="zh-CN" altLang="en-US" dirty="0"/>
              <a:t>一年内写延期说明</a:t>
            </a:r>
            <a:endParaRPr lang="en-US" altLang="zh-CN" dirty="0"/>
          </a:p>
          <a:p>
            <a:pPr marL="0" indent="0">
              <a:buNone/>
            </a:pPr>
            <a:r>
              <a:rPr lang="zh-CN" altLang="en-US" dirty="0"/>
              <a:t>    报告编制延期：最后一次检测时间与报告封面时间间隔超过规定</a:t>
            </a:r>
            <a:endParaRPr lang="en-US" altLang="zh-CN" dirty="0"/>
          </a:p>
          <a:p>
            <a:pPr marL="0" indent="0">
              <a:buNone/>
            </a:pPr>
            <a:r>
              <a:rPr lang="en-US" altLang="zh-CN" dirty="0"/>
              <a:t>    </a:t>
            </a:r>
            <a:r>
              <a:rPr lang="zh-CN" altLang="en-US" dirty="0"/>
              <a:t>报告盖章延期：报告封面日期与盖章日期间隔超过规定</a:t>
            </a:r>
            <a:endParaRPr lang="en-US" altLang="zh-CN" dirty="0"/>
          </a:p>
          <a:p>
            <a:pPr marL="0" indent="0">
              <a:buNone/>
            </a:pPr>
            <a:r>
              <a:rPr lang="en-US" altLang="zh-CN" dirty="0"/>
              <a:t>    </a:t>
            </a:r>
            <a:r>
              <a:rPr lang="zh-CN" altLang="en-US" dirty="0"/>
              <a:t>延期理由：</a:t>
            </a:r>
            <a:endParaRPr lang="en-US" altLang="zh-CN" dirty="0"/>
          </a:p>
          <a:p>
            <a:pPr marL="0" indent="0">
              <a:buNone/>
            </a:pPr>
            <a:endParaRPr lang="en-US" altLang="zh-CN" dirty="0"/>
          </a:p>
          <a:p>
            <a:r>
              <a:rPr lang="zh-CN" altLang="en-US" dirty="0"/>
              <a:t>一年以上重新检测</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83432" y="1196752"/>
            <a:ext cx="9344660" cy="3524885"/>
          </a:xfrm>
        </p:spPr>
        <p:txBody>
          <a:bodyPr>
            <a:normAutofit lnSpcReduction="10000"/>
          </a:bodyPr>
          <a:lstStyle/>
          <a:p>
            <a:pPr marL="0" indent="0">
              <a:buNone/>
            </a:pPr>
            <a:r>
              <a:rPr lang="en-US" altLang="zh-CN" dirty="0">
                <a:sym typeface="+mn-ea"/>
              </a:rPr>
              <a:t>5.</a:t>
            </a:r>
            <a:r>
              <a:rPr lang="zh-CN" altLang="en-US" dirty="0">
                <a:sym typeface="+mn-ea"/>
              </a:rPr>
              <a:t>安全交底</a:t>
            </a:r>
          </a:p>
          <a:p>
            <a:pPr marL="0" indent="0">
              <a:buNone/>
            </a:pPr>
            <a:r>
              <a:rPr lang="zh-CN" altLang="en-US" dirty="0"/>
              <a:t>《安全技术交底》程序文件表格</a:t>
            </a:r>
            <a:r>
              <a:rPr lang="en-US" altLang="zh-CN" dirty="0"/>
              <a:t>SJS-2025-G-018</a:t>
            </a:r>
          </a:p>
          <a:p>
            <a:pPr marL="0" indent="0">
              <a:buNone/>
            </a:pPr>
            <a:r>
              <a:rPr lang="en-US" altLang="zh-CN" dirty="0"/>
              <a:t>    </a:t>
            </a:r>
            <a:r>
              <a:rPr lang="zh-CN" altLang="en-US" dirty="0"/>
              <a:t>通用交底，文件背面涉及到的内容打勾</a:t>
            </a:r>
          </a:p>
          <a:p>
            <a:pPr marL="0" indent="0">
              <a:lnSpc>
                <a:spcPct val="150000"/>
              </a:lnSpc>
              <a:buNone/>
            </a:pPr>
            <a:r>
              <a:rPr lang="en-US" altLang="zh-CN" dirty="0"/>
              <a:t>    </a:t>
            </a:r>
            <a:r>
              <a:rPr lang="zh-CN" altLang="en-US" dirty="0"/>
              <a:t>针对性交底，人员到现场后，安全负责人识别存在的安全风险，给在场所有人员进行警示培训，要求工作时特别注意的内容。安全负责人在现场手写交底记录。提前打印针对性交底都是形式主义。</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71270" y="548640"/>
            <a:ext cx="9937298" cy="5193030"/>
          </a:xfrm>
        </p:spPr>
        <p:txBody>
          <a:bodyPr>
            <a:normAutofit fontScale="92500" lnSpcReduction="10000"/>
          </a:bodyPr>
          <a:lstStyle/>
          <a:p>
            <a:pPr marL="0" indent="0">
              <a:buNone/>
            </a:pPr>
            <a:r>
              <a:rPr lang="en-US" altLang="zh-CN" sz="3500" dirty="0"/>
              <a:t>6. </a:t>
            </a:r>
            <a:r>
              <a:rPr lang="zh-CN" altLang="en-US" sz="3500" dirty="0"/>
              <a:t>新标准主要变化</a:t>
            </a:r>
            <a:endParaRPr lang="en-US" altLang="zh-CN" sz="3500" dirty="0"/>
          </a:p>
          <a:p>
            <a:r>
              <a:rPr lang="en-US" altLang="zh-CN" dirty="0"/>
              <a:t>JGJ 23-2011</a:t>
            </a:r>
            <a:r>
              <a:rPr lang="zh-CN" altLang="en-US" dirty="0"/>
              <a:t>正在进行修订，已经形成报批稿，敬请关注</a:t>
            </a:r>
          </a:p>
          <a:p>
            <a:r>
              <a:rPr lang="zh-CN" altLang="en-US" dirty="0"/>
              <a:t>新行标变化比较大，应重点关注</a:t>
            </a:r>
          </a:p>
          <a:p>
            <a:pPr marL="0" indent="0">
              <a:buNone/>
            </a:pPr>
            <a:r>
              <a:rPr lang="en-US" altLang="zh-CN" dirty="0"/>
              <a:t>     </a:t>
            </a:r>
            <a:r>
              <a:rPr lang="zh-CN" altLang="en-US" dirty="0"/>
              <a:t>可以测高强混凝土</a:t>
            </a:r>
            <a:r>
              <a:rPr lang="en-US" altLang="zh-CN" dirty="0"/>
              <a:t>——</a:t>
            </a:r>
            <a:r>
              <a:rPr lang="zh-CN" altLang="en-US" dirty="0"/>
              <a:t>增加了</a:t>
            </a:r>
            <a:r>
              <a:rPr lang="en-US" altLang="zh-CN" dirty="0"/>
              <a:t>H550</a:t>
            </a:r>
            <a:r>
              <a:rPr lang="zh-CN" altLang="en-US" dirty="0"/>
              <a:t>回弹仪的相关要求</a:t>
            </a:r>
          </a:p>
          <a:p>
            <a:pPr marL="0" indent="0">
              <a:buNone/>
            </a:pPr>
            <a:r>
              <a:rPr lang="zh-CN" altLang="en-US" dirty="0"/>
              <a:t>     适用范围</a:t>
            </a:r>
            <a:r>
              <a:rPr lang="en-US" altLang="zh-CN" dirty="0"/>
              <a:t>10.0</a:t>
            </a:r>
            <a:r>
              <a:rPr lang="zh-CN" altLang="en-US" dirty="0">
                <a:latin typeface="宋体" panose="02010600030101010101" pitchFamily="2" charset="-122"/>
                <a:ea typeface="宋体" panose="02010600030101010101" pitchFamily="2" charset="-122"/>
              </a:rPr>
              <a:t>～</a:t>
            </a:r>
            <a:r>
              <a:rPr lang="en-US" altLang="zh-CN" dirty="0"/>
              <a:t>80.0MPa</a:t>
            </a:r>
          </a:p>
          <a:p>
            <a:pPr marL="0" indent="0">
              <a:buNone/>
            </a:pPr>
            <a:r>
              <a:rPr lang="zh-CN" altLang="en-US" dirty="0"/>
              <a:t>     测区面积修改为</a:t>
            </a:r>
            <a:r>
              <a:rPr lang="en-US" altLang="zh-CN" dirty="0"/>
              <a:t>0.09</a:t>
            </a:r>
            <a:r>
              <a:rPr lang="zh-CN" altLang="en-US" dirty="0"/>
              <a:t>㎡</a:t>
            </a:r>
          </a:p>
          <a:p>
            <a:pPr marL="0" indent="0">
              <a:buNone/>
            </a:pPr>
            <a:r>
              <a:rPr lang="en-US" altLang="zh-CN" dirty="0"/>
              <a:t>     </a:t>
            </a:r>
            <a:r>
              <a:rPr lang="zh-CN" altLang="en-US" dirty="0"/>
              <a:t>每测区弹击</a:t>
            </a:r>
            <a:r>
              <a:rPr lang="en-US" altLang="zh-CN" dirty="0"/>
              <a:t>16</a:t>
            </a:r>
            <a:r>
              <a:rPr lang="zh-CN" altLang="en-US" dirty="0"/>
              <a:t>个点修改为</a:t>
            </a:r>
            <a:r>
              <a:rPr lang="en-US" altLang="zh-CN" dirty="0"/>
              <a:t>12</a:t>
            </a:r>
            <a:r>
              <a:rPr lang="zh-CN" altLang="en-US" dirty="0"/>
              <a:t>个</a:t>
            </a:r>
          </a:p>
          <a:p>
            <a:pPr marL="0" indent="0">
              <a:buNone/>
            </a:pPr>
            <a:r>
              <a:rPr lang="en-US" altLang="zh-CN" dirty="0"/>
              <a:t>     </a:t>
            </a:r>
            <a:r>
              <a:rPr lang="zh-CN" altLang="en-US" dirty="0"/>
              <a:t>泵送混凝土水平方向、底面向上方向测强曲线</a:t>
            </a:r>
          </a:p>
          <a:p>
            <a:pPr marL="0" indent="0">
              <a:buNone/>
            </a:pPr>
            <a:r>
              <a:rPr lang="en-US" altLang="zh-CN" dirty="0"/>
              <a:t>     </a:t>
            </a:r>
            <a:r>
              <a:rPr lang="zh-CN" altLang="en-US" dirty="0"/>
              <a:t>龄期</a:t>
            </a:r>
            <a:r>
              <a:rPr lang="en-US" altLang="zh-CN" dirty="0"/>
              <a:t>14</a:t>
            </a:r>
            <a:r>
              <a:rPr lang="zh-CN" altLang="en-US" dirty="0">
                <a:latin typeface="宋体" panose="02010600030101010101" pitchFamily="2" charset="-122"/>
                <a:ea typeface="宋体" panose="02010600030101010101" pitchFamily="2" charset="-122"/>
              </a:rPr>
              <a:t>～</a:t>
            </a:r>
            <a:r>
              <a:rPr lang="en-US" altLang="zh-CN" dirty="0"/>
              <a:t>1800d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1484784"/>
            <a:ext cx="11115763" cy="3250720"/>
          </a:xfrm>
        </p:spPr>
        <p:txBody>
          <a:bodyPr/>
          <a:lstStyle/>
          <a:p>
            <a:pPr marL="0" indent="0">
              <a:buNone/>
            </a:pPr>
            <a:r>
              <a:rPr lang="zh-CN" altLang="en-US" dirty="0"/>
              <a:t>    超声回弹综合法检测混凝土抗压强度技术规程</a:t>
            </a:r>
            <a:r>
              <a:rPr lang="en-US" altLang="zh-CN" dirty="0"/>
              <a:t>TCECS 02-2020 </a:t>
            </a:r>
          </a:p>
          <a:p>
            <a:pPr marL="0" indent="0">
              <a:buNone/>
            </a:pPr>
            <a:r>
              <a:rPr lang="en-US" altLang="zh-CN" dirty="0"/>
              <a:t>    </a:t>
            </a:r>
            <a:r>
              <a:rPr lang="zh-CN" altLang="en-US" dirty="0"/>
              <a:t>测区回弹测点数</a:t>
            </a:r>
            <a:r>
              <a:rPr lang="en-US" altLang="zh-CN" dirty="0"/>
              <a:t>10</a:t>
            </a:r>
            <a:r>
              <a:rPr lang="zh-CN" altLang="en-US" dirty="0"/>
              <a:t>个，剔除</a:t>
            </a:r>
            <a:r>
              <a:rPr lang="en-US" altLang="zh-CN" dirty="0"/>
              <a:t>1</a:t>
            </a:r>
            <a:r>
              <a:rPr lang="zh-CN" altLang="en-US" dirty="0"/>
              <a:t>个最大值和</a:t>
            </a:r>
            <a:r>
              <a:rPr lang="en-US" altLang="zh-CN" dirty="0"/>
              <a:t>1</a:t>
            </a:r>
            <a:r>
              <a:rPr lang="zh-CN" altLang="en-US" dirty="0"/>
              <a:t>个最小值，剩余</a:t>
            </a:r>
            <a:r>
              <a:rPr lang="en-US" altLang="zh-CN" dirty="0"/>
              <a:t>8</a:t>
            </a:r>
            <a:r>
              <a:rPr lang="zh-CN" altLang="en-US" dirty="0"/>
              <a:t>个值取平均值</a:t>
            </a:r>
          </a:p>
          <a:p>
            <a:pPr marL="0" indent="0">
              <a:buNone/>
            </a:pPr>
            <a:r>
              <a:rPr lang="en-US" altLang="zh-CN" dirty="0">
                <a:sym typeface="+mn-ea"/>
              </a:rPr>
              <a:t>    </a:t>
            </a:r>
            <a:r>
              <a:rPr lang="zh-CN" altLang="en-US" dirty="0">
                <a:sym typeface="+mn-ea"/>
              </a:rPr>
              <a:t>适用于普通混凝土（泵送、非泵送、非水平方向测试）</a:t>
            </a:r>
            <a:endParaRPr lang="en-US" altLang="zh-CN" dirty="0">
              <a:sym typeface="+mn-ea"/>
            </a:endParaRPr>
          </a:p>
          <a:p>
            <a:pPr marL="0" indent="0">
              <a:buNone/>
            </a:pPr>
            <a:r>
              <a:rPr lang="en-US" altLang="zh-CN" dirty="0">
                <a:sym typeface="+mn-ea"/>
              </a:rPr>
              <a:t>    </a:t>
            </a:r>
            <a:r>
              <a:rPr lang="zh-CN" altLang="en-US" dirty="0">
                <a:sym typeface="+mn-ea"/>
              </a:rPr>
              <a:t>适用范围</a:t>
            </a:r>
            <a:r>
              <a:rPr lang="en-US" altLang="zh-CN" dirty="0">
                <a:sym typeface="+mn-ea"/>
              </a:rPr>
              <a:t>10.0</a:t>
            </a:r>
            <a:r>
              <a:rPr lang="zh-CN" altLang="en-US" dirty="0">
                <a:latin typeface="宋体" panose="02010600030101010101" pitchFamily="2" charset="-122"/>
                <a:ea typeface="宋体" panose="02010600030101010101" pitchFamily="2" charset="-122"/>
                <a:sym typeface="+mn-ea"/>
              </a:rPr>
              <a:t>～</a:t>
            </a:r>
            <a:r>
              <a:rPr lang="en-US" altLang="zh-CN" dirty="0">
                <a:sym typeface="+mn-ea"/>
              </a:rPr>
              <a:t>70.0MPa </a:t>
            </a:r>
            <a:endParaRPr lang="zh-CN" altLang="en-US" dirty="0"/>
          </a:p>
          <a:p>
            <a:pPr marL="0" indent="0">
              <a:buNone/>
            </a:pPr>
            <a:r>
              <a:rPr lang="zh-CN" altLang="en-US" dirty="0">
                <a:sym typeface="+mn-ea"/>
              </a:rPr>
              <a:t> </a:t>
            </a:r>
            <a:r>
              <a:rPr lang="en-US" altLang="zh-CN" dirty="0">
                <a:sym typeface="+mn-ea"/>
              </a:rPr>
              <a:t>   </a:t>
            </a:r>
            <a:r>
              <a:rPr lang="zh-CN" altLang="en-US" dirty="0">
                <a:sym typeface="+mn-ea"/>
              </a:rPr>
              <a:t>龄期</a:t>
            </a:r>
            <a:r>
              <a:rPr lang="en-US" altLang="zh-CN" dirty="0">
                <a:sym typeface="+mn-ea"/>
              </a:rPr>
              <a:t>7</a:t>
            </a:r>
            <a:r>
              <a:rPr lang="zh-CN" altLang="en-US" dirty="0">
                <a:latin typeface="宋体" panose="02010600030101010101" pitchFamily="2" charset="-122"/>
                <a:ea typeface="宋体" panose="02010600030101010101" pitchFamily="2" charset="-122"/>
                <a:sym typeface="+mn-ea"/>
              </a:rPr>
              <a:t>～</a:t>
            </a:r>
            <a:r>
              <a:rPr lang="en-US" altLang="zh-CN" dirty="0">
                <a:sym typeface="+mn-ea"/>
              </a:rPr>
              <a:t>2000d</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7.</a:t>
            </a:r>
            <a:r>
              <a:rPr lang="zh-CN" altLang="en-US" sz="3200" dirty="0"/>
              <a:t>报告审核中常见问题</a:t>
            </a:r>
            <a:endParaRPr lang="zh-CN" altLang="en-US" dirty="0"/>
          </a:p>
        </p:txBody>
      </p:sp>
      <p:sp>
        <p:nvSpPr>
          <p:cNvPr id="3" name="内容占位符 2"/>
          <p:cNvSpPr>
            <a:spLocks noGrp="1"/>
          </p:cNvSpPr>
          <p:nvPr>
            <p:ph idx="1"/>
          </p:nvPr>
        </p:nvSpPr>
        <p:spPr>
          <a:xfrm>
            <a:off x="1038860" y="1052830"/>
            <a:ext cx="10911840" cy="5703570"/>
          </a:xfrm>
        </p:spPr>
        <p:txBody>
          <a:bodyPr>
            <a:normAutofit/>
          </a:bodyPr>
          <a:lstStyle/>
          <a:p>
            <a:pPr marL="0" indent="0">
              <a:buNone/>
            </a:pPr>
            <a:r>
              <a:rPr lang="en-US" altLang="zh-CN" dirty="0"/>
              <a:t>1.</a:t>
            </a:r>
            <a:r>
              <a:rPr lang="zh-CN" altLang="en-US" dirty="0"/>
              <a:t>报告格式不符合管理要求（含注意事项页、封面页眉页脚、字体字号）</a:t>
            </a:r>
            <a:endParaRPr lang="en-US" altLang="zh-CN" dirty="0"/>
          </a:p>
          <a:p>
            <a:pPr marL="0" indent="0">
              <a:buNone/>
            </a:pPr>
            <a:r>
              <a:rPr lang="en-US" altLang="zh-CN" dirty="0"/>
              <a:t>2.</a:t>
            </a:r>
            <a:r>
              <a:rPr lang="zh-CN" altLang="en-US" dirty="0"/>
              <a:t>工程名称、单位名称简写</a:t>
            </a:r>
            <a:endParaRPr lang="en-US" altLang="zh-CN" dirty="0"/>
          </a:p>
          <a:p>
            <a:pPr marL="0" indent="0">
              <a:buNone/>
            </a:pPr>
            <a:r>
              <a:rPr lang="en-US" altLang="zh-CN" dirty="0"/>
              <a:t>3.</a:t>
            </a:r>
            <a:r>
              <a:rPr lang="zh-CN" altLang="en-US" dirty="0"/>
              <a:t>标准不正确（资质参数表中无方法标准、标准名称错误、标准未更新）</a:t>
            </a:r>
            <a:endParaRPr lang="en-US" altLang="zh-CN" dirty="0"/>
          </a:p>
          <a:p>
            <a:pPr marL="0" indent="0">
              <a:buNone/>
            </a:pPr>
            <a:r>
              <a:rPr lang="en-US" altLang="zh-CN" dirty="0"/>
              <a:t>4.</a:t>
            </a:r>
            <a:r>
              <a:rPr lang="zh-CN" altLang="en-US" dirty="0"/>
              <a:t>设备不正确（未检定或过有效期、无些设备、设备精度错误、格式不统一）</a:t>
            </a:r>
            <a:endParaRPr lang="en-US" altLang="zh-CN" dirty="0"/>
          </a:p>
          <a:p>
            <a:pPr marL="0" indent="0">
              <a:buNone/>
            </a:pPr>
            <a:r>
              <a:rPr lang="en-US" altLang="zh-CN" dirty="0"/>
              <a:t>5.</a:t>
            </a:r>
            <a:r>
              <a:rPr lang="zh-CN" altLang="en-US" dirty="0"/>
              <a:t>人员无授权或与记录不一致</a:t>
            </a:r>
            <a:endParaRPr lang="en-US" altLang="zh-CN" dirty="0"/>
          </a:p>
          <a:p>
            <a:pPr marL="0" indent="0">
              <a:buNone/>
            </a:pPr>
            <a:r>
              <a:rPr lang="en-US" altLang="zh-CN" dirty="0"/>
              <a:t>6.</a:t>
            </a:r>
            <a:r>
              <a:rPr lang="zh-CN" altLang="en-US" dirty="0"/>
              <a:t>检测环境一栏不标准</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2025.6.6</a:t>
            </a:r>
            <a:r>
              <a:rPr lang="zh-CN" altLang="en-US" dirty="0">
                <a:latin typeface="宋体" panose="02010600030101010101" pitchFamily="2" charset="-122"/>
                <a:ea typeface="宋体" panose="02010600030101010101" pitchFamily="2" charset="-122"/>
                <a:cs typeface="宋体" panose="02010600030101010101" pitchFamily="2" charset="-122"/>
              </a:rPr>
              <a:t>，晴、</a:t>
            </a:r>
            <a:r>
              <a:rPr lang="en-US" altLang="zh-CN" dirty="0">
                <a:latin typeface="宋体" panose="02010600030101010101" pitchFamily="2" charset="-122"/>
                <a:ea typeface="宋体" panose="02010600030101010101" pitchFamily="2" charset="-122"/>
                <a:cs typeface="宋体" panose="02010600030101010101" pitchFamily="2" charset="-122"/>
              </a:rPr>
              <a:t>25</a:t>
            </a:r>
            <a:r>
              <a:rPr lang="" altLang="en-US" dirty="0">
                <a:latin typeface="宋体" panose="02010600030101010101" pitchFamily="2" charset="-122"/>
                <a:ea typeface="宋体" panose="02010600030101010101" pitchFamily="2" charset="-122"/>
                <a:cs typeface="宋体" panose="02010600030101010101" pitchFamily="2" charset="-122"/>
              </a:rPr>
              <a:t>℃</a:t>
            </a:r>
            <a:r>
              <a:rPr lang="zh-CN"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2025.6.6</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6.30</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25</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28</a:t>
            </a:r>
            <a:r>
              <a:rPr lang="en-US" altLang="en-US"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rPr>
              <a:t>）</a:t>
            </a:r>
          </a:p>
          <a:p>
            <a:pPr marL="0" indent="0">
              <a:buNone/>
            </a:pPr>
            <a:r>
              <a:rPr lang="zh-CN" altLang="en-US" dirty="0"/>
              <a:t> </a:t>
            </a:r>
            <a:r>
              <a:rPr lang="en-US" altLang="zh-CN" dirty="0"/>
              <a:t>  </a:t>
            </a:r>
            <a:r>
              <a:rPr lang="zh-CN" altLang="en-US" dirty="0"/>
              <a:t>（只有一天时写：天气、温度；一段时间时写：温度区间或打</a:t>
            </a:r>
            <a:r>
              <a:rPr lang="en-US" altLang="zh-CN" dirty="0"/>
              <a:t>/</a:t>
            </a:r>
            <a:r>
              <a:rPr lang="zh-CN" altLang="en-US" dirty="0"/>
              <a:t>，不写天气）</a:t>
            </a:r>
            <a:endParaRPr lang="en-US" altLang="zh-CN" dirty="0"/>
          </a:p>
          <a:p>
            <a:pPr marL="0" indent="0">
              <a:buNone/>
            </a:pPr>
            <a:r>
              <a:rPr lang="en-US" altLang="zh-CN" dirty="0"/>
              <a:t>7.</a:t>
            </a:r>
            <a:r>
              <a:rPr lang="zh-CN" altLang="en-US" dirty="0"/>
              <a:t>备注一栏未打</a:t>
            </a:r>
            <a:r>
              <a:rPr lang="en-US" altLang="zh-CN" dirty="0"/>
              <a:t>/</a:t>
            </a:r>
            <a:r>
              <a:rPr lang="zh-CN" altLang="en-US" dirty="0"/>
              <a:t>或报告更改无相关内容</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7.</a:t>
            </a:r>
            <a:r>
              <a:rPr lang="zh-CN" altLang="en-US" sz="3200" dirty="0"/>
              <a:t>报告审核中常见问题</a:t>
            </a:r>
            <a:endParaRPr lang="zh-CN" altLang="en-US" dirty="0"/>
          </a:p>
        </p:txBody>
      </p:sp>
      <p:sp>
        <p:nvSpPr>
          <p:cNvPr id="3" name="内容占位符 2"/>
          <p:cNvSpPr>
            <a:spLocks noGrp="1"/>
          </p:cNvSpPr>
          <p:nvPr>
            <p:ph idx="1"/>
          </p:nvPr>
        </p:nvSpPr>
        <p:spPr>
          <a:xfrm>
            <a:off x="1703705" y="1052830"/>
            <a:ext cx="9394190" cy="5703570"/>
          </a:xfrm>
        </p:spPr>
        <p:txBody>
          <a:bodyPr>
            <a:normAutofit/>
          </a:bodyPr>
          <a:lstStyle/>
          <a:p>
            <a:pPr marL="0" indent="0">
              <a:buNone/>
            </a:pPr>
            <a:r>
              <a:rPr lang="en-US" altLang="zh-CN" dirty="0"/>
              <a:t>8.</a:t>
            </a:r>
            <a:r>
              <a:rPr lang="zh-CN" altLang="en-US" dirty="0"/>
              <a:t>页眉、页脚、页码、报告年号、报告编号错误</a:t>
            </a:r>
            <a:endParaRPr lang="en-US" altLang="zh-CN" dirty="0"/>
          </a:p>
          <a:p>
            <a:pPr marL="0" indent="0">
              <a:buNone/>
            </a:pPr>
            <a:r>
              <a:rPr lang="en-US" altLang="zh-CN" dirty="0"/>
              <a:t>9.</a:t>
            </a:r>
            <a:r>
              <a:rPr lang="zh-CN" altLang="en-US" dirty="0"/>
              <a:t>目录错误（未更新或有链接错误）</a:t>
            </a:r>
            <a:endParaRPr lang="en-US" altLang="zh-CN" dirty="0"/>
          </a:p>
          <a:p>
            <a:pPr marL="0" indent="0">
              <a:buNone/>
            </a:pPr>
            <a:r>
              <a:rPr lang="en-US" altLang="zh-CN" dirty="0"/>
              <a:t>10.</a:t>
            </a:r>
            <a:r>
              <a:rPr lang="zh-CN" altLang="en-US" dirty="0"/>
              <a:t>工程概况内容不完整（浇筑日期、成型、浇筑、养护等）</a:t>
            </a:r>
            <a:endParaRPr lang="en-US" altLang="zh-CN" dirty="0"/>
          </a:p>
          <a:p>
            <a:pPr marL="0" indent="0">
              <a:buNone/>
            </a:pPr>
            <a:r>
              <a:rPr lang="en-US" altLang="zh-CN" dirty="0"/>
              <a:t>11.</a:t>
            </a:r>
            <a:r>
              <a:rPr lang="zh-CN" altLang="en-US" dirty="0"/>
              <a:t>大篇空白时未加“（本页以下空白）”，应居左或缩进两个汉字</a:t>
            </a:r>
            <a:endParaRPr lang="en-US" altLang="zh-CN" dirty="0"/>
          </a:p>
          <a:p>
            <a:pPr marL="0" indent="0">
              <a:buNone/>
            </a:pPr>
            <a:r>
              <a:rPr lang="en-US" altLang="zh-CN" dirty="0"/>
              <a:t>12.</a:t>
            </a:r>
            <a:r>
              <a:rPr lang="zh-CN" altLang="en-US" dirty="0"/>
              <a:t>表格或文字过宽、左右未居中、文字上下未居中</a:t>
            </a:r>
            <a:endParaRPr lang="en-US" altLang="zh-CN" dirty="0"/>
          </a:p>
          <a:p>
            <a:pPr marL="0" indent="0">
              <a:buNone/>
            </a:pPr>
            <a:r>
              <a:rPr lang="en-US" altLang="zh-CN" dirty="0"/>
              <a:t>13.</a:t>
            </a:r>
            <a:r>
              <a:rPr lang="zh-CN" altLang="en-US" dirty="0"/>
              <a:t>报告与记录信息不一致（工程名称、报告编号、检测方法、设备、人员、数据、日期）</a:t>
            </a:r>
          </a:p>
          <a:p>
            <a:pPr marL="0" indent="0">
              <a:buNone/>
            </a:pPr>
            <a:r>
              <a:rPr lang="en-US" altLang="zh-CN" dirty="0"/>
              <a:t>14.</a:t>
            </a:r>
            <a:r>
              <a:rPr lang="zh-CN" altLang="en-US" dirty="0"/>
              <a:t>章节序号使用不规范</a:t>
            </a:r>
            <a:r>
              <a:rPr lang="en-US" altLang="zh-CN" dirty="0"/>
              <a:t>  </a:t>
            </a:r>
            <a:r>
              <a:rPr lang="zh-CN" altLang="en-US" dirty="0">
                <a:latin typeface="宋体" panose="02010600030101010101" pitchFamily="2" charset="-122"/>
                <a:ea typeface="宋体" panose="02010600030101010101" pitchFamily="2" charset="-122"/>
                <a:cs typeface="宋体" panose="02010600030101010101" pitchFamily="2" charset="-122"/>
              </a:rPr>
              <a:t>一、二、三、</a:t>
            </a:r>
            <a:r>
              <a:rPr lang="en-US" altLang="zh-CN" dirty="0">
                <a:latin typeface="宋体" panose="02010600030101010101" pitchFamily="2" charset="-122"/>
                <a:ea typeface="宋体" panose="02010600030101010101" pitchFamily="2" charset="-122"/>
                <a:cs typeface="宋体" panose="02010600030101010101" pitchFamily="2" charset="-122"/>
              </a:rPr>
              <a:t>  </a:t>
            </a:r>
            <a:r>
              <a:rPr lang="zh-CN" altLang="en-US" dirty="0">
                <a:latin typeface="宋体" panose="02010600030101010101" pitchFamily="2" charset="-122"/>
                <a:ea typeface="宋体" panose="02010600030101010101" pitchFamily="2" charset="-122"/>
                <a:cs typeface="宋体" panose="02010600030101010101" pitchFamily="2" charset="-122"/>
              </a:rPr>
              <a:t>（一）（二）（三）</a:t>
            </a:r>
          </a:p>
          <a:p>
            <a:pPr marL="0" indent="3292475">
              <a:buNone/>
            </a:pPr>
            <a:r>
              <a:rPr lang="en-US" altLang="zh-CN" dirty="0">
                <a:latin typeface="宋体" panose="02010600030101010101" pitchFamily="2" charset="-122"/>
                <a:ea typeface="宋体" panose="02010600030101010101" pitchFamily="2" charset="-122"/>
                <a:cs typeface="宋体" panose="02010600030101010101" pitchFamily="2" charset="-122"/>
              </a:rPr>
              <a:t>1.2.3.  </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1</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2</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3</a:t>
            </a:r>
            <a:r>
              <a:rPr lang="zh-CN" altLang="en-US" dirty="0">
                <a:latin typeface="宋体" panose="02010600030101010101" pitchFamily="2" charset="-122"/>
                <a:ea typeface="宋体" panose="02010600030101010101" pitchFamily="2" charset="-122"/>
                <a:cs typeface="宋体" panose="02010600030101010101" pitchFamily="2" charset="-122"/>
              </a:rPr>
              <a:t>）</a:t>
            </a:r>
            <a:r>
              <a:rPr lang="en-US" altLang="zh-CN" dirty="0">
                <a:latin typeface="宋体" panose="02010600030101010101" pitchFamily="2" charset="-122"/>
                <a:ea typeface="宋体" panose="02010600030101010101" pitchFamily="2" charset="-122"/>
                <a:cs typeface="宋体" panose="02010600030101010101" pitchFamily="2" charset="-122"/>
              </a:rPr>
              <a:t>  </a:t>
            </a:r>
            <a:r>
              <a:rPr lang="en-US" altLang="en-US" dirty="0">
                <a:latin typeface="宋体" panose="02010600030101010101" pitchFamily="2" charset="-122"/>
                <a:ea typeface="宋体" panose="02010600030101010101" pitchFamily="2" charset="-122"/>
                <a:cs typeface="宋体" panose="02010600030101010101" pitchFamily="2" charset="-122"/>
              </a:rPr>
              <a:t>①②③</a:t>
            </a:r>
            <a:r>
              <a:rPr lang="en-US" altLang="zh-CN" dirty="0">
                <a:latin typeface="宋体" panose="02010600030101010101" pitchFamily="2" charset="-122"/>
                <a:ea typeface="宋体" panose="02010600030101010101" pitchFamily="2" charset="-122"/>
                <a:cs typeface="宋体" panose="02010600030101010101" pitchFamily="2" charset="-122"/>
              </a:rPr>
              <a:t>  abc</a:t>
            </a:r>
            <a:endParaRPr lang="zh-CN" altLang="en-US"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47528" y="832394"/>
            <a:ext cx="9747611" cy="5193212"/>
          </a:xfrm>
        </p:spPr>
        <p:txBody>
          <a:bodyPr>
            <a:normAutofit fontScale="92500" lnSpcReduction="10000"/>
          </a:bodyPr>
          <a:lstStyle/>
          <a:p>
            <a:pPr marL="0" indent="0">
              <a:buNone/>
            </a:pPr>
            <a:r>
              <a:rPr lang="zh-CN" altLang="en-US" dirty="0"/>
              <a:t>原始记录中存在的问题</a:t>
            </a:r>
            <a:endParaRPr lang="en-US" altLang="zh-CN" dirty="0"/>
          </a:p>
          <a:p>
            <a:pPr marL="0" indent="0">
              <a:buNone/>
            </a:pPr>
            <a:r>
              <a:rPr lang="en-US" altLang="zh-CN" dirty="0"/>
              <a:t>1.</a:t>
            </a:r>
            <a:r>
              <a:rPr lang="zh-CN" altLang="en-US" dirty="0"/>
              <a:t>打印问题（原始记录是打印，如预置测区、测线、尺寸、日期、照片等）</a:t>
            </a:r>
            <a:endParaRPr lang="en-US" altLang="zh-CN" dirty="0"/>
          </a:p>
          <a:p>
            <a:pPr marL="0" indent="0">
              <a:buNone/>
            </a:pPr>
            <a:r>
              <a:rPr lang="en-US" altLang="zh-CN" dirty="0"/>
              <a:t>2.</a:t>
            </a:r>
            <a:r>
              <a:rPr lang="zh-CN" altLang="en-US" dirty="0"/>
              <a:t>记录涂改、杠改未签字</a:t>
            </a:r>
            <a:endParaRPr lang="en-US" altLang="zh-CN" dirty="0"/>
          </a:p>
          <a:p>
            <a:pPr marL="0" indent="0">
              <a:buNone/>
            </a:pPr>
            <a:r>
              <a:rPr lang="en-US" altLang="zh-CN" dirty="0"/>
              <a:t>3.</a:t>
            </a:r>
            <a:r>
              <a:rPr lang="zh-CN" altLang="en-US" dirty="0"/>
              <a:t>代签字</a:t>
            </a:r>
            <a:endParaRPr lang="en-US" altLang="zh-CN" dirty="0"/>
          </a:p>
          <a:p>
            <a:pPr marL="0" indent="0">
              <a:buNone/>
            </a:pPr>
            <a:r>
              <a:rPr lang="en-US" altLang="zh-CN" dirty="0"/>
              <a:t>4.</a:t>
            </a:r>
            <a:r>
              <a:rPr lang="zh-CN" altLang="en-US" dirty="0"/>
              <a:t>检测或校核日期不正确</a:t>
            </a:r>
            <a:endParaRPr lang="en-US" altLang="zh-CN" dirty="0"/>
          </a:p>
          <a:p>
            <a:pPr marL="0" indent="0">
              <a:buNone/>
            </a:pPr>
            <a:r>
              <a:rPr lang="en-US" altLang="zh-CN" dirty="0"/>
              <a:t>5.</a:t>
            </a:r>
            <a:r>
              <a:rPr lang="zh-CN" altLang="en-US" dirty="0"/>
              <a:t>未使用原始记录专用表格</a:t>
            </a:r>
            <a:endParaRPr lang="en-US" altLang="zh-CN" dirty="0"/>
          </a:p>
          <a:p>
            <a:pPr marL="0" indent="0">
              <a:buNone/>
            </a:pPr>
            <a:r>
              <a:rPr lang="en-US" altLang="zh-CN" dirty="0"/>
              <a:t>6.</a:t>
            </a:r>
            <a:r>
              <a:rPr lang="zh-CN" altLang="en-US" dirty="0"/>
              <a:t>表格非现行有效格式 </a:t>
            </a:r>
            <a:endParaRPr lang="en-US" altLang="zh-CN" dirty="0"/>
          </a:p>
          <a:p>
            <a:pPr marL="0" indent="0">
              <a:buNone/>
            </a:pPr>
            <a:r>
              <a:rPr lang="en-US" altLang="zh-CN" dirty="0"/>
              <a:t>7.</a:t>
            </a:r>
            <a:r>
              <a:rPr lang="zh-CN" altLang="en-US" dirty="0"/>
              <a:t>无电子存档路径</a:t>
            </a:r>
            <a:endParaRPr lang="en-US" altLang="zh-CN" dirty="0"/>
          </a:p>
          <a:p>
            <a:pPr marL="0" indent="0">
              <a:buNone/>
            </a:pPr>
            <a:r>
              <a:rPr lang="en-US" altLang="zh-CN" dirty="0"/>
              <a:t>8.</a:t>
            </a:r>
            <a:r>
              <a:rPr lang="zh-CN" altLang="en-US" dirty="0"/>
              <a:t>无原始记录</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ags/tag3.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heme/theme1.xml><?xml version="1.0" encoding="utf-8"?>
<a:theme xmlns:a="http://schemas.openxmlformats.org/drawingml/2006/main" name="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3_A000120140530A49PPBG">
  <a:themeElements>
    <a:clrScheme name="自定义 224">
      <a:dk1>
        <a:srgbClr val="5F5F5F"/>
      </a:dk1>
      <a:lt1>
        <a:srgbClr val="FFFFFF"/>
      </a:lt1>
      <a:dk2>
        <a:srgbClr val="FFFFFF"/>
      </a:dk2>
      <a:lt2>
        <a:srgbClr val="4D4D4D"/>
      </a:lt2>
      <a:accent1>
        <a:srgbClr val="70CFE2"/>
      </a:accent1>
      <a:accent2>
        <a:srgbClr val="52C2A5"/>
      </a:accent2>
      <a:accent3>
        <a:srgbClr val="9BCF55"/>
      </a:accent3>
      <a:accent4>
        <a:srgbClr val="84ADE4"/>
      </a:accent4>
      <a:accent5>
        <a:srgbClr val="9D9394"/>
      </a:accent5>
      <a:accent6>
        <a:srgbClr val="FFC000"/>
      </a:accent6>
      <a:hlink>
        <a:srgbClr val="00B0F0"/>
      </a:hlink>
      <a:folHlink>
        <a:srgbClr val="AFB2B4"/>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A000120140530A49KPBG</Template>
  <TotalTime>118</TotalTime>
  <Words>6208</Words>
  <Application>Microsoft Office PowerPoint</Application>
  <PresentationFormat>宽屏</PresentationFormat>
  <Paragraphs>803</Paragraphs>
  <Slides>83</Slides>
  <Notes>1</Notes>
  <HiddenSlides>0</HiddenSlides>
  <MMClips>0</MMClips>
  <ScaleCrop>false</ScaleCrop>
  <HeadingPairs>
    <vt:vector size="8" baseType="variant">
      <vt:variant>
        <vt:lpstr>已用的字体</vt:lpstr>
      </vt:variant>
      <vt:variant>
        <vt:i4>12</vt:i4>
      </vt:variant>
      <vt:variant>
        <vt:lpstr>主题</vt:lpstr>
      </vt:variant>
      <vt:variant>
        <vt:i4>10</vt:i4>
      </vt:variant>
      <vt:variant>
        <vt:lpstr>嵌入 OLE 服务器</vt:lpstr>
      </vt:variant>
      <vt:variant>
        <vt:i4>2</vt:i4>
      </vt:variant>
      <vt:variant>
        <vt:lpstr>幻灯片标题</vt:lpstr>
      </vt:variant>
      <vt:variant>
        <vt:i4>83</vt:i4>
      </vt:variant>
    </vt:vector>
  </HeadingPairs>
  <TitlesOfParts>
    <vt:vector size="107" baseType="lpstr">
      <vt:lpstr>黑体</vt:lpstr>
      <vt:lpstr>华文新魏</vt:lpstr>
      <vt:lpstr>楷体</vt:lpstr>
      <vt:lpstr>楷体_GB2312</vt:lpstr>
      <vt:lpstr>宋体</vt:lpstr>
      <vt:lpstr>幼圆</vt:lpstr>
      <vt:lpstr>Arial</vt:lpstr>
      <vt:lpstr>Calibri</vt:lpstr>
      <vt:lpstr>Georgia</vt:lpstr>
      <vt:lpstr>Times New Roman</vt:lpstr>
      <vt:lpstr>Wingdings</vt:lpstr>
      <vt:lpstr>Wingdings 2</vt:lpstr>
      <vt:lpstr>A000120140530A49PPBG</vt:lpstr>
      <vt:lpstr>1_A000120140530A49PPBG</vt:lpstr>
      <vt:lpstr>2_A000120140530A49PPBG</vt:lpstr>
      <vt:lpstr>5_A000120140530A49PPBG</vt:lpstr>
      <vt:lpstr>6_A000120140530A49PPBG</vt:lpstr>
      <vt:lpstr>8_A000120140530A49PPBG</vt:lpstr>
      <vt:lpstr>9_A000120140530A49PPBG</vt:lpstr>
      <vt:lpstr>10_A000120140530A49PPBG</vt:lpstr>
      <vt:lpstr>11_A000120140530A49PPBG</vt:lpstr>
      <vt:lpstr>3_A000120140530A49PPBG</vt:lpstr>
      <vt:lpstr>Equation.3</vt:lpstr>
      <vt:lpstr>Visio.Drawing.6</vt:lpstr>
      <vt:lpstr>回弹法检测混凝土抗压强度技术</vt:lpstr>
      <vt:lpstr>主讲内容</vt:lpstr>
      <vt:lpstr>PowerPoint 演示文稿</vt:lpstr>
      <vt:lpstr>PowerPoint 演示文稿</vt:lpstr>
      <vt:lpstr>1.检测标准的选用</vt:lpstr>
      <vt:lpstr>标准的选用原则</vt:lpstr>
      <vt:lpstr>PowerPoint 演示文稿</vt:lpstr>
      <vt:lpstr>行业标准的适用条件（JGJ/T 23-2011)</vt:lpstr>
      <vt:lpstr>北京地方标准的适用条件</vt:lpstr>
      <vt:lpstr>团体标准的适用条件(T/CECS 02:2020)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3.如何进行抽样</vt:lpstr>
      <vt:lpstr>PowerPoint 演示文稿</vt:lpstr>
      <vt:lpstr>PowerPoint 演示文稿</vt:lpstr>
      <vt:lpstr>PowerPoint 演示文稿</vt:lpstr>
      <vt:lpstr>PowerPoint 演示文稿</vt:lpstr>
      <vt:lpstr>墙板类构件测区分布示意图</vt:lpstr>
      <vt:lpstr>墙、板类构件测区分布示意图</vt:lpstr>
      <vt:lpstr>梁类构件测区分布示意图</vt:lpstr>
      <vt:lpstr>原始记录中预置测区图</vt:lpstr>
      <vt:lpstr>梁类构件预置测区图</vt:lpstr>
      <vt:lpstr>测点分布图——测点均匀分布，一个点不能弹击两次</vt:lpstr>
      <vt:lpstr>墙板类构件测区分布示意图 ——首末测区距边缘距离不符合标准要求</vt:lpstr>
      <vt:lpstr>墙板类构件测区分布示意图</vt:lpstr>
      <vt:lpstr>墩柱类测区分布示意图（展开图）</vt:lpstr>
      <vt:lpstr>超声回弹综合法的超声测点布置</vt:lpstr>
      <vt:lpstr>5.检测前的准备</vt:lpstr>
      <vt:lpstr>PowerPoint 演示文稿</vt:lpstr>
      <vt:lpstr>PowerPoint 演示文稿</vt:lpstr>
      <vt:lpstr>关于率定问题</vt:lpstr>
      <vt:lpstr>PowerPoint 演示文稿</vt:lpstr>
      <vt:lpstr>PowerPoint 演示文稿</vt:lpstr>
      <vt:lpstr>PowerPoint 演示文稿</vt:lpstr>
      <vt:lpstr>PowerPoint 演示文稿</vt:lpstr>
      <vt:lpstr>PowerPoint 演示文稿</vt:lpstr>
      <vt:lpstr>碳化深度测试</vt:lpstr>
      <vt:lpstr>数字修约问题</vt:lpstr>
      <vt:lpstr>PowerPoint 演示文稿</vt:lpstr>
      <vt:lpstr>PowerPoint 演示文稿</vt:lpstr>
      <vt:lpstr>8.回弹强度的计算</vt:lpstr>
      <vt:lpstr>PowerPoint 演示文稿</vt:lpstr>
      <vt:lpstr>PowerPoint 演示文稿</vt:lpstr>
      <vt:lpstr>PowerPoint 演示文稿</vt:lpstr>
      <vt:lpstr>强度推定值</vt:lpstr>
      <vt:lpstr>批构件混凝土强度的推定</vt:lpstr>
      <vt:lpstr>推定区间 —— 检测结果不确定性     给出推定区间，而不是一个确定数值</vt:lpstr>
      <vt:lpstr>PowerPoint 演示文稿</vt:lpstr>
      <vt:lpstr>K、K1、K2的选取 ————GB/T 50344-2019表3.3.19</vt:lpstr>
      <vt:lpstr>（3） 减少检测结果不确定度的措施</vt:lpstr>
      <vt:lpstr>（4）回弹法检测强度工程实例</vt:lpstr>
      <vt:lpstr>单个构件混凝土强度计算汇总表</vt:lpstr>
      <vt:lpstr>按照批构件混凝土强度计算</vt:lpstr>
      <vt:lpstr>按照GB/T 50344-2019进行批构件区间推定计算</vt:lpstr>
      <vt:lpstr>按照建筑结构检测技术标准的强度推定</vt:lpstr>
      <vt:lpstr>9. 对回弹法检测结果的修正</vt:lpstr>
      <vt:lpstr>修正方法</vt:lpstr>
      <vt:lpstr>PowerPoint 演示文稿</vt:lpstr>
      <vt:lpstr>PowerPoint 演示文稿</vt:lpstr>
      <vt:lpstr>PowerPoint 演示文稿</vt:lpstr>
      <vt:lpstr>10.原始记录的管理要求</vt:lpstr>
      <vt:lpstr>ZBL-S280+S92503011 数显混凝土回弹仪 （0-8）mm+81827 碳化深度仪 5m+6094 钢卷尺  型号+管理编号 设置名称 5m+S-GJC-06钢卷尺 (0～300)mm+ LG1-10-01 钢直尺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7.报告审核中常见问题</vt:lpstr>
      <vt:lpstr>7.报告审核中常见问题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回弹法检测混凝土强度技术</dc:title>
  <dc:creator/>
  <cp:lastModifiedBy>czh</cp:lastModifiedBy>
  <cp:revision>105</cp:revision>
  <dcterms:created xsi:type="dcterms:W3CDTF">2011-11-08T01:56:00Z</dcterms:created>
  <dcterms:modified xsi:type="dcterms:W3CDTF">2025-12-10T03:17:30Z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AEC697CDB45C42D1BD8C72DE382B797A_12</vt:lpwstr>
  </property>
  <property fmtid="{D5CDD505-2E9C-101B-9397-08002B2CF9AE}" pid="3" name="KSOProductBuildVer">
    <vt:lpwstr>2052-12.1.0.23542</vt:lpwstr>
  </property>
</Properties>
</file>